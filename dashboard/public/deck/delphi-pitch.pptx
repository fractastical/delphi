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claims</c:v>
                </c:pt>
              </c:strCache>
            </c:strRef>
          </c:tx>
          <c:spPr>
            <a:solidFill>
              <a:srgbClr val="2A78D6"/>
            </a:solidFill>
          </c:spPr>
          <c:cat>
            <c:strRef>
              <c:f>Sheet1!$A$2:$A$4</c:f>
              <c:strCache>
                <c:ptCount val="3"/>
                <c:pt idx="0">
                  <c:v>Extracted</c:v>
                </c:pt>
                <c:pt idx="1">
                  <c:v>Tested on data</c:v>
                </c:pt>
                <c:pt idx="2">
                  <c:v>Proved in Lean</c:v>
                </c:pt>
              </c:strCache>
            </c:strRef>
          </c:cat>
          <c:val>
            <c:numRef>
              <c:f>Sheet1!$B$2:$B$4</c:f>
              <c:numCache>
                <c:formatCode>General</c:formatCode>
                <c:ptCount val="3"/>
                <c:pt idx="0">
                  <c:v>880</c:v>
                </c:pt>
                <c:pt idx="1">
                  <c:v>16</c:v>
                </c:pt>
                <c:pt idx="2">
                  <c:v>8</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run 1, from memory</c:v>
                </c:pt>
              </c:strCache>
            </c:strRef>
          </c:tx>
          <c:spPr>
            <a:solidFill>
              <a:srgbClr val="2A78D6"/>
            </a:solidFill>
          </c:spPr>
          <c:cat>
            <c:strRef>
              <c:f>Sheet1!$A$2:$A$5</c:f>
              <c:strCache>
                <c:ptCount val="4"/>
                <c:pt idx="0">
                  <c:v>Swarm, led</c:v>
                </c:pt>
                <c:pt idx="1">
                  <c:v>Swarm, peer-to-peer</c:v>
                </c:pt>
                <c:pt idx="2">
                  <c:v>Workers, isolated</c:v>
                </c:pt>
                <c:pt idx="3">
                  <c:v>One agent alone</c:v>
                </c:pt>
              </c:strCache>
            </c:strRef>
          </c:cat>
          <c:val>
            <c:numRef>
              <c:f>Sheet1!$B$2:$B$5</c:f>
              <c:numCache>
                <c:formatCode>General</c:formatCode>
                <c:ptCount val="4"/>
                <c:pt idx="0">
                  <c:v>19</c:v>
                </c:pt>
                <c:pt idx="1">
                  <c:v>18</c:v>
                </c:pt>
                <c:pt idx="2">
                  <c:v>17</c:v>
                </c:pt>
                <c:pt idx="3">
                  <c:v>13</c:v>
                </c:pt>
              </c:numCache>
            </c:numRef>
          </c:val>
        </c:ser>
        <c:ser>
          <c:idx val="1"/>
          <c:order val="1"/>
          <c:tx>
            <c:strRef>
              <c:f>Sheet1!$C$1</c:f>
              <c:strCache>
                <c:ptCount val="1"/>
                <c:pt idx="0">
                  <c:v>run 2, must fetch the page</c:v>
                </c:pt>
              </c:strCache>
            </c:strRef>
          </c:tx>
          <c:spPr>
            <a:solidFill>
              <a:srgbClr val="6250D6"/>
            </a:solidFill>
          </c:spPr>
          <c:cat>
            <c:strRef>
              <c:f>Sheet1!$A$2:$A$5</c:f>
              <c:strCache>
                <c:ptCount val="4"/>
                <c:pt idx="0">
                  <c:v>Swarm, led</c:v>
                </c:pt>
                <c:pt idx="1">
                  <c:v>Swarm, peer-to-peer</c:v>
                </c:pt>
                <c:pt idx="2">
                  <c:v>Workers, isolated</c:v>
                </c:pt>
                <c:pt idx="3">
                  <c:v>One agent alone</c:v>
                </c:pt>
              </c:strCache>
            </c:strRef>
          </c:cat>
          <c:val>
            <c:numRef>
              <c:f>Sheet1!$C$2:$C$5</c:f>
              <c:numCache>
                <c:formatCode>General</c:formatCode>
                <c:ptCount val="4"/>
                <c:pt idx="0">
                  <c:v>18</c:v>
                </c:pt>
                <c:pt idx="1">
                  <c:v>17</c:v>
                </c:pt>
                <c:pt idx="2">
                  <c:v>16</c:v>
                </c:pt>
                <c:pt idx="3">
                  <c:v>12</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legend>
      <c:legendPos val="b"/>
      <c:overlay val="0"/>
    </c:legend>
    <c:dispBlanksAs val="gap"/>
  </c:chart>
  <c:txPr>
    <a:bodyPr/>
    <a:lstStyle/>
    <a:p>
      <a:pPr>
        <a:defRPr sz="1200">
          <a:solidFill>
            <a:srgbClr val="5A6B69"/>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records</c:v>
                </c:pt>
              </c:strCache>
            </c:strRef>
          </c:tx>
          <c:spPr>
            <a:solidFill>
              <a:srgbClr val="EB6834"/>
            </a:solidFill>
          </c:spPr>
          <c:cat>
            <c:strRef>
              <c:f>Sheet1!$A$2:$A$9</c:f>
              <c:strCache>
                <c:ptCount val="8"/>
                <c:pt idx="0">
                  <c:v>methodological findings, discovered by accident</c:v>
                </c:pt>
                <c:pt idx="1">
                  <c:v>textbook claims refuted for zebrafish</c:v>
                </c:pt>
                <c:pt idx="2">
                  <c:v>not established in zebrafish</c:v>
                </c:pt>
                <c:pt idx="3">
                  <c:v>corrections of our own published claims</c:v>
                </c:pt>
                <c:pt idx="4">
                  <c:v>mixed inside a single reading</c:v>
                </c:pt>
                <c:pt idx="5">
                  <c:v>inconclusive</c:v>
                </c:pt>
                <c:pt idx="6">
                  <c:v>documented refusal</c:v>
                </c:pt>
                <c:pt idx="7">
                  <c:v>supported</c:v>
                </c:pt>
              </c:strCache>
            </c:strRef>
          </c:cat>
          <c:val>
            <c:numRef>
              <c:f>Sheet1!$B$2:$B$9</c:f>
              <c:numCache>
                <c:formatCode>General</c:formatCode>
                <c:ptCount val="8"/>
                <c:pt idx="0">
                  <c:v>4</c:v>
                </c:pt>
                <c:pt idx="1">
                  <c:v>4</c:v>
                </c:pt>
                <c:pt idx="2">
                  <c:v>2</c:v>
                </c:pt>
                <c:pt idx="3">
                  <c:v>2</c:v>
                </c:pt>
                <c:pt idx="4">
                  <c:v>1</c:v>
                </c:pt>
                <c:pt idx="5">
                  <c:v>1</c:v>
                </c:pt>
                <c:pt idx="6">
                  <c:v>1</c:v>
                </c:pt>
                <c:pt idx="7">
                  <c:v>6</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of 4,571 genes</c:v>
                </c:pt>
              </c:strCache>
            </c:strRef>
          </c:tx>
          <c:spPr>
            <a:solidFill>
              <a:srgbClr val="EB6834"/>
            </a:solidFill>
          </c:spPr>
          <c:cat>
            <c:strRef>
              <c:f>Sheet1!$A$2:$A$8</c:f>
              <c:strCache>
                <c:ptCount val="7"/>
                <c:pt idx="0">
                  <c:v>absolute abundance</c:v>
                </c:pt>
                <c:pt idx="1">
                  <c:v>protein half-life</c:v>
                </c:pt>
                <c:pt idx="2">
                  <c:v>mRNA half-life</c:v>
                </c:pt>
                <c:pt idx="3">
                  <c:v>transcription rate</c:v>
                </c:pt>
                <c:pt idx="4">
                  <c:v>binding affinity / enzyme kinetics</c:v>
                </c:pt>
                <c:pt idx="5">
                  <c:v>diffusion coefficient</c:v>
                </c:pt>
                <c:pt idx="6">
                  <c:v>Hill coefficient</c:v>
                </c:pt>
              </c:strCache>
            </c:strRef>
          </c:cat>
          <c:val>
            <c:numRef>
              <c:f>Sheet1!$B$2:$B$8</c:f>
              <c:numCache>
                <c:formatCode>General</c:formatCode>
                <c:ptCount val="7"/>
                <c:pt idx="0">
                  <c:v>0</c:v>
                </c:pt>
                <c:pt idx="1">
                  <c:v>0</c:v>
                </c:pt>
                <c:pt idx="2">
                  <c:v>0</c:v>
                </c:pt>
                <c:pt idx="3">
                  <c:v>0</c:v>
                </c:pt>
                <c:pt idx="4">
                  <c:v>0</c:v>
                </c:pt>
                <c:pt idx="5">
                  <c:v>4</c:v>
                </c:pt>
                <c:pt idx="6">
                  <c:v>0</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metres</c:v>
                </c:pt>
              </c:strCache>
            </c:strRef>
          </c:tx>
          <c:spPr>
            <a:solidFill>
              <a:srgbClr val="EB6834"/>
            </a:solidFill>
          </c:spPr>
          <c:cat>
            <c:strRef>
              <c:f>Sheet1!$A$2:$A$5</c:f>
              <c:strCache>
                <c:ptCount val="4"/>
                <c:pt idx="0">
                  <c:v>From 8 m at the measured L/D 4.37</c:v>
                </c:pt>
                <c:pt idx="1">
                  <c:v>… with the measured 14% ground effect</c:v>
                </c:pt>
                <c:pt idx="2">
                  <c:v>Field flight, reported as one glide</c:v>
                </c:pt>
                <c:pt idx="3">
                  <c:v>… at the theoretical L/D 15.7, for comparison</c:v>
                </c:pt>
              </c:strCache>
            </c:strRef>
          </c:cat>
          <c:val>
            <c:numRef>
              <c:f>Sheet1!$B$2:$B$5</c:f>
              <c:numCache>
                <c:formatCode>General</c:formatCode>
                <c:ptCount val="4"/>
                <c:pt idx="0">
                  <c:v>35</c:v>
                </c:pt>
                <c:pt idx="1">
                  <c:v>40.7</c:v>
                </c:pt>
                <c:pt idx="2">
                  <c:v>50</c:v>
                </c:pt>
                <c:pt idx="3">
                  <c:v>125.6</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pieces</c:v>
                </c:pt>
              </c:strCache>
            </c:strRef>
          </c:tx>
          <c:spPr>
            <a:solidFill>
              <a:srgbClr val="2A78D6"/>
            </a:solidFill>
          </c:spPr>
          <c:cat>
            <c:strRef>
              <c:f>Sheet1!$A$2:$A$4</c:f>
              <c:strCache>
                <c:ptCount val="3"/>
                <c:pt idx="0">
                  <c:v>flying fish</c:v>
                </c:pt>
                <c:pt idx="1">
                  <c:v>zebrafish, adult</c:v>
                </c:pt>
                <c:pt idx="2">
                  <c:v>zebrafish, larva</c:v>
                </c:pt>
              </c:strCache>
            </c:strRef>
          </c:cat>
          <c:val>
            <c:numRef>
              <c:f>Sheet1!$B$2:$B$4</c:f>
              <c:numCache>
                <c:formatCode>General</c:formatCode>
                <c:ptCount val="3"/>
                <c:pt idx="0">
                  <c:v>110</c:v>
                </c:pt>
                <c:pt idx="1">
                  <c:v>189</c:v>
                </c:pt>
                <c:pt idx="2">
                  <c:v>58</c:v>
                </c:pt>
              </c:numCache>
            </c:numRef>
          </c:val>
        </c:ser>
        <c:ser>
          <c:idx val="1"/>
          <c:order val="1"/>
          <c:tx>
            <c:strRef>
              <c:f>Sheet1!$C$1</c:f>
              <c:strCache>
                <c:ptCount val="1"/>
                <c:pt idx="0">
                  <c:v>with an ontology term</c:v>
                </c:pt>
              </c:strCache>
            </c:strRef>
          </c:tx>
          <c:spPr>
            <a:solidFill>
              <a:srgbClr val="1BAF7A"/>
            </a:solidFill>
          </c:spPr>
          <c:cat>
            <c:strRef>
              <c:f>Sheet1!$A$2:$A$4</c:f>
              <c:strCache>
                <c:ptCount val="3"/>
                <c:pt idx="0">
                  <c:v>flying fish</c:v>
                </c:pt>
                <c:pt idx="1">
                  <c:v>zebrafish, adult</c:v>
                </c:pt>
                <c:pt idx="2">
                  <c:v>zebrafish, larva</c:v>
                </c:pt>
              </c:strCache>
            </c:strRef>
          </c:cat>
          <c:val>
            <c:numRef>
              <c:f>Sheet1!$C$2:$C$4</c:f>
              <c:numCache>
                <c:formatCode>General</c:formatCode>
                <c:ptCount val="3"/>
                <c:pt idx="0">
                  <c:v>50</c:v>
                </c:pt>
                <c:pt idx="1">
                  <c:v>189</c:v>
                </c:pt>
                <c:pt idx="2">
                  <c:v>58</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legend>
      <c:legendPos val="b"/>
      <c:overlay val="0"/>
    </c:legend>
    <c:dispBlanksAs val="gap"/>
  </c:chart>
  <c:txPr>
    <a:bodyPr/>
    <a:lstStyle/>
    <a:p>
      <a:pPr>
        <a:defRPr sz="1200">
          <a:solidFill>
            <a:srgbClr val="5A6B69"/>
          </a:solidFill>
          <a:latin typeface="Segoe U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records drafted</c:v>
                </c:pt>
              </c:strCache>
            </c:strRef>
          </c:tx>
          <c:spPr>
            <a:solidFill>
              <a:srgbClr val="1BAF7A"/>
            </a:solidFill>
          </c:spPr>
          <c:cat>
            <c:strRef>
              <c:f>Sheet1!$A$2:$A$8</c:f>
              <c:strCache>
                <c:ptCount val="7"/>
                <c:pt idx="0">
                  <c:v>Proofs + assessments</c:v>
                </c:pt>
                <c:pt idx="1">
                  <c:v>Blueprints, predictions, a refusal</c:v>
                </c:pt>
                <c:pt idx="2">
                  <c:v>Swarm experiments</c:v>
                </c:pt>
                <c:pt idx="3">
                  <c:v>Claim tests, incl. refutations</c:v>
                </c:pt>
                <c:pt idx="4">
                  <c:v>Gene-to-fin, mostly negative</c:v>
                </c:pt>
                <c:pt idx="5">
                  <c:v>The held-out exam</c:v>
                </c:pt>
                <c:pt idx="6">
                  <c:v>Flight physics</c:v>
                </c:pt>
              </c:strCache>
            </c:strRef>
          </c:cat>
          <c:val>
            <c:numRef>
              <c:f>Sheet1!$B$2:$B$8</c:f>
              <c:numCache>
                <c:formatCode>General</c:formatCode>
                <c:ptCount val="7"/>
                <c:pt idx="0">
                  <c:v>55</c:v>
                </c:pt>
                <c:pt idx="1">
                  <c:v>35</c:v>
                </c:pt>
                <c:pt idx="2">
                  <c:v>9</c:v>
                </c:pt>
                <c:pt idx="3">
                  <c:v>15</c:v>
                </c:pt>
                <c:pt idx="4">
                  <c:v>21</c:v>
                </c:pt>
                <c:pt idx="5">
                  <c:v>10</c:v>
                </c:pt>
                <c:pt idx="6">
                  <c:v>13</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Which experiment would</a:t>
            </a:r>
          </a:p>
          <a:p>
            <a:pPr algn="l">
              <a:lnSpc>
                <a:spcPct val="92000"/>
              </a:lnSpc>
            </a:pPr>
            <a:r>
              <a:rPr sz="4000" b="1">
                <a:solidFill>
                  <a:srgbClr val="14201F"/>
                </a:solidFill>
                <a:latin typeface="Segoe UI"/>
              </a:rPr>
              <a:t>justify the next step?</a:t>
            </a:r>
          </a:p>
        </p:txBody>
      </p:sp>
      <p:sp>
        <p:nvSpPr>
          <p:cNvPr id="5" name="TextBox 4"/>
          <p:cNvSpPr txBox="1"/>
          <p:nvPr/>
        </p:nvSpPr>
        <p:spPr>
          <a:xfrm>
            <a:off x="713232" y="2240280"/>
            <a:ext cx="7863840" cy="822960"/>
          </a:xfrm>
          <a:prstGeom prst="rect">
            <a:avLst/>
          </a:prstGeom>
          <a:noFill/>
        </p:spPr>
        <p:txBody>
          <a:bodyPr wrap="square">
            <a:spAutoFit/>
          </a:bodyPr>
          <a:lstStyle/>
          <a:p>
            <a:pPr algn="l">
              <a:lnSpc>
                <a:spcPct val="120000"/>
              </a:lnSpc>
            </a:pPr>
            <a:r>
              <a:rPr sz="1500" b="0">
                <a:solidFill>
                  <a:srgbClr val="5A6B69"/>
                </a:solidFill>
                <a:latin typeface="Segoe UI"/>
              </a:rPr>
              <a:t>We turn claims about how life works into experiments a machine can check —</a:t>
            </a:r>
          </a:p>
          <a:p>
            <a:pPr algn="l">
              <a:lnSpc>
                <a:spcPct val="120000"/>
              </a:lnSpc>
            </a:pPr>
            <a:r>
              <a:rPr sz="1500" b="0">
                <a:solidFill>
                  <a:srgbClr val="5A6B69"/>
                </a:solidFill>
                <a:latin typeface="Segoe UI"/>
              </a:rPr>
              <a:t>and say plainly when the evidence is not there yet.</a:t>
            </a:r>
          </a:p>
        </p:txBody>
      </p:sp>
      <p:sp>
        <p:nvSpPr>
          <p:cNvPr id="6" name="Rounded Rectangle 5"/>
          <p:cNvSpPr/>
          <p:nvPr/>
        </p:nvSpPr>
        <p:spPr>
          <a:xfrm>
            <a:off x="1167231" y="3749039"/>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7" name="Rectangle 6"/>
          <p:cNvSpPr/>
          <p:nvPr/>
        </p:nvSpPr>
        <p:spPr>
          <a:xfrm>
            <a:off x="224622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63027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9" name="Rectangle 8"/>
          <p:cNvSpPr/>
          <p:nvPr/>
        </p:nvSpPr>
        <p:spPr>
          <a:xfrm>
            <a:off x="370926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09331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11" name="Rectangle 10"/>
          <p:cNvSpPr/>
          <p:nvPr/>
        </p:nvSpPr>
        <p:spPr>
          <a:xfrm>
            <a:off x="517230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55635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13" name="Rectangle 12"/>
          <p:cNvSpPr/>
          <p:nvPr/>
        </p:nvSpPr>
        <p:spPr>
          <a:xfrm>
            <a:off x="663534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01939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15" name="Rectangle 14"/>
          <p:cNvSpPr/>
          <p:nvPr/>
        </p:nvSpPr>
        <p:spPr>
          <a:xfrm>
            <a:off x="809838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48243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17" name="Rectangle 16"/>
          <p:cNvSpPr/>
          <p:nvPr/>
        </p:nvSpPr>
        <p:spPr>
          <a:xfrm>
            <a:off x="956142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945471" y="3749039"/>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19" name="TextBox 1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real route through a real enzyme: every step measured, every step uphill, the whole thing machine-checked.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Science has a backlog.</a:t>
            </a:r>
          </a:p>
        </p:txBody>
      </p:sp>
      <p:sp>
        <p:nvSpPr>
          <p:cNvPr id="5" name="TextBox 4"/>
          <p:cNvSpPr txBox="1"/>
          <p:nvPr/>
        </p:nvSpPr>
        <p:spPr>
          <a:xfrm>
            <a:off x="713232" y="228600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880</a:t>
            </a:r>
          </a:p>
        </p:txBody>
      </p:sp>
      <p:sp>
        <p:nvSpPr>
          <p:cNvPr id="6" name="TextBox 5"/>
          <p:cNvSpPr txBox="1"/>
          <p:nvPr/>
        </p:nvSpPr>
        <p:spPr>
          <a:xfrm>
            <a:off x="7132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claims pulled out of Darwin, Thompson, Turing, Wolfram and others</a:t>
            </a:r>
          </a:p>
        </p:txBody>
      </p:sp>
      <p:sp>
        <p:nvSpPr>
          <p:cNvPr id="7" name="TextBox 6"/>
          <p:cNvSpPr txBox="1"/>
          <p:nvPr/>
        </p:nvSpPr>
        <p:spPr>
          <a:xfrm>
            <a:off x="3913632" y="22860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16</a:t>
            </a:r>
          </a:p>
        </p:txBody>
      </p:sp>
      <p:sp>
        <p:nvSpPr>
          <p:cNvPr id="8" name="TextBox 7"/>
          <p:cNvSpPr txBox="1"/>
          <p:nvPr/>
        </p:nvSpPr>
        <p:spPr>
          <a:xfrm>
            <a:off x="39136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them tested against real data this weekend</a:t>
            </a:r>
          </a:p>
        </p:txBody>
      </p:sp>
      <p:sp>
        <p:nvSpPr>
          <p:cNvPr id="9" name="TextBox 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gap is the opportunity, not an embarrassment. Most of these claims have never had a dataset pointed at them, because nobody had a cheap way to ask which dataset would settle which claim.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So we built the asking machine.</a:t>
            </a:r>
          </a:p>
        </p:txBody>
      </p:sp>
      <p:graphicFrame>
        <p:nvGraphicFramePr>
          <p:cNvPr id="5" name="Chart 4"/>
          <p:cNvGraphicFramePr>
            <a:graphicFrameLocks noGrp="1"/>
          </p:cNvGraphicFramePr>
          <p:nvPr/>
        </p:nvGraphicFramePr>
        <p:xfrm>
          <a:off x="713232" y="2103120"/>
          <a:ext cx="10490911" cy="292608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Each stage is narrower than the last, on purpose. A claim only advances when a named dataset can settle it and two independent assessors agree it can.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Ten specialists, one chain.</a:t>
            </a:r>
          </a:p>
        </p:txBody>
      </p:sp>
      <p:sp>
        <p:nvSpPr>
          <p:cNvPr id="5" name="Rounded Rectangle 4"/>
          <p:cNvSpPr/>
          <p:nvPr/>
        </p:nvSpPr>
        <p:spPr>
          <a:xfrm>
            <a:off x="713232"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A1</a:t>
            </a:r>
          </a:p>
          <a:p>
            <a:r>
              <a:rPr sz="1200">
                <a:solidFill>
                  <a:srgbClr val="14201F"/>
                </a:solidFill>
              </a:rPr>
              <a:t>say it plainly</a:t>
            </a:r>
          </a:p>
        </p:txBody>
      </p:sp>
      <p:sp>
        <p:nvSpPr>
          <p:cNvPr id="6" name="Rounded Rectangle 5"/>
          <p:cNvSpPr/>
          <p:nvPr/>
        </p:nvSpPr>
        <p:spPr>
          <a:xfrm>
            <a:off x="2962656"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A2</a:t>
            </a:r>
          </a:p>
          <a:p>
            <a:r>
              <a:rPr sz="1200">
                <a:solidFill>
                  <a:srgbClr val="14201F"/>
                </a:solidFill>
              </a:rPr>
              <a:t>find the sources</a:t>
            </a:r>
          </a:p>
        </p:txBody>
      </p:sp>
      <p:sp>
        <p:nvSpPr>
          <p:cNvPr id="7" name="Rounded Rectangle 6"/>
          <p:cNvSpPr/>
          <p:nvPr/>
        </p:nvSpPr>
        <p:spPr>
          <a:xfrm>
            <a:off x="5212080"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A3</a:t>
            </a:r>
          </a:p>
          <a:p>
            <a:r>
              <a:rPr sz="1200">
                <a:solidFill>
                  <a:srgbClr val="14201F"/>
                </a:solidFill>
              </a:rPr>
              <a:t>name the species</a:t>
            </a:r>
          </a:p>
        </p:txBody>
      </p:sp>
      <p:sp>
        <p:nvSpPr>
          <p:cNvPr id="8" name="Rounded Rectangle 7"/>
          <p:cNvSpPr/>
          <p:nvPr/>
        </p:nvSpPr>
        <p:spPr>
          <a:xfrm>
            <a:off x="7461504"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A4</a:t>
            </a:r>
          </a:p>
          <a:p>
            <a:r>
              <a:rPr sz="1200">
                <a:solidFill>
                  <a:srgbClr val="14201F"/>
                </a:solidFill>
              </a:rPr>
              <a:t>find the data</a:t>
            </a:r>
          </a:p>
        </p:txBody>
      </p:sp>
      <p:sp>
        <p:nvSpPr>
          <p:cNvPr id="9" name="Rounded Rectangle 8"/>
          <p:cNvSpPr/>
          <p:nvPr/>
        </p:nvSpPr>
        <p:spPr>
          <a:xfrm>
            <a:off x="9710928"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A5</a:t>
            </a:r>
          </a:p>
          <a:p>
            <a:r>
              <a:rPr sz="1200">
                <a:solidFill>
                  <a:srgbClr val="14201F"/>
                </a:solidFill>
              </a:rPr>
              <a:t>inventory</a:t>
            </a:r>
          </a:p>
        </p:txBody>
      </p:sp>
      <p:sp>
        <p:nvSpPr>
          <p:cNvPr id="10" name="Rounded Rectangle 9"/>
          <p:cNvSpPr/>
          <p:nvPr/>
        </p:nvSpPr>
        <p:spPr>
          <a:xfrm>
            <a:off x="713232"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A6</a:t>
            </a:r>
          </a:p>
          <a:p>
            <a:r>
              <a:rPr sz="1200">
                <a:solidFill>
                  <a:srgbClr val="14201F"/>
                </a:solidFill>
              </a:rPr>
              <a:t>all scales?</a:t>
            </a:r>
          </a:p>
        </p:txBody>
      </p:sp>
      <p:sp>
        <p:nvSpPr>
          <p:cNvPr id="11" name="Rounded Rectangle 10"/>
          <p:cNvSpPr/>
          <p:nvPr/>
        </p:nvSpPr>
        <p:spPr>
          <a:xfrm>
            <a:off x="2962656"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A7</a:t>
            </a:r>
          </a:p>
          <a:p>
            <a:r>
              <a:rPr sz="1200">
                <a:solidFill>
                  <a:srgbClr val="14201F"/>
                </a:solidFill>
              </a:rPr>
              <a:t>write the maths</a:t>
            </a:r>
          </a:p>
        </p:txBody>
      </p:sp>
      <p:sp>
        <p:nvSpPr>
          <p:cNvPr id="12" name="Rounded Rectangle 11"/>
          <p:cNvSpPr/>
          <p:nvPr/>
        </p:nvSpPr>
        <p:spPr>
          <a:xfrm>
            <a:off x="5212080" y="3337560"/>
            <a:ext cx="2103120" cy="749808"/>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A8</a:t>
            </a:r>
          </a:p>
          <a:p>
            <a:r>
              <a:rPr sz="1200">
                <a:solidFill>
                  <a:srgbClr val="14201F"/>
                </a:solidFill>
              </a:rPr>
              <a:t>run the test</a:t>
            </a:r>
          </a:p>
        </p:txBody>
      </p:sp>
      <p:sp>
        <p:nvSpPr>
          <p:cNvPr id="13" name="Rounded Rectangle 12"/>
          <p:cNvSpPr/>
          <p:nvPr/>
        </p:nvSpPr>
        <p:spPr>
          <a:xfrm>
            <a:off x="7461504" y="3337560"/>
            <a:ext cx="2103120" cy="749808"/>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A9</a:t>
            </a:r>
          </a:p>
          <a:p>
            <a:r>
              <a:rPr sz="1200">
                <a:solidFill>
                  <a:srgbClr val="14201F"/>
                </a:solidFill>
              </a:rPr>
              <a:t>is it faithful?</a:t>
            </a:r>
          </a:p>
        </p:txBody>
      </p:sp>
      <p:sp>
        <p:nvSpPr>
          <p:cNvPr id="14" name="Rounded Rectangle 13"/>
          <p:cNvSpPr/>
          <p:nvPr/>
        </p:nvSpPr>
        <p:spPr>
          <a:xfrm>
            <a:off x="9710928"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A10</a:t>
            </a:r>
          </a:p>
          <a:p>
            <a:r>
              <a:rPr sz="1200">
                <a:solidFill>
                  <a:srgbClr val="14201F"/>
                </a:solidFill>
              </a:rPr>
              <a:t>publish it</a:t>
            </a:r>
          </a:p>
        </p:txBody>
      </p:sp>
      <p:sp>
        <p:nvSpPr>
          <p:cNvPr id="15" name="TextBox 14"/>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Two rules carry most of the weight. Nothing scores its own work, so the agent that runs a test never judges it. And every test is written down before the data is opened, so a disappointing answer stays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Six changes. No usable shortcut.</a:t>
            </a:r>
          </a:p>
        </p:txBody>
      </p:sp>
      <p:sp>
        <p:nvSpPr>
          <p:cNvPr id="5" name="Rounded Rectangle 4"/>
          <p:cNvSpPr/>
          <p:nvPr/>
        </p:nvSpPr>
        <p:spPr>
          <a:xfrm>
            <a:off x="1167231" y="2240280"/>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6" name="Rectangle 5"/>
          <p:cNvSpPr/>
          <p:nvPr/>
        </p:nvSpPr>
        <p:spPr>
          <a:xfrm>
            <a:off x="224622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63027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8" name="Rectangle 7"/>
          <p:cNvSpPr/>
          <p:nvPr/>
        </p:nvSpPr>
        <p:spPr>
          <a:xfrm>
            <a:off x="370926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9331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10" name="Rectangle 9"/>
          <p:cNvSpPr/>
          <p:nvPr/>
        </p:nvSpPr>
        <p:spPr>
          <a:xfrm>
            <a:off x="517230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55635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12" name="Rectangle 11"/>
          <p:cNvSpPr/>
          <p:nvPr/>
        </p:nvSpPr>
        <p:spPr>
          <a:xfrm>
            <a:off x="663534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1939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14" name="Rectangle 13"/>
          <p:cNvSpPr/>
          <p:nvPr/>
        </p:nvSpPr>
        <p:spPr>
          <a:xfrm>
            <a:off x="809838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48243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16" name="Rectangle 15"/>
          <p:cNvSpPr/>
          <p:nvPr/>
        </p:nvSpPr>
        <p:spPr>
          <a:xfrm>
            <a:off x="956142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45471" y="2240280"/>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18" name="Rounded Rectangle 17"/>
          <p:cNvSpPr/>
          <p:nvPr/>
        </p:nvSpPr>
        <p:spPr>
          <a:xfrm>
            <a:off x="1167231" y="3429000"/>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19" name="Rectangle 18"/>
          <p:cNvSpPr/>
          <p:nvPr/>
        </p:nvSpPr>
        <p:spPr>
          <a:xfrm>
            <a:off x="224622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63027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21" name="Rectangle 20"/>
          <p:cNvSpPr/>
          <p:nvPr/>
        </p:nvSpPr>
        <p:spPr>
          <a:xfrm>
            <a:off x="370926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09331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23" name="Rectangle 22"/>
          <p:cNvSpPr/>
          <p:nvPr/>
        </p:nvSpPr>
        <p:spPr>
          <a:xfrm>
            <a:off x="5172303" y="3685032"/>
            <a:ext cx="384048" cy="381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55635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25" name="Rectangle 24"/>
          <p:cNvSpPr/>
          <p:nvPr/>
        </p:nvSpPr>
        <p:spPr>
          <a:xfrm>
            <a:off x="663534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01939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27" name="Rectangle 26"/>
          <p:cNvSpPr/>
          <p:nvPr/>
        </p:nvSpPr>
        <p:spPr>
          <a:xfrm>
            <a:off x="809838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48243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29" name="Rectangle 28"/>
          <p:cNvSpPr/>
          <p:nvPr/>
        </p:nvSpPr>
        <p:spPr>
          <a:xfrm>
            <a:off x="956142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945471" y="3429000"/>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31" name="TextBox 30"/>
          <p:cNvSpPr txBox="1"/>
          <p:nvPr/>
        </p:nvSpPr>
        <p:spPr>
          <a:xfrm>
            <a:off x="713232" y="2011680"/>
            <a:ext cx="4572000" cy="274320"/>
          </a:xfrm>
          <a:prstGeom prst="rect">
            <a:avLst/>
          </a:prstGeom>
          <a:noFill/>
        </p:spPr>
        <p:txBody>
          <a:bodyPr wrap="square">
            <a:spAutoFit/>
          </a:bodyPr>
          <a:lstStyle/>
          <a:p>
            <a:pPr algn="l">
              <a:lnSpc>
                <a:spcPct val="100000"/>
              </a:lnSpc>
            </a:pPr>
            <a:r>
              <a:rPr sz="1000" b="0">
                <a:solidFill>
                  <a:srgbClr val="5A6B69"/>
                </a:solidFill>
                <a:latin typeface="Segoe UI"/>
              </a:rPr>
              <a:t>at κ = 2, the setting used for the result</a:t>
            </a:r>
          </a:p>
        </p:txBody>
      </p:sp>
      <p:sp>
        <p:nvSpPr>
          <p:cNvPr id="32" name="TextBox 31"/>
          <p:cNvSpPr txBox="1"/>
          <p:nvPr/>
        </p:nvSpPr>
        <p:spPr>
          <a:xfrm>
            <a:off x="713232" y="3200400"/>
            <a:ext cx="4572000" cy="274320"/>
          </a:xfrm>
          <a:prstGeom prst="rect">
            <a:avLst/>
          </a:prstGeom>
          <a:noFill/>
        </p:spPr>
        <p:txBody>
          <a:bodyPr wrap="square">
            <a:spAutoFit/>
          </a:bodyPr>
          <a:lstStyle/>
          <a:p>
            <a:pPr algn="l">
              <a:lnSpc>
                <a:spcPct val="100000"/>
              </a:lnSpc>
            </a:pPr>
            <a:r>
              <a:rPr sz="1000" b="0">
                <a:solidFill>
                  <a:srgbClr val="EB6834"/>
                </a:solidFill>
                <a:latin typeface="Segoe UI"/>
              </a:rPr>
              <a:t>at κ = 2.45, one step stops being defensible</a:t>
            </a:r>
          </a:p>
        </p:txBody>
      </p:sp>
      <p:sp>
        <p:nvSpPr>
          <p:cNvPr id="33" name="TextBox 3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Going straight needs 6 changes; every direct ordering drops downhill somewhere, so the usable path is a 6-step detour. Demand a little more margin and the route breaks. That is the product: it tells you which measurement would settle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Asking beats guessing.</a:t>
            </a:r>
          </a:p>
        </p:txBody>
      </p:sp>
      <p:pic>
        <p:nvPicPr>
          <p:cNvPr id="5" name="Picture 4" descr="cert_vs_assays.png"/>
          <p:cNvPicPr>
            <a:picLocks noChangeAspect="1"/>
          </p:cNvPicPr>
          <p:nvPr/>
        </p:nvPicPr>
        <p:blipFill>
          <a:blip r:embed="rId2"/>
          <a:stretch>
            <a:fillRect/>
          </a:stretch>
        </p:blipFill>
        <p:spPr>
          <a:xfrm>
            <a:off x="713232" y="1828800"/>
            <a:ext cx="10765231" cy="4140473"/>
          </a:xfrm>
          <a:prstGeom prst="rect">
            <a:avLst/>
          </a:prstGeom>
        </p:spPr>
      </p:pic>
      <p:sp>
        <p:nvSpPr>
          <p:cNvPr id="6" name="TextBox 5"/>
          <p:cNvSpPr txBox="1"/>
          <p:nvPr/>
        </p:nvSpPr>
        <p:spPr>
          <a:xfrm>
            <a:off x="713232" y="6024137"/>
            <a:ext cx="10765231" cy="457200"/>
          </a:xfrm>
          <a:prstGeom prst="rect">
            <a:avLst/>
          </a:prstGeom>
          <a:noFill/>
        </p:spPr>
        <p:txBody>
          <a:bodyPr wrap="square">
            <a:spAutoFit/>
          </a:bodyPr>
          <a:lstStyle/>
          <a:p>
            <a:pPr algn="l">
              <a:lnSpc>
                <a:spcPct val="110000"/>
              </a:lnSpc>
            </a:pPr>
            <a:r>
              <a:rPr sz="800" b="0">
                <a:solidFill>
                  <a:srgbClr val="5A6B69"/>
                </a:solidFill>
                <a:latin typeface="Segoe UI"/>
              </a:rPr>
              <a:t>Correct certificates against assays spent, 1,100 replay episodes, 11 policies  —  delphi-evolve artifacts/core/replay/cert_vs_assays.png, plotted by that project from its own replay episodes</a:t>
            </a:r>
          </a:p>
        </p:txBody>
      </p:sp>
      <p:sp>
        <p:nvSpPr>
          <p:cNvPr id="7" name="TextBox 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Same budget, same starting data, 100 runs each. Picking experiments to settle the question beats chasing the best-looking variant — and nobody issued a single false certificate.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Then we tried to break our own best result.</a:t>
            </a:r>
          </a:p>
        </p:txBody>
      </p:sp>
      <p:sp>
        <p:nvSpPr>
          <p:cNvPr id="5" name="TextBox 4"/>
          <p:cNvSpPr txBox="1"/>
          <p:nvPr/>
        </p:nvSpPr>
        <p:spPr>
          <a:xfrm>
            <a:off x="713232" y="224028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18</a:t>
            </a:r>
          </a:p>
        </p:txBody>
      </p:sp>
      <p:sp>
        <p:nvSpPr>
          <p:cNvPr id="6" name="TextBox 5"/>
          <p:cNvSpPr txBox="1"/>
          <p:nvPr/>
        </p:nvSpPr>
        <p:spPr>
          <a:xfrm>
            <a:off x="7132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extra wins on their panel, over 100 runs</a:t>
            </a:r>
          </a:p>
        </p:txBody>
      </p:sp>
      <p:sp>
        <p:nvSpPr>
          <p:cNvPr id="7" name="TextBox 6"/>
          <p:cNvSpPr txBox="1"/>
          <p:nvPr/>
        </p:nvSpPr>
        <p:spPr>
          <a:xfrm>
            <a:off x="3913632" y="224028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1</a:t>
            </a:r>
          </a:p>
        </p:txBody>
      </p:sp>
      <p:sp>
        <p:nvSpPr>
          <p:cNvPr id="8" name="TextBox 7"/>
          <p:cNvSpPr txBox="1"/>
          <p:nvPr/>
        </p:nvSpPr>
        <p:spPr>
          <a:xfrm>
            <a:off x="39136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pair separating the top two on our 20 fresh pairs</a:t>
            </a:r>
          </a:p>
        </p:txBody>
      </p:sp>
      <p:sp>
        <p:nvSpPr>
          <p:cNvPr id="9" name="TextBox 8"/>
          <p:cNvSpPr txBox="1"/>
          <p:nvPr/>
        </p:nvSpPr>
        <p:spPr>
          <a:xfrm>
            <a:off x="7114032" y="224028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80</a:t>
            </a:r>
          </a:p>
        </p:txBody>
      </p:sp>
      <p:sp>
        <p:nvSpPr>
          <p:cNvPr id="10" name="TextBox 9"/>
          <p:cNvSpPr txBox="1"/>
          <p:nvPr/>
        </p:nvSpPr>
        <p:spPr>
          <a:xfrm>
            <a:off x="71140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their 100 runs start from the same genotype</a:t>
            </a:r>
          </a:p>
        </p:txBody>
      </p:sp>
      <p:sp>
        <p:nvSpPr>
          <p:cNvPr id="11" name="TextBox 10"/>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ranking held; the margin did not. We pre-registered the panel before running it. A gap of 18 collapsed to 1 once the pairs were not chosen by the people being measured. The benchmark was partly measuring its own composition.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A group beats one agent — when attention is the bottleneck.</a:t>
            </a:r>
          </a:p>
        </p:txBody>
      </p:sp>
      <p:graphicFrame>
        <p:nvGraphicFramePr>
          <p:cNvPr id="5" name="Chart 4"/>
          <p:cNvGraphicFramePr>
            <a:graphicFrameLocks noGrp="1"/>
          </p:cNvGraphicFramePr>
          <p:nvPr/>
        </p:nvGraphicFramePr>
        <p:xfrm>
          <a:off x="713232" y="2011680"/>
          <a:ext cx="10490911" cy="310896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Two pre-registered runs, same model and budget, out of 20 each. The single agent lost mostly by running out of room and leaving answers blank, not by reasoning worse. The same contest on the enzyme benchmark found no advantage at all, because there the members are deterministic code. Collaboration pays when the limit is attention.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Two independent swarms. Same claims. Six of eight agree.</a:t>
            </a:r>
          </a:p>
        </p:txBody>
      </p:sp>
      <p:sp>
        <p:nvSpPr>
          <p:cNvPr id="5" name="TextBox 4"/>
          <p:cNvSpPr txBox="1"/>
          <p:nvPr/>
        </p:nvSpPr>
        <p:spPr>
          <a:xfrm>
            <a:off x="713232" y="210312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6</a:t>
            </a:r>
          </a:p>
        </p:txBody>
      </p:sp>
      <p:sp>
        <p:nvSpPr>
          <p:cNvPr id="6" name="TextBox 5"/>
          <p:cNvSpPr txBox="1"/>
          <p:nvPr/>
        </p:nvSpPr>
        <p:spPr>
          <a:xfrm>
            <a:off x="7132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8 claims where both swarms reached the same verdict, working separately</a:t>
            </a:r>
          </a:p>
        </p:txBody>
      </p:sp>
      <p:sp>
        <p:nvSpPr>
          <p:cNvPr id="7" name="TextBox 6"/>
          <p:cNvSpPr txBox="1"/>
          <p:nvPr/>
        </p:nvSpPr>
        <p:spPr>
          <a:xfrm>
            <a:off x="39136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2</a:t>
            </a:r>
          </a:p>
        </p:txBody>
      </p:sp>
      <p:sp>
        <p:nvSpPr>
          <p:cNvPr id="8" name="TextBox 7"/>
          <p:cNvSpPr txBox="1"/>
          <p:nvPr/>
        </p:nvSpPr>
        <p:spPr>
          <a:xfrm>
            <a:off x="39136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where they differ — both differences methodological, not factual</a:t>
            </a:r>
          </a:p>
        </p:txBody>
      </p:sp>
      <p:sp>
        <p:nvSpPr>
          <p:cNvPr id="9" name="TextBox 8"/>
          <p:cNvSpPr txBox="1"/>
          <p:nvPr/>
        </p:nvSpPr>
        <p:spPr>
          <a:xfrm>
            <a:off x="7114032" y="2103120"/>
            <a:ext cx="2834640" cy="1280160"/>
          </a:xfrm>
          <a:prstGeom prst="rect">
            <a:avLst/>
          </a:prstGeom>
          <a:noFill/>
        </p:spPr>
        <p:txBody>
          <a:bodyPr wrap="square">
            <a:spAutoFit/>
          </a:bodyPr>
          <a:lstStyle/>
          <a:p>
            <a:pPr algn="l">
              <a:lnSpc>
                <a:spcPct val="100000"/>
              </a:lnSpc>
            </a:pPr>
            <a:r>
              <a:rPr sz="5400" b="1">
                <a:solidFill>
                  <a:srgbClr val="14201F"/>
                </a:solidFill>
                <a:latin typeface="Segoe UI"/>
              </a:rPr>
              <a:t>129+16</a:t>
            </a:r>
          </a:p>
        </p:txBody>
      </p:sp>
      <p:sp>
        <p:nvSpPr>
          <p:cNvPr id="10" name="TextBox 9"/>
          <p:cNvSpPr txBox="1"/>
          <p:nvPr/>
        </p:nvSpPr>
        <p:spPr>
          <a:xfrm>
            <a:off x="71140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claim tests across the two swarms</a:t>
            </a:r>
          </a:p>
        </p:txBody>
      </p:sp>
      <p:sp>
        <p:nvSpPr>
          <p:cNvPr id="11" name="TextBox 10"/>
          <p:cNvSpPr txBox="1"/>
          <p:nvPr/>
        </p:nvSpPr>
        <p:spPr>
          <a:xfrm>
            <a:off x="713232" y="3977639"/>
            <a:ext cx="10765231" cy="384048"/>
          </a:xfrm>
          <a:prstGeom prst="rect">
            <a:avLst/>
          </a:prstGeom>
          <a:noFill/>
        </p:spPr>
        <p:txBody>
          <a:bodyPr wrap="square">
            <a:spAutoFit/>
          </a:bodyPr>
          <a:lstStyle/>
          <a:p>
            <a:pPr algn="l">
              <a:lnSpc>
                <a:spcPct val="100000"/>
              </a:lnSpc>
            </a:pPr>
            <a:r>
              <a:rPr sz="1100" b="0">
                <a:solidFill>
                  <a:srgbClr val="14201F"/>
                </a:solidFill>
                <a:latin typeface="Segoe UI"/>
              </a:rPr>
              <a:t>darwin1859-ch11-13:  ours supports  ·  theirs mixed  —  different operationalisation of the same sentence</a:t>
            </a:r>
          </a:p>
        </p:txBody>
      </p:sp>
      <p:sp>
        <p:nvSpPr>
          <p:cNvPr id="12" name="TextBox 11"/>
          <p:cNvSpPr txBox="1"/>
          <p:nvPr/>
        </p:nvSpPr>
        <p:spPr>
          <a:xfrm>
            <a:off x="713232" y="4379975"/>
            <a:ext cx="10765231" cy="384048"/>
          </a:xfrm>
          <a:prstGeom prst="rect">
            <a:avLst/>
          </a:prstGeom>
          <a:noFill/>
        </p:spPr>
        <p:txBody>
          <a:bodyPr wrap="square">
            <a:spAutoFit/>
          </a:bodyPr>
          <a:lstStyle/>
          <a:p>
            <a:pPr algn="l">
              <a:lnSpc>
                <a:spcPct val="100000"/>
              </a:lnSpc>
            </a:pPr>
            <a:r>
              <a:rPr sz="1100" b="0">
                <a:solidFill>
                  <a:srgbClr val="14201F"/>
                </a:solidFill>
                <a:latin typeface="Segoe UI"/>
              </a:rPr>
              <a:t>thompson1917-ch03-07:  ours supports  ·  theirs mixed  —  same data, same method, different pre-registered age range: 2.74 for ages 2-19 vs 2.41 once infants are pooled in</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Nobody coordinated these; the overlap was accidental. Then we chased the disagreements down. On Thompson's cube law the two swarms reproduce each other exactly once the age range matches: their own 2-20 year window gives 2.74, ours 2.76. The whole gap is infants, who scale near 2.1 and drag the pooled exponent to 2.41. The verdict turns on one pre-registered choice, not on anyone's method. Neither number is 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broke the proofs on purpose.</a:t>
            </a:r>
          </a:p>
        </p:txBody>
      </p:sp>
      <p:sp>
        <p:nvSpPr>
          <p:cNvPr id="5" name="TextBox 4"/>
          <p:cNvSpPr txBox="1"/>
          <p:nvPr/>
        </p:nvSpPr>
        <p:spPr>
          <a:xfrm>
            <a:off x="713232" y="228600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7/7</a:t>
            </a:r>
          </a:p>
        </p:txBody>
      </p:sp>
      <p:sp>
        <p:nvSpPr>
          <p:cNvPr id="6" name="TextBox 5"/>
          <p:cNvSpPr txBox="1"/>
          <p:nvPr/>
        </p:nvSpPr>
        <p:spPr>
          <a:xfrm>
            <a:off x="7132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deliberate breakages correctly rejected</a:t>
            </a:r>
          </a:p>
        </p:txBody>
      </p:sp>
      <p:sp>
        <p:nvSpPr>
          <p:cNvPr id="7" name="TextBox 6"/>
          <p:cNvSpPr txBox="1"/>
          <p:nvPr/>
        </p:nvSpPr>
        <p:spPr>
          <a:xfrm>
            <a:off x="3913632" y="2286000"/>
            <a:ext cx="2834640" cy="1280160"/>
          </a:xfrm>
          <a:prstGeom prst="rect">
            <a:avLst/>
          </a:prstGeom>
          <a:noFill/>
        </p:spPr>
        <p:txBody>
          <a:bodyPr wrap="square">
            <a:spAutoFit/>
          </a:bodyPr>
          <a:lstStyle/>
          <a:p>
            <a:pPr algn="l">
              <a:lnSpc>
                <a:spcPct val="100000"/>
              </a:lnSpc>
            </a:pPr>
            <a:r>
              <a:rPr sz="5400" b="1">
                <a:solidFill>
                  <a:srgbClr val="14201F"/>
                </a:solidFill>
                <a:latin typeface="Segoe UI"/>
              </a:rPr>
              <a:t>clean</a:t>
            </a:r>
          </a:p>
        </p:txBody>
      </p:sp>
      <p:sp>
        <p:nvSpPr>
          <p:cNvPr id="8" name="TextBox 7"/>
          <p:cNvSpPr txBox="1"/>
          <p:nvPr/>
        </p:nvSpPr>
        <p:spPr>
          <a:xfrm>
            <a:off x="39136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rebuild from source, on our own copy</a:t>
            </a:r>
          </a:p>
        </p:txBody>
      </p:sp>
      <p:sp>
        <p:nvSpPr>
          <p:cNvPr id="9" name="TextBox 8"/>
          <p:cNvSpPr txBox="1"/>
          <p:nvPr/>
        </p:nvSpPr>
        <p:spPr>
          <a:xfrm>
            <a:off x="7114032" y="228600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8</a:t>
            </a:r>
          </a:p>
        </p:txBody>
      </p:sp>
      <p:sp>
        <p:nvSpPr>
          <p:cNvPr id="10" name="TextBox 9"/>
          <p:cNvSpPr txBox="1"/>
          <p:nvPr/>
        </p:nvSpPr>
        <p:spPr>
          <a:xfrm>
            <a:off x="71140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our own laws machine-checked, zero gaps</a:t>
            </a:r>
          </a:p>
        </p:txBody>
      </p:sp>
      <p:sp>
        <p:nvSpPr>
          <p:cNvPr id="11" name="TextBox 10"/>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Reversing an inequality, weakening a wall, deleting a check, moving one measured number — each must stop the proof compiling, and each did. The theorems are general, not arithmetic about fixed constants. Found by checking rather than trusting: one receipt in the partner project credits a proof module that does not exist in its repository. The proofs are sound; the paperwork overstated the coverage.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Two things that did not work.</a:t>
            </a:r>
          </a:p>
        </p:txBody>
      </p:sp>
      <p:sp>
        <p:nvSpPr>
          <p:cNvPr id="5" name="TextBox 4"/>
          <p:cNvSpPr txBox="1"/>
          <p:nvPr/>
        </p:nvSpPr>
        <p:spPr>
          <a:xfrm>
            <a:off x="713232" y="196596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0</a:t>
            </a:r>
          </a:p>
        </p:txBody>
      </p:sp>
      <p:sp>
        <p:nvSpPr>
          <p:cNvPr id="6" name="TextBox 5"/>
          <p:cNvSpPr txBox="1"/>
          <p:nvPr/>
        </p:nvSpPr>
        <p:spPr>
          <a:xfrm>
            <a:off x="713232" y="31089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benefit from a protein language model, across 5 sizes and 160,000 variants on an H100</a:t>
            </a:r>
          </a:p>
        </p:txBody>
      </p:sp>
      <p:sp>
        <p:nvSpPr>
          <p:cNvPr id="7" name="TextBox 6"/>
          <p:cNvSpPr txBox="1"/>
          <p:nvPr/>
        </p:nvSpPr>
        <p:spPr>
          <a:xfrm>
            <a:off x="3913632" y="196596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0</a:t>
            </a:r>
          </a:p>
        </p:txBody>
      </p:sp>
      <p:sp>
        <p:nvSpPr>
          <p:cNvPr id="8" name="TextBox 7"/>
          <p:cNvSpPr txBox="1"/>
          <p:nvPr/>
        </p:nvSpPr>
        <p:spPr>
          <a:xfrm>
            <a:off x="3913632" y="31089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saving from reusing a claim, over an ordinary cache, within one context</a:t>
            </a:r>
          </a:p>
        </p:txBody>
      </p:sp>
      <p:sp>
        <p:nvSpPr>
          <p:cNvPr id="9" name="TextBox 8"/>
          <p:cNvSpPr txBox="1"/>
          <p:nvPr/>
        </p:nvSpPr>
        <p:spPr>
          <a:xfrm>
            <a:off x="713232" y="361188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deliberately shuffled model scored as well as the real one. We lead with this because a null you can reproduce is worth more than a result you cannot — and because most teams will not show you theirs.</a:t>
            </a:r>
          </a:p>
        </p:txBody>
      </p:sp>
      <p:pic>
        <p:nvPicPr>
          <p:cNvPr id="10" name="Picture 9" descr="ablation.png"/>
          <p:cNvPicPr>
            <a:picLocks noChangeAspect="1"/>
          </p:cNvPicPr>
          <p:nvPr/>
        </p:nvPicPr>
        <p:blipFill>
          <a:blip r:embed="rId2"/>
          <a:stretch>
            <a:fillRect/>
          </a:stretch>
        </p:blipFill>
        <p:spPr>
          <a:xfrm>
            <a:off x="713232" y="4114800"/>
            <a:ext cx="5669280" cy="2180492"/>
          </a:xfrm>
          <a:prstGeom prst="rect">
            <a:avLst/>
          </a:prstGeom>
        </p:spPr>
      </p:pic>
      <p:sp>
        <p:nvSpPr>
          <p:cNvPr id="11" name="TextBox 10"/>
          <p:cNvSpPr txBox="1"/>
          <p:nvPr/>
        </p:nvSpPr>
        <p:spPr>
          <a:xfrm>
            <a:off x="713232" y="6350156"/>
            <a:ext cx="5669280" cy="457200"/>
          </a:xfrm>
          <a:prstGeom prst="rect">
            <a:avLst/>
          </a:prstGeom>
          <a:noFill/>
        </p:spPr>
        <p:txBody>
          <a:bodyPr wrap="square">
            <a:spAutoFit/>
          </a:bodyPr>
          <a:lstStyle/>
          <a:p>
            <a:pPr algn="l">
              <a:lnSpc>
                <a:spcPct val="110000"/>
              </a:lnSpc>
            </a:pPr>
            <a:r>
              <a:rPr sz="800" b="0">
                <a:solidFill>
                  <a:srgbClr val="5A6B69"/>
                </a:solidFill>
                <a:latin typeface="Segoe UI"/>
              </a:rPr>
              <a:t>Remove the learned model and the curves do not move  —  delphi-evolve artifacts/core/replay/ablation_cert_vs_assays.png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More of this is negative than positive.</a:t>
            </a:r>
          </a:p>
          <a:p>
            <a:pPr algn="l">
              <a:lnSpc>
                <a:spcPct val="92000"/>
              </a:lnSpc>
            </a:pPr>
            <a:r>
              <a:rPr sz="4000" b="1">
                <a:solidFill>
                  <a:srgbClr val="14201F"/>
                </a:solidFill>
                <a:latin typeface="Segoe UI"/>
              </a:rPr>
              <a:t>That is the result.</a:t>
            </a:r>
          </a:p>
        </p:txBody>
      </p:sp>
      <p:sp>
        <p:nvSpPr>
          <p:cNvPr id="5" name="Rectangle 4"/>
          <p:cNvSpPr/>
          <p:nvPr/>
        </p:nvSpPr>
        <p:spPr>
          <a:xfrm>
            <a:off x="713232" y="2057400"/>
            <a:ext cx="5619880" cy="310896"/>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423160"/>
            <a:ext cx="5619880" cy="548640"/>
          </a:xfrm>
          <a:prstGeom prst="rect">
            <a:avLst/>
          </a:prstGeom>
          <a:noFill/>
        </p:spPr>
        <p:txBody>
          <a:bodyPr wrap="square">
            <a:spAutoFit/>
          </a:bodyPr>
          <a:lstStyle/>
          <a:p>
            <a:pPr algn="l">
              <a:lnSpc>
                <a:spcPct val="110000"/>
              </a:lnSpc>
            </a:pPr>
            <a:r>
              <a:rPr sz="1000" b="0">
                <a:solidFill>
                  <a:srgbClr val="5A6B69"/>
                </a:solidFill>
                <a:latin typeface="Segoe UI"/>
              </a:rPr>
              <a:t>11  negative or self-limiting</a:t>
            </a:r>
          </a:p>
        </p:txBody>
      </p:sp>
      <p:sp>
        <p:nvSpPr>
          <p:cNvPr id="7" name="Rectangle 6"/>
          <p:cNvSpPr/>
          <p:nvPr/>
        </p:nvSpPr>
        <p:spPr>
          <a:xfrm>
            <a:off x="6352162" y="2057400"/>
            <a:ext cx="2031470" cy="3108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2162" y="2423160"/>
            <a:ext cx="2031470" cy="548640"/>
          </a:xfrm>
          <a:prstGeom prst="rect">
            <a:avLst/>
          </a:prstGeom>
          <a:noFill/>
        </p:spPr>
        <p:txBody>
          <a:bodyPr wrap="square">
            <a:spAutoFit/>
          </a:bodyPr>
          <a:lstStyle/>
          <a:p>
            <a:pPr algn="l">
              <a:lnSpc>
                <a:spcPct val="110000"/>
              </a:lnSpc>
            </a:pPr>
            <a:r>
              <a:rPr sz="1000" b="0">
                <a:solidFill>
                  <a:srgbClr val="5A6B69"/>
                </a:solidFill>
                <a:latin typeface="Segoe UI"/>
              </a:rPr>
              <a:t>4  methodological, found by accident</a:t>
            </a:r>
          </a:p>
        </p:txBody>
      </p:sp>
      <p:sp>
        <p:nvSpPr>
          <p:cNvPr id="9" name="Rectangle 8"/>
          <p:cNvSpPr/>
          <p:nvPr/>
        </p:nvSpPr>
        <p:spPr>
          <a:xfrm>
            <a:off x="8402682" y="2057400"/>
            <a:ext cx="3056730" cy="310896"/>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02682" y="2423160"/>
            <a:ext cx="3056730" cy="548640"/>
          </a:xfrm>
          <a:prstGeom prst="rect">
            <a:avLst/>
          </a:prstGeom>
          <a:noFill/>
        </p:spPr>
        <p:txBody>
          <a:bodyPr wrap="square">
            <a:spAutoFit/>
          </a:bodyPr>
          <a:lstStyle/>
          <a:p>
            <a:pPr algn="l">
              <a:lnSpc>
                <a:spcPct val="110000"/>
              </a:lnSpc>
            </a:pPr>
            <a:r>
              <a:rPr sz="1000" b="0">
                <a:solidFill>
                  <a:srgbClr val="5A6B69"/>
                </a:solidFill>
                <a:latin typeface="Segoe UI"/>
              </a:rPr>
              <a:t>6  supported</a:t>
            </a:r>
          </a:p>
        </p:txBody>
      </p:sp>
      <p:graphicFrame>
        <p:nvGraphicFramePr>
          <p:cNvPr id="11" name="Chart 10"/>
          <p:cNvGraphicFramePr>
            <a:graphicFrameLocks noGrp="1"/>
          </p:cNvGraphicFramePr>
          <p:nvPr/>
        </p:nvGraphicFramePr>
        <p:xfrm>
          <a:off x="713232" y="2971800"/>
          <a:ext cx="10490911" cy="2286000"/>
        </p:xfrm>
        <a:graphic>
          <a:graphicData uri="http://schemas.openxmlformats.org/drawingml/2006/chart">
            <c:chart xmlns:c="http://schemas.openxmlformats.org/drawingml/2006/chart" r:id="rId2"/>
          </a:graphicData>
        </a:graphic>
      </p:graphicFrame>
      <p:sp>
        <p:nvSpPr>
          <p:cNvPr id="12" name="Rounded Rectangle 11"/>
          <p:cNvSpPr/>
          <p:nvPr/>
        </p:nvSpPr>
        <p:spPr>
          <a:xfrm>
            <a:off x="713232" y="544068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a:solidFill>
                  <a:srgbClr val="14201F"/>
                </a:solidFill>
                <a:latin typeface="Segoe UI"/>
              </a:rPr>
              <a:t>4 claims corrected in one day — 3 found by our own checks, 1 by a collaborator's independent cross-check: The gja5a fin-length link, withdrawn (caught by our own cell-to-cell check); The flying-fish genome claim, wrong (caught by the project lead, not the thread that published it); A declared null, withdrawn (caught by our own curation pass, not the thread that wrote it); An overstated “settled”, withdrawn (caught by a collaborator’s independent cross-check). Every one is a record or a log entry, never a silent edit to history.</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an argument about method, not an apology. 15 of 21 records are not a win for the hypothesis we set out to test: 11 are negative or self-limiting and 4 are methodological findings we only have because something broke. A pipeline that mostly produces negatives, corrects itself in public and refuses statistics its sample cannot support is making a stronger claim about its method than one that reports only wins — because only the first kind can be wrong out loud.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pre-registered a test of a designed organism.</a:t>
            </a:r>
          </a:p>
          <a:p>
            <a:pPr algn="l">
              <a:lnSpc>
                <a:spcPct val="92000"/>
              </a:lnSpc>
            </a:pPr>
            <a:r>
              <a:rPr sz="4000" b="1">
                <a:solidFill>
                  <a:srgbClr val="14201F"/>
                </a:solidFill>
                <a:latin typeface="Segoe UI"/>
              </a:rPr>
              <a:t>It failed.</a:t>
            </a:r>
          </a:p>
        </p:txBody>
      </p:sp>
      <p:sp>
        <p:nvSpPr>
          <p:cNvPr id="5" name="Rounded Rectangle 4"/>
          <p:cNvSpPr/>
          <p:nvPr/>
        </p:nvSpPr>
        <p:spPr>
          <a:xfrm>
            <a:off x="713232" y="201168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a:solidFill>
                  <a:srgbClr val="14201F"/>
                </a:solidFill>
                <a:latin typeface="Segoe UI"/>
              </a:rPr>
              <a:t>SAY THIS FIRST: the design is not ours. It is Daane et al. 2021's own germline double heterozygote — built, scored and published by them, with their own claim that it phenocopies flying-fish fin proportions. Our contribution is the validation arithmetic, not the organism. We did not design a flying fish.</a:t>
            </a:r>
          </a:p>
        </p:txBody>
      </p:sp>
      <p:sp>
        <p:nvSpPr>
          <p:cNvPr id="6" name="TextBox 5"/>
          <p:cNvSpPr txBox="1"/>
          <p:nvPr/>
        </p:nvSpPr>
        <p:spPr>
          <a:xfrm>
            <a:off x="713232" y="3017520"/>
            <a:ext cx="7564831" cy="310896"/>
          </a:xfrm>
          <a:prstGeom prst="rect">
            <a:avLst/>
          </a:prstGeom>
          <a:noFill/>
        </p:spPr>
        <p:txBody>
          <a:bodyPr wrap="square">
            <a:spAutoFit/>
          </a:bodyPr>
          <a:lstStyle/>
          <a:p>
            <a:pPr algn="l">
              <a:lnSpc>
                <a:spcPct val="100000"/>
              </a:lnSpc>
            </a:pPr>
            <a:r>
              <a:rPr sz="1400" b="1">
                <a:solidFill>
                  <a:srgbClr val="14201F"/>
                </a:solidFill>
                <a:latin typeface="Segoe UI"/>
              </a:rPr>
              <a:t>Morphological axes that could be scored at all</a:t>
            </a:r>
          </a:p>
        </p:txBody>
      </p:sp>
      <p:sp>
        <p:nvSpPr>
          <p:cNvPr id="7" name="TextBox 6"/>
          <p:cNvSpPr txBox="1"/>
          <p:nvPr/>
        </p:nvSpPr>
        <p:spPr>
          <a:xfrm>
            <a:off x="8552383" y="3017520"/>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of 10</a:t>
            </a:r>
          </a:p>
        </p:txBody>
      </p:sp>
      <p:sp>
        <p:nvSpPr>
          <p:cNvPr id="8" name="TextBox 7"/>
          <p:cNvSpPr txBox="1"/>
          <p:nvPr/>
        </p:nvSpPr>
        <p:spPr>
          <a:xfrm>
            <a:off x="713232" y="3291840"/>
            <a:ext cx="10399471" cy="749808"/>
          </a:xfrm>
          <a:prstGeom prst="rect">
            <a:avLst/>
          </a:prstGeom>
          <a:noFill/>
        </p:spPr>
        <p:txBody>
          <a:bodyPr wrap="square">
            <a:spAutoFit/>
          </a:bodyPr>
          <a:lstStyle/>
          <a:p>
            <a:pPr algn="l">
              <a:lnSpc>
                <a:spcPct val="112000"/>
              </a:lnSpc>
            </a:pPr>
            <a:r>
              <a:rPr sz="1000" b="0">
                <a:solidFill>
                  <a:srgbClr val="5A6B69"/>
                </a:solidFill>
                <a:latin typeface="Segoe UI"/>
              </a:rPr>
              <a:t>The axis the design is about, pectoral fin length / SL, cannot be scored on either side: no published adult zebrafish value exists, and the design's value exists only inside a figure we refused to digitise.</a:t>
            </a:r>
          </a:p>
        </p:txBody>
      </p:sp>
      <p:sp>
        <p:nvSpPr>
          <p:cNvPr id="9" name="TextBox 8"/>
          <p:cNvSpPr txBox="1"/>
          <p:nvPr/>
        </p:nvSpPr>
        <p:spPr>
          <a:xfrm>
            <a:off x="713232" y="4005072"/>
            <a:ext cx="7564831" cy="310896"/>
          </a:xfrm>
          <a:prstGeom prst="rect">
            <a:avLst/>
          </a:prstGeom>
          <a:noFill/>
        </p:spPr>
        <p:txBody>
          <a:bodyPr wrap="square">
            <a:spAutoFit/>
          </a:bodyPr>
          <a:lstStyle/>
          <a:p>
            <a:pPr algn="l">
              <a:lnSpc>
                <a:spcPct val="100000"/>
              </a:lnSpc>
            </a:pPr>
            <a:r>
              <a:rPr sz="1400" b="1">
                <a:solidFill>
                  <a:srgbClr val="14201F"/>
                </a:solidFill>
                <a:latin typeface="Segoe UI"/>
              </a:rPr>
              <a:t>Loci known to differ in flying fishes that the design TOUCHES — a near miss, not a hit</a:t>
            </a:r>
          </a:p>
        </p:txBody>
      </p:sp>
      <p:sp>
        <p:nvSpPr>
          <p:cNvPr id="10" name="TextBox 9"/>
          <p:cNvSpPr txBox="1"/>
          <p:nvPr/>
        </p:nvSpPr>
        <p:spPr>
          <a:xfrm>
            <a:off x="8552383" y="4005072"/>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of 74  ·  1.4%</a:t>
            </a:r>
          </a:p>
        </p:txBody>
      </p:sp>
      <p:sp>
        <p:nvSpPr>
          <p:cNvPr id="11" name="TextBox 10"/>
          <p:cNvSpPr txBox="1"/>
          <p:nvPr/>
        </p:nvSpPr>
        <p:spPr>
          <a:xfrm>
            <a:off x="713232" y="4279392"/>
            <a:ext cx="10399471" cy="749808"/>
          </a:xfrm>
          <a:prstGeom prst="rect">
            <a:avLst/>
          </a:prstGeom>
          <a:noFill/>
        </p:spPr>
        <p:txBody>
          <a:bodyPr wrap="square">
            <a:spAutoFit/>
          </a:bodyPr>
          <a:lstStyle/>
          <a:p>
            <a:pPr algn="l">
              <a:lnSpc>
                <a:spcPct val="112000"/>
              </a:lnSpc>
            </a:pPr>
            <a:r>
              <a:rPr sz="1000" b="0">
                <a:solidFill>
                  <a:srgbClr val="5A6B69"/>
                </a:solidFill>
                <a:latin typeface="Segoe UI"/>
              </a:rPr>
              <a:t>Same gene, different variant. lat4a/slc43a2a is genuinely in Daane's convergent-substitution sheet, so the design touches the right gene — but the zebrafish allele this project's design uses is T200K; the convergent substitution reported in flying fishes is F326L. Different sites, different species, and not the same variant. The design changes a different position in the same transporter, not the change flying fishes carry. The other half of the design, kcnh2a, appears nowhere in that workbook.</a:t>
            </a:r>
          </a:p>
        </p:txBody>
      </p:sp>
      <p:sp>
        <p:nvSpPr>
          <p:cNvPr id="12" name="TextBox 11"/>
          <p:cNvSpPr txBox="1"/>
          <p:nvPr/>
        </p:nvSpPr>
        <p:spPr>
          <a:xfrm>
            <a:off x="713232" y="4992624"/>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Lean constraint gate</a:t>
            </a:r>
          </a:p>
        </p:txBody>
      </p:sp>
      <p:sp>
        <p:nvSpPr>
          <p:cNvPr id="13" name="TextBox 12"/>
          <p:cNvSpPr txBox="1"/>
          <p:nvPr/>
        </p:nvSpPr>
        <p:spPr>
          <a:xfrm>
            <a:off x="8552383" y="4992624"/>
            <a:ext cx="2926080" cy="310896"/>
          </a:xfrm>
          <a:prstGeom prst="rect">
            <a:avLst/>
          </a:prstGeom>
          <a:noFill/>
        </p:spPr>
        <p:txBody>
          <a:bodyPr wrap="square">
            <a:spAutoFit/>
          </a:bodyPr>
          <a:lstStyle/>
          <a:p>
            <a:pPr algn="r">
              <a:lnSpc>
                <a:spcPct val="100000"/>
              </a:lnSpc>
            </a:pPr>
            <a:r>
              <a:rPr sz="1400" b="1">
                <a:solidFill>
                  <a:srgbClr val="EB6834"/>
                </a:solidFill>
                <a:latin typeface="Segoe UI"/>
              </a:rPr>
              <a:t>FAILS, both arms</a:t>
            </a:r>
          </a:p>
        </p:txBody>
      </p:sp>
      <p:sp>
        <p:nvSpPr>
          <p:cNvPr id="14" name="TextBox 13"/>
          <p:cNvSpPr txBox="1"/>
          <p:nvPr/>
        </p:nvSpPr>
        <p:spPr>
          <a:xfrm>
            <a:off x="713232" y="5266944"/>
            <a:ext cx="10399471" cy="749808"/>
          </a:xfrm>
          <a:prstGeom prst="rect">
            <a:avLst/>
          </a:prstGeom>
          <a:noFill/>
        </p:spPr>
        <p:txBody>
          <a:bodyPr wrap="square">
            <a:spAutoFit/>
          </a:bodyPr>
          <a:lstStyle/>
          <a:p>
            <a:pPr algn="l">
              <a:lnSpc>
                <a:spcPct val="112000"/>
              </a:lnSpc>
            </a:pPr>
            <a:r>
              <a:rPr sz="1000" b="0">
                <a:solidFill>
                  <a:srgbClr val="5A6B69"/>
                </a:solidFill>
                <a:latin typeface="Segoe UI"/>
              </a:rPr>
              <a:t>It fails for the design (2 violated) and for the real flying fish (1 violated), so failing does not separate the design from its target. The gate is weak: only 3 of 21 rows are decided by a single design, and it tests nothing aerodynamic, nothing developmental and nothing about fins.</a:t>
            </a:r>
          </a:p>
        </p:txBody>
      </p:sp>
      <p:sp>
        <p:nvSpPr>
          <p:cNvPr id="15" name="TextBox 14"/>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Dropped as unsupported, not disproved, under the pre-registration's own rule. The honest framing is also the stronger one: we built the apparatus to ask whether a designed organism matches a real one, wrote the test down first, ran it, and it failed — which is why we can now say what designing an organism would require. At a single scored axis none of the pre-registered FAIL triggers could fire, so the letter of the rule would have awarded "close" by default; the agent refused that and logged it as a deviation against the design's own interest. Pre-registration hashed before the first number, sha256 ea6f99eb25b48cdb… (verified unaltered).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said there was no genome. There is.</a:t>
            </a:r>
          </a:p>
        </p:txBody>
      </p:sp>
      <p:sp>
        <p:nvSpPr>
          <p:cNvPr id="5" name="TextBox 4"/>
          <p:cNvSpPr txBox="1"/>
          <p:nvPr/>
        </p:nvSpPr>
        <p:spPr>
          <a:xfrm>
            <a:off x="713232" y="210312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23,611</a:t>
            </a:r>
          </a:p>
        </p:txBody>
      </p:sp>
      <p:sp>
        <p:nvSpPr>
          <p:cNvPr id="6" name="TextBox 5"/>
          <p:cNvSpPr txBox="1"/>
          <p:nvPr/>
        </p:nvSpPr>
        <p:spPr>
          <a:xfrm>
            <a:off x="7132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protein-coding genes predicted in the flying-fish assembly</a:t>
            </a:r>
          </a:p>
        </p:txBody>
      </p:sp>
      <p:sp>
        <p:nvSpPr>
          <p:cNvPr id="7" name="TextBox 6"/>
          <p:cNvSpPr txBox="1"/>
          <p:nvPr/>
        </p:nvSpPr>
        <p:spPr>
          <a:xfrm>
            <a:off x="3913632" y="210312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99.5%</a:t>
            </a:r>
          </a:p>
        </p:txBody>
      </p:sp>
      <p:sp>
        <p:nvSpPr>
          <p:cNvPr id="8" name="TextBox 7"/>
          <p:cNvSpPr txBox="1"/>
          <p:nvPr/>
        </p:nvSpPr>
        <p:spPr>
          <a:xfrm>
            <a:off x="39136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them carry at least one database hit (23,492 genes)</a:t>
            </a:r>
          </a:p>
        </p:txBody>
      </p:sp>
      <p:sp>
        <p:nvSpPr>
          <p:cNvPr id="9" name="TextBox 8"/>
          <p:cNvSpPr txBox="1"/>
          <p:nvPr/>
        </p:nvSpPr>
        <p:spPr>
          <a:xfrm>
            <a:off x="71140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0</a:t>
            </a:r>
          </a:p>
        </p:txBody>
      </p:sp>
      <p:sp>
        <p:nvSpPr>
          <p:cNvPr id="10" name="TextBox 9"/>
          <p:cNvSpPr txBox="1"/>
          <p:nvPr/>
        </p:nvSpPr>
        <p:spPr>
          <a:xfrm>
            <a:off x="71140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occurrences of "RNA-seq" or "transcriptome" in that paper, counted</a:t>
            </a:r>
          </a:p>
        </p:txBody>
      </p:sp>
      <p:sp>
        <p:nvSpPr>
          <p:cNvPr id="11" name="Rounded Rectangle 10"/>
          <p:cNvSpPr/>
          <p:nvPr/>
        </p:nvSpPr>
        <p:spPr>
          <a:xfrm>
            <a:off x="713232" y="388620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a:solidFill>
                  <a:srgbClr val="14201F"/>
                </a:solidFill>
                <a:latin typeface="Segoe UI"/>
              </a:rPr>
              <a:t>What we said, and what changed: until this weekend our own files, our brief to ten subagents and the public dashboard all said that almost no molecular data exists for flying fish. That was wrong, and it was load-bearing — it was repeated on every number in the map. 9 files were rewritten and the error recorded as its own citable correction.   And the caveat on our own headline: "functionally annotated" means one sequence-similarity or domain hit. TrEMBL alone supplies 23,477 of the hits and is automatically generated and unreviewed, so 99.5% measures database coverage, not understood function.</a:t>
            </a:r>
          </a:p>
        </p:txBody>
      </p:sp>
      <p:sp>
        <p:nvSpPr>
          <p:cNvPr id="12" name="TextBox 11"/>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the cleanest statement of the gap we face. The genes are known; what is missing is measurement. That paper reports no expression data, no mutant, no kinetics and no regulatory network, and the zero is established by counting strings in the full text rather than by inference. Xu et al. 2021, Frontiers in Genetics 12:695700, doi 10.3389/fgene.2021.695700.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84.4% annotated. 0% parameterised.</a:t>
            </a:r>
          </a:p>
        </p:txBody>
      </p:sp>
      <p:sp>
        <p:nvSpPr>
          <p:cNvPr id="5" name="TextBox 4"/>
          <p:cNvSpPr txBox="1"/>
          <p:nvPr/>
        </p:nvSpPr>
        <p:spPr>
          <a:xfrm>
            <a:off x="713232" y="20574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0</a:t>
            </a:r>
          </a:p>
        </p:txBody>
      </p:sp>
      <p:sp>
        <p:nvSpPr>
          <p:cNvPr id="6" name="TextBox 5"/>
          <p:cNvSpPr txBox="1"/>
          <p:nvPr/>
        </p:nvSpPr>
        <p:spPr>
          <a:xfrm>
            <a:off x="7132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 18,733 numbers a minimal dynamical model of our 4,571 genes would need</a:t>
            </a:r>
          </a:p>
        </p:txBody>
      </p:sp>
      <p:sp>
        <p:nvSpPr>
          <p:cNvPr id="7" name="TextBox 6"/>
          <p:cNvSpPr txBox="1"/>
          <p:nvPr/>
        </p:nvSpPr>
        <p:spPr>
          <a:xfrm>
            <a:off x="3913632" y="205740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84.4%</a:t>
            </a:r>
          </a:p>
        </p:txBody>
      </p:sp>
      <p:sp>
        <p:nvSpPr>
          <p:cNvPr id="8" name="TextBox 7"/>
          <p:cNvSpPr txBox="1"/>
          <p:nvPr/>
        </p:nvSpPr>
        <p:spPr>
          <a:xfrm>
            <a:off x="39136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 same genes carry a functional annotation (3,857 of 4,571)</a:t>
            </a:r>
          </a:p>
        </p:txBody>
      </p:sp>
      <p:sp>
        <p:nvSpPr>
          <p:cNvPr id="9" name="TextBox 8"/>
          <p:cNvSpPr txBox="1"/>
          <p:nvPr/>
        </p:nvSpPr>
        <p:spPr>
          <a:xfrm>
            <a:off x="7114032" y="205740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449</a:t>
            </a:r>
          </a:p>
        </p:txBody>
      </p:sp>
      <p:sp>
        <p:nvSpPr>
          <p:cNvPr id="10" name="TextBox 9"/>
          <p:cNvSpPr txBox="1"/>
          <p:nvPr/>
        </p:nvSpPr>
        <p:spPr>
          <a:xfrm>
            <a:off x="71140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10,444,735 gene pairs with any direct experimental support (0.00430%)</a:t>
            </a:r>
          </a:p>
        </p:txBody>
      </p:sp>
      <p:graphicFrame>
        <p:nvGraphicFramePr>
          <p:cNvPr id="11" name="Chart 10"/>
          <p:cNvGraphicFramePr>
            <a:graphicFrameLocks noGrp="1"/>
          </p:cNvGraphicFramePr>
          <p:nvPr/>
        </p:nvGraphicFramePr>
        <p:xfrm>
          <a:off x="713232" y="3840480"/>
          <a:ext cx="10490911" cy="1737360"/>
        </p:xfrm>
        <a:graphic>
          <a:graphicData uri="http://schemas.openxmlformats.org/drawingml/2006/chart">
            <c:chart xmlns:c="http://schemas.openxmlformats.org/drawingml/2006/chart" r:id="rId2"/>
          </a:graphicData>
        </a:graphic>
      </p:graphicFrame>
      <p:sp>
        <p:nvSpPr>
          <p:cNvPr id="12" name="TextBox 11"/>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not a complaint about missing data; it is a measurement nobody had made. Annotation says this gene is involved in this process. A simulation needs this many molecules, decaying this fast, binding this tightly — and the first does not constrain the second. Relaxed as far as honesty allows, accepting a relative abundance figure in place of an absolute one, it is 2,972 of 18,733 (15.9%), and every one of those is that same single substitute. For scale: the whole-cell model that predicts phenotype from genotype used 525 genes and over 900 primary sources, for a single cell with no anatomy and no development (Karr 2012, 10.1016/j.cell.2012.05.044).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Sustained powered flight is eliminated,</a:t>
            </a:r>
          </a:p>
          <a:p>
            <a:pPr algn="l">
              <a:lnSpc>
                <a:spcPct val="92000"/>
              </a:lnSpc>
            </a:pPr>
            <a:r>
              <a:rPr sz="4000" b="1">
                <a:solidFill>
                  <a:srgbClr val="14201F"/>
                </a:solidFill>
                <a:latin typeface="Segoe UI"/>
              </a:rPr>
              <a:t>with a certificate.</a:t>
            </a:r>
          </a:p>
        </p:txBody>
      </p:sp>
      <p:sp>
        <p:nvSpPr>
          <p:cNvPr id="5" name="TextBox 4"/>
          <p:cNvSpPr txBox="1"/>
          <p:nvPr/>
        </p:nvSpPr>
        <p:spPr>
          <a:xfrm>
            <a:off x="713232" y="210312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0.0357 W</a:t>
            </a:r>
          </a:p>
        </p:txBody>
      </p:sp>
      <p:sp>
        <p:nvSpPr>
          <p:cNvPr id="6" name="TextBox 5"/>
          <p:cNvSpPr txBox="1"/>
          <p:nvPr/>
        </p:nvSpPr>
        <p:spPr>
          <a:xfrm>
            <a:off x="7132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aerobic mechanical ceiling the oxygen budget can pay for</a:t>
            </a:r>
          </a:p>
        </p:txBody>
      </p:sp>
      <p:sp>
        <p:nvSpPr>
          <p:cNvPr id="7" name="TextBox 6"/>
          <p:cNvSpPr txBox="1"/>
          <p:nvPr/>
        </p:nvSpPr>
        <p:spPr>
          <a:xfrm>
            <a:off x="39136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1.347 W</a:t>
            </a:r>
          </a:p>
        </p:txBody>
      </p:sp>
      <p:sp>
        <p:nvSpPr>
          <p:cNvPr id="8" name="TextBox 7"/>
          <p:cNvSpPr txBox="1"/>
          <p:nvPr/>
        </p:nvSpPr>
        <p:spPr>
          <a:xfrm>
            <a:off x="39136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needed for level flight at 10 m/s at the measured L/D of 4.37</a:t>
            </a:r>
          </a:p>
        </p:txBody>
      </p:sp>
      <p:sp>
        <p:nvSpPr>
          <p:cNvPr id="9" name="TextBox 8"/>
          <p:cNvSpPr txBox="1"/>
          <p:nvPr/>
        </p:nvSpPr>
        <p:spPr>
          <a:xfrm>
            <a:off x="71140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38x</a:t>
            </a:r>
          </a:p>
        </p:txBody>
      </p:sp>
      <p:sp>
        <p:nvSpPr>
          <p:cNvPr id="10" name="TextBox 9"/>
          <p:cNvSpPr txBox="1"/>
          <p:nvPr/>
        </p:nvSpPr>
        <p:spPr>
          <a:xfrm>
            <a:off x="71140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short — and the gap is checked by the Lean kernel, not by us</a:t>
            </a:r>
          </a:p>
        </p:txBody>
      </p:sp>
      <p:sp>
        <p:nvSpPr>
          <p:cNvPr id="11" name="TextBox 10"/>
          <p:cNvSpPr txBox="1"/>
          <p:nvPr/>
        </p:nvSpPr>
        <p:spPr>
          <a:xfrm>
            <a:off x="713232" y="3931920"/>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measured specimen at the low end of the field speeds, 10 m/s</a:t>
            </a:r>
          </a:p>
        </p:txBody>
      </p:sp>
      <p:sp>
        <p:nvSpPr>
          <p:cNvPr id="12" name="TextBox 11"/>
          <p:cNvSpPr txBox="1"/>
          <p:nvPr/>
        </p:nvSpPr>
        <p:spPr>
          <a:xfrm>
            <a:off x="7637983" y="3931920"/>
            <a:ext cx="3840480" cy="274320"/>
          </a:xfrm>
          <a:prstGeom prst="rect">
            <a:avLst/>
          </a:prstGeom>
          <a:noFill/>
        </p:spPr>
        <p:txBody>
          <a:bodyPr wrap="square">
            <a:spAutoFit/>
          </a:bodyPr>
          <a:lstStyle/>
          <a:p>
            <a:pPr algn="r">
              <a:lnSpc>
                <a:spcPct val="100000"/>
              </a:lnSpc>
            </a:pPr>
            <a:r>
              <a:rPr sz="1100" b="1">
                <a:solidFill>
                  <a:srgbClr val="EB6834"/>
                </a:solidFill>
                <a:latin typeface="Segoe UI"/>
              </a:rPr>
              <a:t>1.347 W needed  ·  38x short</a:t>
            </a:r>
          </a:p>
        </p:txBody>
      </p:sp>
      <p:sp>
        <p:nvSpPr>
          <p:cNvPr id="13" name="TextBox 12"/>
          <p:cNvSpPr txBox="1"/>
          <p:nvPr/>
        </p:nvSpPr>
        <p:spPr>
          <a:xfrm>
            <a:off x="713232" y="4242816"/>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hypothetical flier, 7 m/s  [illustrative numbers]</a:t>
            </a:r>
          </a:p>
        </p:txBody>
      </p:sp>
      <p:sp>
        <p:nvSpPr>
          <p:cNvPr id="14" name="TextBox 13"/>
          <p:cNvSpPr txBox="1"/>
          <p:nvPr/>
        </p:nvSpPr>
        <p:spPr>
          <a:xfrm>
            <a:off x="7637983" y="4242816"/>
            <a:ext cx="3840480" cy="274320"/>
          </a:xfrm>
          <a:prstGeom prst="rect">
            <a:avLst/>
          </a:prstGeom>
          <a:noFill/>
        </p:spPr>
        <p:txBody>
          <a:bodyPr wrap="square">
            <a:spAutoFit/>
          </a:bodyPr>
          <a:lstStyle/>
          <a:p>
            <a:pPr algn="r">
              <a:lnSpc>
                <a:spcPct val="100000"/>
              </a:lnSpc>
            </a:pPr>
            <a:r>
              <a:rPr sz="1100" b="1">
                <a:solidFill>
                  <a:srgbClr val="EB6834"/>
                </a:solidFill>
                <a:latin typeface="Segoe UI"/>
              </a:rPr>
              <a:t>0.943 W needed  ·  26x short</a:t>
            </a:r>
          </a:p>
        </p:txBody>
      </p:sp>
      <p:sp>
        <p:nvSpPr>
          <p:cNvPr id="15" name="TextBox 14"/>
          <p:cNvSpPr txBox="1"/>
          <p:nvPr/>
        </p:nvSpPr>
        <p:spPr>
          <a:xfrm>
            <a:off x="713232" y="4553712"/>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measured specimen at its minimum flying speed, 9.85 m/s</a:t>
            </a:r>
          </a:p>
        </p:txBody>
      </p:sp>
      <p:sp>
        <p:nvSpPr>
          <p:cNvPr id="16" name="TextBox 15"/>
          <p:cNvSpPr txBox="1"/>
          <p:nvPr/>
        </p:nvSpPr>
        <p:spPr>
          <a:xfrm>
            <a:off x="7637983" y="4553712"/>
            <a:ext cx="3840480" cy="274320"/>
          </a:xfrm>
          <a:prstGeom prst="rect">
            <a:avLst/>
          </a:prstGeom>
          <a:noFill/>
        </p:spPr>
        <p:txBody>
          <a:bodyPr wrap="square">
            <a:spAutoFit/>
          </a:bodyPr>
          <a:lstStyle/>
          <a:p>
            <a:pPr algn="r">
              <a:lnSpc>
                <a:spcPct val="100000"/>
              </a:lnSpc>
            </a:pPr>
            <a:r>
              <a:rPr sz="1100" b="1">
                <a:solidFill>
                  <a:srgbClr val="EB6834"/>
                </a:solidFill>
                <a:latin typeface="Segoe UI"/>
              </a:rPr>
              <a:t>1.327 W needed  ·  37x short</a:t>
            </a:r>
          </a:p>
        </p:txBody>
      </p:sp>
      <p:sp>
        <p:nvSpPr>
          <p:cNvPr id="17" name="Rounded Rectangle 16"/>
          <p:cNvSpPr/>
          <p:nvPr/>
        </p:nvSpPr>
        <p:spPr>
          <a:xfrm>
            <a:off x="713232" y="507492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a:solidFill>
                  <a:srgbClr val="14201F"/>
                </a:solidFill>
                <a:latin typeface="Segoe UI"/>
              </a:rPr>
              <a:t>WHAT A FISH THAT REALLY FLEW WOULD NEED, AND NO ANIMAL HAS: a flight muscle that does not fit in the animal. At 16% of a 60 g body and ordinary muscle density that is 9.06e-6 m³ of muscle, and only 29.5% of it fits inside the body at the pectoral girdle — a geometric consequence of the specification, not an opinion. Beside it: a cardiac output of 2,365 ml/min/kg, 36x the sourced fish maximum. Building the design as real geometry was itself a test, and it caught something three rounds of equations did not. The flier is hypothetical throughout and now carries a requirement nothing can satisfy; it is not a validated design.</a:t>
            </a:r>
          </a:p>
        </p:txBody>
      </p:sp>
      <p:sp>
        <p:nvSpPr>
          <p:cNvPr id="18" name="TextBox 17"/>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What it rests on: Fick's principle, aerobic power rather than burst power, and teleost proxy values for cardiac output, arterial oxygen and efficiency — no flying-fish physiology exists, so the proxies are what the elimination rests on. What it does NOT bound: gliding (a flying fish is a glider), and short burst flight. 3 of 3 candidates eliminated, each by a theorem the compiler accepted; on the same candidates 41 other constraints could not be fired at all for want of an input. This is a proof about a model instantiated with proxy numbers and it carries that scope — it is not a fact about a fish.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One glide cannot explain the long flights.</a:t>
            </a:r>
          </a:p>
        </p:txBody>
      </p:sp>
      <p:graphicFrame>
        <p:nvGraphicFramePr>
          <p:cNvPr id="5" name="Chart 4"/>
          <p:cNvGraphicFramePr>
            <a:graphicFrameLocks noGrp="1"/>
          </p:cNvGraphicFramePr>
          <p:nvPr/>
        </p:nvGraphicFramePr>
        <p:xfrm>
          <a:off x="713232" y="2103120"/>
          <a:ext cx="10490911" cy="283464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steady glide can only trade height for distance, so its range is at most height times lift-to-drag. At the measured ratio that is 35 m from the greatest recorded flight height, or 40.7 m once the measured ground effect is allowed — and the field reports 50 m. So the single-glide reading is eliminated, and taxiing re-launches or wind must account for the rest. The field figures are quoted second-hand and labelled secondary; the 400 m one is already described by its own source as a sequence of taxiing and glides, not one glide. Our simulator reproduces that shape: 6 glides and 288 m in 23.4 s, from a model changed after seeing results, so that run is exploratory and labelled so.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Four sequence results. Three of them say no.</a:t>
            </a:r>
          </a:p>
        </p:txBody>
      </p:sp>
      <p:sp>
        <p:nvSpPr>
          <p:cNvPr id="5" name="TextBox 4"/>
          <p:cNvSpPr txBox="1"/>
          <p:nvPr/>
        </p:nvSpPr>
        <p:spPr>
          <a:xfrm>
            <a:off x="713232" y="2011680"/>
            <a:ext cx="7564831" cy="310896"/>
          </a:xfrm>
          <a:prstGeom prst="rect">
            <a:avLst/>
          </a:prstGeom>
          <a:noFill/>
        </p:spPr>
        <p:txBody>
          <a:bodyPr wrap="square">
            <a:spAutoFit/>
          </a:bodyPr>
          <a:lstStyle/>
          <a:p>
            <a:pPr algn="l">
              <a:lnSpc>
                <a:spcPct val="100000"/>
              </a:lnSpc>
            </a:pPr>
            <a:r>
              <a:rPr sz="1400" b="1">
                <a:solidFill>
                  <a:srgbClr val="14201F"/>
                </a:solidFill>
                <a:latin typeface="Segoe UI"/>
              </a:rPr>
              <a:t>Gliders do not converge</a:t>
            </a:r>
          </a:p>
        </p:txBody>
      </p:sp>
      <p:sp>
        <p:nvSpPr>
          <p:cNvPr id="6" name="TextBox 5"/>
          <p:cNvSpPr txBox="1"/>
          <p:nvPr/>
        </p:nvSpPr>
        <p:spPr>
          <a:xfrm>
            <a:off x="8552383" y="2011680"/>
            <a:ext cx="2926080" cy="310896"/>
          </a:xfrm>
          <a:prstGeom prst="rect">
            <a:avLst/>
          </a:prstGeom>
          <a:noFill/>
        </p:spPr>
        <p:txBody>
          <a:bodyPr wrap="square">
            <a:spAutoFit/>
          </a:bodyPr>
          <a:lstStyle/>
          <a:p>
            <a:pPr algn="r">
              <a:lnSpc>
                <a:spcPct val="100000"/>
              </a:lnSpc>
            </a:pPr>
            <a:r>
              <a:rPr sz="1400" b="1">
                <a:solidFill>
                  <a:srgbClr val="EB6834"/>
                </a:solidFill>
                <a:latin typeface="Segoe UI"/>
              </a:rPr>
              <a:t>11 vs 17</a:t>
            </a:r>
          </a:p>
        </p:txBody>
      </p:sp>
      <p:sp>
        <p:nvSpPr>
          <p:cNvPr id="7" name="TextBox 6"/>
          <p:cNvSpPr txBox="1"/>
          <p:nvPr/>
        </p:nvSpPr>
        <p:spPr>
          <a:xfrm>
            <a:off x="713232" y="2286000"/>
            <a:ext cx="10399471" cy="713232"/>
          </a:xfrm>
          <a:prstGeom prst="rect">
            <a:avLst/>
          </a:prstGeom>
          <a:noFill/>
        </p:spPr>
        <p:txBody>
          <a:bodyPr wrap="square">
            <a:spAutoFit/>
          </a:bodyPr>
          <a:lstStyle/>
          <a:p>
            <a:pPr algn="l">
              <a:lnSpc>
                <a:spcPct val="112000"/>
              </a:lnSpc>
            </a:pPr>
            <a:r>
              <a:rPr sz="1000" b="0">
                <a:solidFill>
                  <a:srgbClr val="5A6B69"/>
                </a:solidFill>
                <a:latin typeface="Segoe UI"/>
              </a:rPr>
              <a:t>Across 9 fin genes, 11 alignment columns show a residue shared by independent gliders and absent from each lineage's non-gliding relative — against 17 for the same count with the roles swapped. Similarity follows ancestry, not gliding. The genes were picked from fin biology, so this says nothing about the rest of the genome.</a:t>
            </a:r>
          </a:p>
        </p:txBody>
      </p:sp>
      <p:sp>
        <p:nvSpPr>
          <p:cNvPr id="8" name="TextBox 7"/>
          <p:cNvSpPr txBox="1"/>
          <p:nvPr/>
        </p:nvSpPr>
        <p:spPr>
          <a:xfrm>
            <a:off x="713232" y="2962656"/>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lat4a substitution tracks gliding inside the fishes only</a:t>
            </a:r>
          </a:p>
        </p:txBody>
      </p:sp>
      <p:sp>
        <p:nvSpPr>
          <p:cNvPr id="9" name="TextBox 8"/>
          <p:cNvSpPr txBox="1"/>
          <p:nvPr/>
        </p:nvSpPr>
        <p:spPr>
          <a:xfrm>
            <a:off x="8552383" y="2962656"/>
            <a:ext cx="2926080" cy="310896"/>
          </a:xfrm>
          <a:prstGeom prst="rect">
            <a:avLst/>
          </a:prstGeom>
          <a:noFill/>
        </p:spPr>
        <p:txBody>
          <a:bodyPr wrap="square">
            <a:spAutoFit/>
          </a:bodyPr>
          <a:lstStyle/>
          <a:p>
            <a:pPr algn="r">
              <a:lnSpc>
                <a:spcPct val="100000"/>
              </a:lnSpc>
            </a:pPr>
            <a:r>
              <a:rPr sz="1400" b="1">
                <a:solidFill>
                  <a:srgbClr val="1BAF7A"/>
                </a:solidFill>
                <a:latin typeface="Segoe UI"/>
              </a:rPr>
              <a:t>8/9  ·  23/24</a:t>
            </a:r>
          </a:p>
        </p:txBody>
      </p:sp>
      <p:sp>
        <p:nvSpPr>
          <p:cNvPr id="10" name="TextBox 9"/>
          <p:cNvSpPr txBox="1"/>
          <p:nvPr/>
        </p:nvSpPr>
        <p:spPr>
          <a:xfrm>
            <a:off x="713232" y="3236976"/>
            <a:ext cx="10399471" cy="713232"/>
          </a:xfrm>
          <a:prstGeom prst="rect">
            <a:avLst/>
          </a:prstGeom>
          <a:noFill/>
        </p:spPr>
        <p:txBody>
          <a:bodyPr wrap="square">
            <a:spAutoFit/>
          </a:bodyPr>
          <a:lstStyle/>
          <a:p>
            <a:pPr algn="l">
              <a:lnSpc>
                <a:spcPct val="112000"/>
              </a:lnSpc>
            </a:pPr>
            <a:r>
              <a:rPr sz="1000" b="0">
                <a:solidFill>
                  <a:srgbClr val="5A6B69"/>
                </a:solidFill>
                <a:latin typeface="Segoe UI"/>
              </a:rPr>
              <a:t>L in 8 of 9 flying fishes and in both gliding halfbeaks, against 23 of 24 non-gliding relatives carrying F. But all three bats, both colugos, the sugar glider, mouse, human and every outgroup scored carry F too, so this is not convergence with gliding mammals. Tracking is not causing.</a:t>
            </a:r>
          </a:p>
        </p:txBody>
      </p:sp>
      <p:sp>
        <p:nvSpPr>
          <p:cNvPr id="11" name="TextBox 10"/>
          <p:cNvSpPr txBox="1"/>
          <p:nvPr/>
        </p:nvSpPr>
        <p:spPr>
          <a:xfrm>
            <a:off x="713232" y="3913632"/>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derived-site panel is not a dose-response</a:t>
            </a:r>
          </a:p>
        </p:txBody>
      </p:sp>
      <p:sp>
        <p:nvSpPr>
          <p:cNvPr id="12" name="TextBox 11"/>
          <p:cNvSpPr txBox="1"/>
          <p:nvPr/>
        </p:nvSpPr>
        <p:spPr>
          <a:xfrm>
            <a:off x="8552383" y="3913632"/>
            <a:ext cx="2926080" cy="310896"/>
          </a:xfrm>
          <a:prstGeom prst="rect">
            <a:avLst/>
          </a:prstGeom>
          <a:noFill/>
        </p:spPr>
        <p:txBody>
          <a:bodyPr wrap="square">
            <a:spAutoFit/>
          </a:bodyPr>
          <a:lstStyle/>
          <a:p>
            <a:pPr algn="r">
              <a:lnSpc>
                <a:spcPct val="100000"/>
              </a:lnSpc>
            </a:pPr>
            <a:r>
              <a:rPr sz="1400" b="1">
                <a:solidFill>
                  <a:srgbClr val="EB6834"/>
                </a:solidFill>
                <a:latin typeface="Segoe UI"/>
              </a:rPr>
              <a:t>24 at 0.274  ·  21.4 at 0.687</a:t>
            </a:r>
          </a:p>
        </p:txBody>
      </p:sp>
      <p:sp>
        <p:nvSpPr>
          <p:cNvPr id="13" name="TextBox 12"/>
          <p:cNvSpPr txBox="1"/>
          <p:nvPr/>
        </p:nvSpPr>
        <p:spPr>
          <a:xfrm>
            <a:off x="713232" y="4187952"/>
            <a:ext cx="10399471" cy="713232"/>
          </a:xfrm>
          <a:prstGeom prst="rect">
            <a:avLst/>
          </a:prstGeom>
          <a:noFill/>
        </p:spPr>
        <p:txBody>
          <a:bodyPr wrap="square">
            <a:spAutoFit/>
          </a:bodyPr>
          <a:lstStyle/>
          <a:p>
            <a:pPr algn="l">
              <a:lnSpc>
                <a:spcPct val="112000"/>
              </a:lnSpc>
            </a:pPr>
            <a:r>
              <a:rPr sz="1000" b="0">
                <a:solidFill>
                  <a:srgbClr val="5A6B69"/>
                </a:solidFill>
                <a:latin typeface="Segoe UI"/>
              </a:rPr>
              <a:t>Gliding halfbeaks carry a mean 24 of 38 derived states at a fin-to-body ratio of 0.274; flying fishes carry 21.4 at 0.687. The group with the far smaller fin carries slightly more derived residues. The non-gliders' zero is circular by construction and is not shown as a finding; four groups is a ladder to read, not a statistical test.</a:t>
            </a:r>
          </a:p>
        </p:txBody>
      </p:sp>
      <p:sp>
        <p:nvSpPr>
          <p:cNvPr id="14" name="TextBox 13"/>
          <p:cNvSpPr txBox="1"/>
          <p:nvPr/>
        </p:nvSpPr>
        <p:spPr>
          <a:xfrm>
            <a:off x="713232" y="4864608"/>
            <a:ext cx="7564831" cy="310896"/>
          </a:xfrm>
          <a:prstGeom prst="rect">
            <a:avLst/>
          </a:prstGeom>
          <a:noFill/>
        </p:spPr>
        <p:txBody>
          <a:bodyPr wrap="square">
            <a:spAutoFit/>
          </a:bodyPr>
          <a:lstStyle/>
          <a:p>
            <a:pPr algn="l">
              <a:lnSpc>
                <a:spcPct val="100000"/>
              </a:lnSpc>
            </a:pPr>
            <a:r>
              <a:rPr sz="1400" b="1">
                <a:solidFill>
                  <a:srgbClr val="14201F"/>
                </a:solidFill>
                <a:latin typeface="Segoe UI"/>
              </a:rPr>
              <a:t>An "engineered" genome is a handful of edits</a:t>
            </a:r>
          </a:p>
        </p:txBody>
      </p:sp>
      <p:sp>
        <p:nvSpPr>
          <p:cNvPr id="15" name="TextBox 14"/>
          <p:cNvSpPr txBox="1"/>
          <p:nvPr/>
        </p:nvSpPr>
        <p:spPr>
          <a:xfrm>
            <a:off x="8552383" y="4864608"/>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vs 7,300</a:t>
            </a:r>
          </a:p>
        </p:txBody>
      </p:sp>
      <p:sp>
        <p:nvSpPr>
          <p:cNvPr id="16" name="TextBox 15"/>
          <p:cNvSpPr txBox="1"/>
          <p:nvPr/>
        </p:nvSpPr>
        <p:spPr>
          <a:xfrm>
            <a:off x="713232" y="5138928"/>
            <a:ext cx="10399471" cy="713232"/>
          </a:xfrm>
          <a:prstGeom prst="rect">
            <a:avLst/>
          </a:prstGeom>
          <a:noFill/>
        </p:spPr>
        <p:txBody>
          <a:bodyPr wrap="square">
            <a:spAutoFit/>
          </a:bodyPr>
          <a:lstStyle/>
          <a:p>
            <a:pPr algn="l">
              <a:lnSpc>
                <a:spcPct val="112000"/>
              </a:lnSpc>
            </a:pPr>
            <a:r>
              <a:rPr sz="1000" b="0">
                <a:solidFill>
                  <a:srgbClr val="5A6B69"/>
                </a:solidFill>
                <a:latin typeface="Segoe UI"/>
              </a:rPr>
              <a:t>2 edited loci change 1 amino acid; the other edit is regulatory and changes none. In just 37 of our causal-chain proteins, zebrafish and medaka differ by 7,300 amino-acid substitutions (16,054 positions counting indels). Coding only, in a tiny gene sample.</a:t>
            </a:r>
          </a:p>
        </p:txBody>
      </p:sp>
      <p:sp>
        <p:nvSpPr>
          <p:cNvPr id="17" name="TextBox 1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All four are about fin enlargement for gliding, the trait Daane et al. 2021 measured (10.1016/j.cub.2021.08.054); the fin ratios, the convergent-substitution panel and the captured exons are theirs. Three of these close a door we would have liked open, and the one that holds, holds only inside the Beloniformes. No bird sequence, assembly or annotation was fetched: Aves is this project's frozen holdout.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357 named pieces. 23 measured numbers behind them.</a:t>
            </a:r>
          </a:p>
        </p:txBody>
      </p:sp>
      <p:graphicFrame>
        <p:nvGraphicFramePr>
          <p:cNvPr id="5" name="Chart 4"/>
          <p:cNvGraphicFramePr>
            <a:graphicFrameLocks noGrp="1"/>
          </p:cNvGraphicFramePr>
          <p:nvPr/>
        </p:nvGraphicFramePr>
        <p:xfrm>
          <a:off x="713232" y="2011680"/>
          <a:ext cx="10490911" cy="2103120"/>
        </p:xfrm>
        <a:graphic>
          <a:graphicData uri="http://schemas.openxmlformats.org/drawingml/2006/chart">
            <c:chart xmlns:c="http://schemas.openxmlformats.org/drawingml/2006/chart" r:id="rId2"/>
          </a:graphicData>
        </a:graphic>
      </p:graphicFrame>
      <p:sp>
        <p:nvSpPr>
          <p:cNvPr id="6" name="Rounded Rectangle 5"/>
          <p:cNvSpPr/>
          <p:nvPr/>
        </p:nvSpPr>
        <p:spPr>
          <a:xfrm>
            <a:off x="713232" y="4297680"/>
            <a:ext cx="10765231" cy="9144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a:solidFill>
                  <a:srgbClr val="14201F"/>
                </a:solidFill>
                <a:latin typeface="Segoe UI"/>
              </a:rPr>
              <a:t>Evidence-backed: the flying fish rests on exactly ONE measured proportion — pectoral fin length at 0.687 of standard length, the median of 49 museum specimens, read from the measurement file rather than typed in (preserved museum specimens; length only (no fin area, shape or spread)). The two zebrafish models carry 22 sourced proportions and counts between them.   Schematic, and labelled so per piece: everything else, including every count.   Where the ontology ran out: 60 of the flying fish's pieces have no ontology term at all; the manifest records a null and the nearest ancestor it could find, instead of inventing one.</a:t>
            </a:r>
          </a:p>
        </p:txBody>
      </p:sp>
      <p:sp>
        <p:nvSpPr>
          <p:cNvPr id="7" name="TextBox 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one novelty claim we make, worded as narrowly as the search supports: we did not find prior use of a proof assistant on an ontology-derived anatomy hierarchy. Ten logged searches turned up no Lean, Coq or Isabelle proofs about a hierarchy built from Uberon and the Cell Ontology. That is "not found", not "does not exist", and it is not a claim to a first. Built on Uberon (10.1186/gb-2012-13-1-r5), the Cell Ontology (10.1186/2041-1480-5-21) via Ubergraph, Phenoscape (10.1093/molbev/msv223, 10.1093/sysbio/syv031) and Daane 2021 (10.1016/j.cub.2021.08.054). The anatomy terms are theirs; only the hierarchy check is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9AA6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ANTICIPATED — NO DATA YET</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9AA6A3"/>
                </a:solidFill>
                <a:latin typeface="Segoe UI"/>
              </a:rPr>
              <a:t>Where this goes next.</a:t>
            </a:r>
          </a:p>
        </p:txBody>
      </p:sp>
      <p:sp>
        <p:nvSpPr>
          <p:cNvPr id="5" name="TextBox 4"/>
          <p:cNvSpPr txBox="1"/>
          <p:nvPr/>
        </p:nvSpPr>
        <p:spPr>
          <a:xfrm>
            <a:off x="713232" y="1920240"/>
            <a:ext cx="8229600" cy="457200"/>
          </a:xfrm>
          <a:prstGeom prst="rect">
            <a:avLst/>
          </a:prstGeom>
          <a:noFill/>
        </p:spPr>
        <p:txBody>
          <a:bodyPr wrap="square">
            <a:spAutoFit/>
          </a:bodyPr>
          <a:lstStyle/>
          <a:p>
            <a:pPr algn="l">
              <a:lnSpc>
                <a:spcPct val="100000"/>
              </a:lnSpc>
            </a:pPr>
            <a:r>
              <a:rPr sz="1500" b="0">
                <a:solidFill>
                  <a:srgbClr val="5A6B69"/>
                </a:solidFill>
                <a:latin typeface="Segoe UI"/>
              </a:rPr>
              <a:t>The same question at the scale of a whole organism: which genes drive fin enlargement for gliding, and by how much?</a:t>
            </a:r>
          </a:p>
        </p:txBody>
      </p:sp>
      <p:sp>
        <p:nvSpPr>
          <p:cNvPr id="6" name="Rounded Rectangle 5"/>
          <p:cNvSpPr/>
          <p:nvPr/>
        </p:nvSpPr>
        <p:spPr>
          <a:xfrm>
            <a:off x="713232"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Printed flying-fish pectoral fin</a:t>
            </a:r>
          </a:p>
          <a:p>
            <a:pPr algn="ctr"/>
            <a:r>
              <a:rPr sz="1000">
                <a:solidFill>
                  <a:srgbClr val="9AA6A3"/>
                </a:solidFill>
              </a:rPr>
              <a:t>no specimen, no scan, no print exists</a:t>
            </a:r>
          </a:p>
        </p:txBody>
      </p:sp>
      <p:sp>
        <p:nvSpPr>
          <p:cNvPr id="7" name="Rounded Rectangle 6"/>
          <p:cNvSpPr/>
          <p:nvPr/>
        </p:nvSpPr>
        <p:spPr>
          <a:xfrm>
            <a:off x="4297680"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Fruit-fly wing, scaled to match</a:t>
            </a:r>
          </a:p>
          <a:p>
            <a:pPr algn="ctr"/>
            <a:r>
              <a:rPr sz="1000">
                <a:solidFill>
                  <a:srgbClr val="9AA6A3"/>
                </a:solidFill>
              </a:rPr>
              <a:t>no matched control exists</a:t>
            </a:r>
          </a:p>
        </p:txBody>
      </p:sp>
      <p:sp>
        <p:nvSpPr>
          <p:cNvPr id="8" name="Rounded Rectangle 7"/>
          <p:cNvSpPr/>
          <p:nvPr/>
        </p:nvSpPr>
        <p:spPr>
          <a:xfrm>
            <a:off x="7882128"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Which genes move which feature</a:t>
            </a:r>
          </a:p>
          <a:p>
            <a:pPr algn="ctr"/>
            <a:r>
              <a:rPr sz="1000">
                <a:solidFill>
                  <a:srgbClr val="9AA6A3"/>
                </a:solidFill>
              </a:rPr>
              <a:t>no measurement, no model</a:t>
            </a:r>
          </a:p>
        </p:txBody>
      </p:sp>
      <p:sp>
        <p:nvSpPr>
          <p:cNvPr id="9" name="TextBox 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slide stays grey until there is something real behind it. An insect wing and a fish fin solve the same problem with unrelated parts, which makes the comparison worth running — and makes a pretty rendering easy to mistake for a result.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The honest state of the ladder.</a:t>
            </a:r>
          </a:p>
        </p:txBody>
      </p:sp>
      <p:sp>
        <p:nvSpPr>
          <p:cNvPr id="5" name="Rounded Rectangle 4"/>
          <p:cNvSpPr/>
          <p:nvPr/>
        </p:nvSpPr>
        <p:spPr>
          <a:xfrm>
            <a:off x="713232" y="2468880"/>
            <a:ext cx="2103120" cy="91440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0E7C86"/>
                </a:solidFill>
              </a:rPr>
              <a:t>evidenced</a:t>
            </a:r>
          </a:p>
          <a:p>
            <a:r>
              <a:rPr sz="1300">
                <a:solidFill>
                  <a:srgbClr val="14201F"/>
                </a:solidFill>
              </a:rPr>
              <a:t>molecule</a:t>
            </a:r>
          </a:p>
        </p:txBody>
      </p:sp>
      <p:sp>
        <p:nvSpPr>
          <p:cNvPr id="6" name="Rounded Rectangle 5"/>
          <p:cNvSpPr/>
          <p:nvPr/>
        </p:nvSpPr>
        <p:spPr>
          <a:xfrm>
            <a:off x="2962656"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tissue</a:t>
            </a:r>
          </a:p>
        </p:txBody>
      </p:sp>
      <p:sp>
        <p:nvSpPr>
          <p:cNvPr id="7" name="Rounded Rectangle 6"/>
          <p:cNvSpPr/>
          <p:nvPr/>
        </p:nvSpPr>
        <p:spPr>
          <a:xfrm>
            <a:off x="5212080"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organ</a:t>
            </a:r>
          </a:p>
        </p:txBody>
      </p:sp>
      <p:sp>
        <p:nvSpPr>
          <p:cNvPr id="8" name="Rounded Rectangle 7"/>
          <p:cNvSpPr/>
          <p:nvPr/>
        </p:nvSpPr>
        <p:spPr>
          <a:xfrm>
            <a:off x="7461504"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whole organism</a:t>
            </a:r>
          </a:p>
        </p:txBody>
      </p:sp>
      <p:sp>
        <p:nvSpPr>
          <p:cNvPr id="9" name="Rounded Rectangle 8"/>
          <p:cNvSpPr/>
          <p:nvPr/>
        </p:nvSpPr>
        <p:spPr>
          <a:xfrm>
            <a:off x="9710928" y="2468880"/>
            <a:ext cx="2103120" cy="91440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0E7C86"/>
                </a:solidFill>
              </a:rPr>
              <a:t>evidenced</a:t>
            </a:r>
          </a:p>
          <a:p>
            <a:r>
              <a:rPr sz="1300">
                <a:solidFill>
                  <a:srgbClr val="14201F"/>
                </a:solidFill>
              </a:rPr>
              <a:t>population</a:t>
            </a:r>
          </a:p>
        </p:txBody>
      </p:sp>
      <p:sp>
        <p:nvSpPr>
          <p:cNvPr id="10" name="TextBox 9"/>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We can go from a sequence to a measured growth rate, and from a claim to a population-level test. The middle of the ladder is where the data thins out, and we are not going to pretend otherwise: the species with a complete record at every scale is a short list, and we publish its length rather than loosening the definition.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Every finding, made citable.</a:t>
            </a:r>
          </a:p>
        </p:txBody>
      </p:sp>
      <p:graphicFrame>
        <p:nvGraphicFramePr>
          <p:cNvPr id="5" name="Chart 4"/>
          <p:cNvGraphicFramePr>
            <a:graphicFrameLocks noGrp="1"/>
          </p:cNvGraphicFramePr>
          <p:nvPr/>
        </p:nvGraphicFramePr>
        <p:xfrm>
          <a:off x="713232" y="1965960"/>
          <a:ext cx="10490911" cy="2286000"/>
        </p:xfrm>
        <a:graphic>
          <a:graphicData uri="http://schemas.openxmlformats.org/drawingml/2006/chart">
            <c:chart xmlns:c="http://schemas.openxmlformats.org/drawingml/2006/chart" r:id="rId2"/>
          </a:graphicData>
        </a:graphic>
      </p:graphicFrame>
      <p:sp>
        <p:nvSpPr>
          <p:cNvPr id="6" name="TextBox 5"/>
          <p:cNvSpPr txBox="1"/>
          <p:nvPr/>
        </p:nvSpPr>
        <p:spPr>
          <a:xfrm>
            <a:off x="713232" y="4389120"/>
            <a:ext cx="5120640" cy="822960"/>
          </a:xfrm>
          <a:prstGeom prst="rect">
            <a:avLst/>
          </a:prstGeom>
          <a:noFill/>
        </p:spPr>
        <p:txBody>
          <a:bodyPr wrap="square">
            <a:spAutoFit/>
          </a:bodyPr>
          <a:lstStyle/>
          <a:p>
            <a:pPr algn="l">
              <a:lnSpc>
                <a:spcPct val="100000"/>
              </a:lnSpc>
            </a:pPr>
            <a:r>
              <a:rPr sz="2600" b="1">
                <a:solidFill>
                  <a:srgbClr val="1BAF7A"/>
                </a:solidFill>
                <a:latin typeface="Segoe UI"/>
              </a:rPr>
              <a:t>158 records drafted and validated</a:t>
            </a:r>
          </a:p>
        </p:txBody>
      </p:sp>
      <p:sp>
        <p:nvSpPr>
          <p:cNvPr id="7" name="TextBox 6"/>
          <p:cNvSpPr txBox="1"/>
          <p:nvPr/>
        </p:nvSpPr>
        <p:spPr>
          <a:xfrm>
            <a:off x="6199632" y="4389120"/>
            <a:ext cx="5120640" cy="822960"/>
          </a:xfrm>
          <a:prstGeom prst="rect">
            <a:avLst/>
          </a:prstGeom>
          <a:noFill/>
        </p:spPr>
        <p:txBody>
          <a:bodyPr wrap="square">
            <a:spAutoFit/>
          </a:bodyPr>
          <a:lstStyle/>
          <a:p>
            <a:pPr algn="l">
              <a:lnSpc>
                <a:spcPct val="100000"/>
              </a:lnSpc>
            </a:pPr>
            <a:r>
              <a:rPr sz="2600" b="1">
                <a:solidFill>
                  <a:srgbClr val="9AA6A3"/>
                </a:solidFill>
                <a:latin typeface="Segoe UI"/>
              </a:rPr>
              <a:t>0 signed — publishing is irreversible</a:t>
            </a:r>
          </a:p>
        </p:txBody>
      </p:sp>
      <p:sp>
        <p:nvSpPr>
          <p:cNvPr id="8" name="TextBox 7"/>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Each record carries the claim in one sentence, its status including refuted and inconclusive, the dataset with its identifier, the commit proving the test predated the data, and what it does not establish. Refutations are published too; publishing only successes builds a victory log. While drafting we found the published templates use a retired vocabulary, so declaring one would have asserted something false about how every record was made — dropped, measured across five templates, and reported upstream.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we are not claiming.</a:t>
            </a:r>
          </a:p>
        </p:txBody>
      </p:sp>
      <p:sp>
        <p:nvSpPr>
          <p:cNvPr id="5" name="TextBox 4"/>
          <p:cNvSpPr txBox="1"/>
          <p:nvPr/>
        </p:nvSpPr>
        <p:spPr>
          <a:xfrm>
            <a:off x="713232" y="2148840"/>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No wet lab. Nothing here was measured at a bench by us; no new organism, protein or variant was made.</a:t>
            </a:r>
          </a:p>
        </p:txBody>
      </p:sp>
      <p:sp>
        <p:nvSpPr>
          <p:cNvPr id="6" name="TextBox 5"/>
          <p:cNvSpPr txBox="1"/>
          <p:nvPr/>
        </p:nvSpPr>
        <p:spPr>
          <a:xfrm>
            <a:off x="713232" y="2898648"/>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No proof about biology. The machine checked the reasoning from measurements to a safe route. That the measurements bracket the truth is assumed, and two replicates cannot justify it across 159,129 variants.</a:t>
            </a:r>
          </a:p>
        </p:txBody>
      </p:sp>
      <p:sp>
        <p:nvSpPr>
          <p:cNvPr id="7" name="TextBox 6"/>
          <p:cNvSpPr txBox="1"/>
          <p:nvPr/>
        </p:nvSpPr>
        <p:spPr>
          <a:xfrm>
            <a:off x="713232" y="3648456"/>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"Blocked" is not "impossible." It means unreachable in the measured four-position graph, never in biology.</a:t>
            </a:r>
          </a:p>
        </p:txBody>
      </p:sp>
      <p:sp>
        <p:nvSpPr>
          <p:cNvPr id="8" name="TextBox 7"/>
          <p:cNvSpPr txBox="1"/>
          <p:nvPr/>
        </p:nvSpPr>
        <p:spPr>
          <a:xfrm>
            <a:off x="713232" y="4398264"/>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The publications are unsigned drafts. Valid, unpublished, and described as drafts.</a:t>
            </a:r>
          </a:p>
        </p:txBody>
      </p:sp>
      <p:sp>
        <p:nvSpPr>
          <p:cNvPr id="9" name="TextBox 8"/>
          <p:cNvSpPr txBox="1"/>
          <p:nvPr/>
        </p:nvSpPr>
        <p:spPr>
          <a:xfrm>
            <a:off x="713232" y="5148072"/>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4 of 5 outside numbers reproduced exactly; the one we could not check, we said so rather than fill in.</a:t>
            </a:r>
          </a:p>
        </p:txBody>
      </p:sp>
      <p:sp>
        <p:nvSpPr>
          <p:cNvPr id="10" name="TextBox 9"/>
          <p:cNvSpPr txBox="1"/>
          <p:nvPr/>
        </p:nvSpPr>
        <p:spPr>
          <a:xfrm>
            <a:off x="713232" y="5897880"/>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4 of our own claims were corrected in one day — 3 found by our own checks, 1 by a collaborator's independent cross-check. Each was withdrawn or narrowed in public, as a record or a log entry, never as a silent edit.</a:t>
            </a:r>
          </a:p>
        </p:txBody>
      </p:sp>
      <p:sp>
        <p:nvSpPr>
          <p:cNvPr id="11" name="TextBox 10"/>
          <p:cNvSpPr txBox="1"/>
          <p:nvPr/>
        </p:nvSpPr>
        <p:spPr>
          <a:xfrm>
            <a:off x="713232" y="6647688"/>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We did not design an organism. The "designed" fish is Daane et al. 2021's published double heterozygote, and our pre-registered test of it came back unsupported. The apparatus is ours; the animal is not.</a:t>
            </a:r>
          </a:p>
        </p:txBody>
      </p:sp>
      <p:sp>
        <p:nvSpPr>
          <p:cNvPr id="12" name="TextBox 11"/>
          <p:cNvSpPr txBox="1"/>
          <p:nvPr/>
        </p:nvSpPr>
        <p:spPr>
          <a:xfrm>
            <a:off x="713232" y="7397496"/>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Validation on unseen data ran, and returned nothing. A clade was frozen as a holdout before the tests were built; 3 completed results were examined against it and 3 came back inconclusive. The 2 that state a reason were stopped by the builders' own pre-registered minimum sample size, not by a verdict we disliked. An exam that cannot reach a verdict is reported as one that cannot.</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Every one of these is on the public dashboard too, next to the result it limits.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we want.</a:t>
            </a:r>
          </a:p>
        </p:txBody>
      </p:sp>
      <p:sp>
        <p:nvSpPr>
          <p:cNvPr id="5" name="TextBox 4"/>
          <p:cNvSpPr txBox="1"/>
          <p:nvPr/>
        </p:nvSpPr>
        <p:spPr>
          <a:xfrm>
            <a:off x="713232" y="2194560"/>
            <a:ext cx="10765231" cy="365760"/>
          </a:xfrm>
          <a:prstGeom prst="rect">
            <a:avLst/>
          </a:prstGeom>
          <a:noFill/>
        </p:spPr>
        <p:txBody>
          <a:bodyPr wrap="square">
            <a:spAutoFit/>
          </a:bodyPr>
          <a:lstStyle/>
          <a:p>
            <a:pPr algn="l">
              <a:lnSpc>
                <a:spcPct val="100000"/>
              </a:lnSpc>
            </a:pPr>
            <a:r>
              <a:rPr sz="1700" b="1">
                <a:solidFill>
                  <a:srgbClr val="14201F"/>
                </a:solidFill>
                <a:latin typeface="Segoe UI"/>
              </a:rPr>
              <a:t>One historical campaign from one lab.</a:t>
            </a:r>
          </a:p>
        </p:txBody>
      </p:sp>
      <p:sp>
        <p:nvSpPr>
          <p:cNvPr id="6" name="TextBox 5"/>
          <p:cNvSpPr txBox="1"/>
          <p:nvPr/>
        </p:nvSpPr>
        <p:spPr>
          <a:xfrm>
            <a:off x="713232" y="2542032"/>
            <a:ext cx="9850831" cy="640080"/>
          </a:xfrm>
          <a:prstGeom prst="rect">
            <a:avLst/>
          </a:prstGeom>
          <a:noFill/>
        </p:spPr>
        <p:txBody>
          <a:bodyPr wrap="square">
            <a:spAutoFit/>
          </a:bodyPr>
          <a:lstStyle/>
          <a:p>
            <a:pPr algn="l">
              <a:lnSpc>
                <a:spcPct val="112000"/>
              </a:lnSpc>
            </a:pPr>
            <a:r>
              <a:rPr sz="1200" b="0">
                <a:solidFill>
                  <a:srgbClr val="5A6B69"/>
                </a:solidFill>
                <a:latin typeface="Segoe UI"/>
              </a:rPr>
              <a:t>Give us a finished enzyme-engineering campaign and we will replay it at matched budget and show, in assays and days, where the decision could have been reached sooner.</a:t>
            </a:r>
          </a:p>
        </p:txBody>
      </p:sp>
      <p:sp>
        <p:nvSpPr>
          <p:cNvPr id="7" name="TextBox 6"/>
          <p:cNvSpPr txBox="1"/>
          <p:nvPr/>
        </p:nvSpPr>
        <p:spPr>
          <a:xfrm>
            <a:off x="713232" y="3364992"/>
            <a:ext cx="10765231" cy="365760"/>
          </a:xfrm>
          <a:prstGeom prst="rect">
            <a:avLst/>
          </a:prstGeom>
          <a:noFill/>
        </p:spPr>
        <p:txBody>
          <a:bodyPr wrap="square">
            <a:spAutoFit/>
          </a:bodyPr>
          <a:lstStyle/>
          <a:p>
            <a:pPr algn="l">
              <a:lnSpc>
                <a:spcPct val="100000"/>
              </a:lnSpc>
            </a:pPr>
            <a:r>
              <a:rPr sz="1700" b="1">
                <a:solidFill>
                  <a:srgbClr val="14201F"/>
                </a:solidFill>
                <a:latin typeface="Segoe UI"/>
              </a:rPr>
              <a:t>A second assessor, from a different company.</a:t>
            </a:r>
          </a:p>
        </p:txBody>
      </p:sp>
      <p:sp>
        <p:nvSpPr>
          <p:cNvPr id="8" name="TextBox 7"/>
          <p:cNvSpPr txBox="1"/>
          <p:nvPr/>
        </p:nvSpPr>
        <p:spPr>
          <a:xfrm>
            <a:off x="713232" y="3712464"/>
            <a:ext cx="9850831" cy="640080"/>
          </a:xfrm>
          <a:prstGeom prst="rect">
            <a:avLst/>
          </a:prstGeom>
          <a:noFill/>
        </p:spPr>
        <p:txBody>
          <a:bodyPr wrap="square">
            <a:spAutoFit/>
          </a:bodyPr>
          <a:lstStyle/>
          <a:p>
            <a:pPr algn="l">
              <a:lnSpc>
                <a:spcPct val="112000"/>
              </a:lnSpc>
            </a:pPr>
            <a:r>
              <a:rPr sz="1200" b="0">
                <a:solidFill>
                  <a:srgbClr val="5A6B69"/>
                </a:solidFill>
                <a:latin typeface="Segoe UI"/>
              </a:rPr>
              <a:t>One is not enough for a verdict to travel with a publication, and we will not let the model that wrote a proof grade it.</a:t>
            </a:r>
          </a:p>
        </p:txBody>
      </p:sp>
      <p:sp>
        <p:nvSpPr>
          <p:cNvPr id="9" name="TextBox 8"/>
          <p:cNvSpPr txBox="1"/>
          <p:nvPr/>
        </p:nvSpPr>
        <p:spPr>
          <a:xfrm>
            <a:off x="713232" y="4535424"/>
            <a:ext cx="10765231" cy="365760"/>
          </a:xfrm>
          <a:prstGeom prst="rect">
            <a:avLst/>
          </a:prstGeom>
          <a:noFill/>
        </p:spPr>
        <p:txBody>
          <a:bodyPr wrap="square">
            <a:spAutoFit/>
          </a:bodyPr>
          <a:lstStyle/>
          <a:p>
            <a:pPr algn="l">
              <a:lnSpc>
                <a:spcPct val="100000"/>
              </a:lnSpc>
            </a:pPr>
            <a:r>
              <a:rPr sz="1700" b="1">
                <a:solidFill>
                  <a:srgbClr val="14201F"/>
                </a:solidFill>
                <a:latin typeface="Segoe UI"/>
              </a:rPr>
              <a:t>A harder panel.</a:t>
            </a:r>
          </a:p>
        </p:txBody>
      </p:sp>
      <p:sp>
        <p:nvSpPr>
          <p:cNvPr id="10" name="TextBox 9"/>
          <p:cNvSpPr txBox="1"/>
          <p:nvPr/>
        </p:nvSpPr>
        <p:spPr>
          <a:xfrm>
            <a:off x="713232" y="4882896"/>
            <a:ext cx="9850831" cy="640080"/>
          </a:xfrm>
          <a:prstGeom prst="rect">
            <a:avLst/>
          </a:prstGeom>
          <a:noFill/>
        </p:spPr>
        <p:txBody>
          <a:bodyPr wrap="square">
            <a:spAutoFit/>
          </a:bodyPr>
          <a:lstStyle/>
          <a:p>
            <a:pPr algn="l">
              <a:lnSpc>
                <a:spcPct val="112000"/>
              </a:lnSpc>
            </a:pPr>
            <a:r>
              <a:rPr sz="1200" b="0">
                <a:solidFill>
                  <a:srgbClr val="5A6B69"/>
                </a:solidFill>
                <a:latin typeface="Segoe UI"/>
              </a:rPr>
              <a:t>Our own check showed a benchmark can measure its own composition. Send pairs we did not pick.</a:t>
            </a:r>
          </a:p>
        </p:txBody>
      </p:sp>
      <p:sp>
        <p:nvSpPr>
          <p:cNvPr id="11" name="TextBox 10"/>
          <p:cNvSpPr txBox="1"/>
          <p:nvPr/>
        </p:nvSpPr>
        <p:spPr>
          <a:xfrm>
            <a:off x="713232" y="5852160"/>
            <a:ext cx="10765231" cy="457200"/>
          </a:xfrm>
          <a:prstGeom prst="rect">
            <a:avLst/>
          </a:prstGeom>
          <a:noFill/>
        </p:spPr>
        <p:txBody>
          <a:bodyPr wrap="square">
            <a:spAutoFit/>
          </a:bodyPr>
          <a:lstStyle/>
          <a:p>
            <a:pPr algn="l">
              <a:lnSpc>
                <a:spcPct val="100000"/>
              </a:lnSpc>
            </a:pPr>
            <a:r>
              <a:rPr sz="1400" b="1">
                <a:solidFill>
                  <a:srgbClr val="0E7C86"/>
                </a:solidFill>
                <a:latin typeface="Segoe UI"/>
              </a:rPr>
              <a:t>delphi-mission-control.ashenoy000.workers.dev/start/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