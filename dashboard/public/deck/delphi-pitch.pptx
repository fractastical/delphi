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claims</c:v>
                </c:pt>
              </c:strCache>
            </c:strRef>
          </c:tx>
          <c:spPr>
            <a:solidFill>
              <a:srgbClr val="2A78D6"/>
            </a:solidFill>
          </c:spPr>
          <c:cat>
            <c:strRef>
              <c:f>Sheet1!$A$2:$A$4</c:f>
              <c:strCache>
                <c:ptCount val="3"/>
                <c:pt idx="0">
                  <c:v>Extracted</c:v>
                </c:pt>
                <c:pt idx="1">
                  <c:v>Tested on data</c:v>
                </c:pt>
                <c:pt idx="2">
                  <c:v>Proved in Lean</c:v>
                </c:pt>
              </c:strCache>
            </c:strRef>
          </c:cat>
          <c:val>
            <c:numRef>
              <c:f>Sheet1!$B$2:$B$4</c:f>
              <c:numCache>
                <c:formatCode>General</c:formatCode>
                <c:ptCount val="3"/>
                <c:pt idx="0">
                  <c:v>880</c:v>
                </c:pt>
                <c:pt idx="1">
                  <c:v>16</c:v>
                </c:pt>
                <c:pt idx="2">
                  <c:v>8</c:v>
                </c:pt>
              </c:numCache>
            </c:numRef>
          </c:val>
        </c:ser>
        <c:dLbls>
          <c:txPr>
            <a:bodyPr/>
            <a:lstStyle/>
            <a:p>
              <a:pPr>
                <a:defRPr sz="1200" b="1">
                  <a:solidFill>
                    <a:srgbClr val="14201F"/>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spPr>
            <a:ln>
              <a:solidFill>
                <a:srgbClr val="E2E6E4"/>
              </a:solidFill>
            </a:ln>
          </c:spPr>
        </c:majorGridlines>
        <c:majorTickMark val="out"/>
        <c:minorTickMark val="none"/>
        <c:tickLblPos val="nextTo"/>
        <c:crossAx val="-2068027336"/>
        <c:crosses val="autoZero"/>
      </c:valAx>
    </c:plotArea>
    <c:dispBlanksAs val="gap"/>
  </c:chart>
  <c:txPr>
    <a:bodyPr/>
    <a:lstStyle/>
    <a:p>
      <a:pPr>
        <a:defRPr sz="1200">
          <a:solidFill>
            <a:srgbClr val="5A6B69"/>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run 1, from memory</c:v>
                </c:pt>
              </c:strCache>
            </c:strRef>
          </c:tx>
          <c:spPr>
            <a:solidFill>
              <a:srgbClr val="2A78D6"/>
            </a:solidFill>
          </c:spPr>
          <c:cat>
            <c:strRef>
              <c:f>Sheet1!$A$2:$A$5</c:f>
              <c:strCache>
                <c:ptCount val="4"/>
                <c:pt idx="0">
                  <c:v>Swarm, led</c:v>
                </c:pt>
                <c:pt idx="1">
                  <c:v>Swarm, peer-to-peer</c:v>
                </c:pt>
                <c:pt idx="2">
                  <c:v>Workers, isolated</c:v>
                </c:pt>
                <c:pt idx="3">
                  <c:v>One agent alone</c:v>
                </c:pt>
              </c:strCache>
            </c:strRef>
          </c:cat>
          <c:val>
            <c:numRef>
              <c:f>Sheet1!$B$2:$B$5</c:f>
              <c:numCache>
                <c:formatCode>General</c:formatCode>
                <c:ptCount val="4"/>
                <c:pt idx="0">
                  <c:v>19</c:v>
                </c:pt>
                <c:pt idx="1">
                  <c:v>18</c:v>
                </c:pt>
                <c:pt idx="2">
                  <c:v>17</c:v>
                </c:pt>
                <c:pt idx="3">
                  <c:v>13</c:v>
                </c:pt>
              </c:numCache>
            </c:numRef>
          </c:val>
        </c:ser>
        <c:ser>
          <c:idx val="1"/>
          <c:order val="1"/>
          <c:tx>
            <c:strRef>
              <c:f>Sheet1!$C$1</c:f>
              <c:strCache>
                <c:ptCount val="1"/>
                <c:pt idx="0">
                  <c:v>run 2, must fetch the page</c:v>
                </c:pt>
              </c:strCache>
            </c:strRef>
          </c:tx>
          <c:spPr>
            <a:solidFill>
              <a:srgbClr val="6250D6"/>
            </a:solidFill>
          </c:spPr>
          <c:cat>
            <c:strRef>
              <c:f>Sheet1!$A$2:$A$5</c:f>
              <c:strCache>
                <c:ptCount val="4"/>
                <c:pt idx="0">
                  <c:v>Swarm, led</c:v>
                </c:pt>
                <c:pt idx="1">
                  <c:v>Swarm, peer-to-peer</c:v>
                </c:pt>
                <c:pt idx="2">
                  <c:v>Workers, isolated</c:v>
                </c:pt>
                <c:pt idx="3">
                  <c:v>One agent alone</c:v>
                </c:pt>
              </c:strCache>
            </c:strRef>
          </c:cat>
          <c:val>
            <c:numRef>
              <c:f>Sheet1!$C$2:$C$5</c:f>
              <c:numCache>
                <c:formatCode>General</c:formatCode>
                <c:ptCount val="4"/>
                <c:pt idx="0">
                  <c:v>18</c:v>
                </c:pt>
                <c:pt idx="1">
                  <c:v>17</c:v>
                </c:pt>
                <c:pt idx="2">
                  <c:v>16</c:v>
                </c:pt>
                <c:pt idx="3">
                  <c:v>12</c:v>
                </c:pt>
              </c:numCache>
            </c:numRef>
          </c:val>
        </c:ser>
        <c:dLbls>
          <c:txPr>
            <a:bodyPr/>
            <a:lstStyle/>
            <a:p>
              <a:pPr>
                <a:defRPr sz="1200" b="1">
                  <a:solidFill>
                    <a:srgbClr val="14201F"/>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spPr>
            <a:ln>
              <a:solidFill>
                <a:srgbClr val="E2E6E4"/>
              </a:solidFill>
            </a:ln>
          </c:spPr>
        </c:majorGridlines>
        <c:majorTickMark val="out"/>
        <c:minorTickMark val="none"/>
        <c:tickLblPos val="nextTo"/>
        <c:crossAx val="-2068027336"/>
        <c:crosses val="autoZero"/>
      </c:valAx>
    </c:plotArea>
    <c:legend>
      <c:legendPos val="b"/>
      <c:overlay val="0"/>
    </c:legend>
    <c:dispBlanksAs val="gap"/>
  </c:chart>
  <c:txPr>
    <a:bodyPr/>
    <a:lstStyle/>
    <a:p>
      <a:pPr>
        <a:defRPr sz="1200">
          <a:solidFill>
            <a:srgbClr val="5A6B69"/>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records</c:v>
                </c:pt>
              </c:strCache>
            </c:strRef>
          </c:tx>
          <c:spPr>
            <a:solidFill>
              <a:srgbClr val="EB6834"/>
            </a:solidFill>
          </c:spPr>
          <c:cat>
            <c:strRef>
              <c:f>Sheet1!$A$2:$A$9</c:f>
              <c:strCache>
                <c:ptCount val="8"/>
                <c:pt idx="0">
                  <c:v>methodological findings, discovered by accident</c:v>
                </c:pt>
                <c:pt idx="1">
                  <c:v>textbook claims refuted for zebrafish</c:v>
                </c:pt>
                <c:pt idx="2">
                  <c:v>not established in zebrafish</c:v>
                </c:pt>
                <c:pt idx="3">
                  <c:v>corrections of our own published claims</c:v>
                </c:pt>
                <c:pt idx="4">
                  <c:v>mixed inside a single reading</c:v>
                </c:pt>
                <c:pt idx="5">
                  <c:v>inconclusive</c:v>
                </c:pt>
                <c:pt idx="6">
                  <c:v>documented refusal</c:v>
                </c:pt>
                <c:pt idx="7">
                  <c:v>supported</c:v>
                </c:pt>
              </c:strCache>
            </c:strRef>
          </c:cat>
          <c:val>
            <c:numRef>
              <c:f>Sheet1!$B$2:$B$9</c:f>
              <c:numCache>
                <c:formatCode>General</c:formatCode>
                <c:ptCount val="8"/>
                <c:pt idx="0">
                  <c:v>4</c:v>
                </c:pt>
                <c:pt idx="1">
                  <c:v>4</c:v>
                </c:pt>
                <c:pt idx="2">
                  <c:v>2</c:v>
                </c:pt>
                <c:pt idx="3">
                  <c:v>2</c:v>
                </c:pt>
                <c:pt idx="4">
                  <c:v>1</c:v>
                </c:pt>
                <c:pt idx="5">
                  <c:v>1</c:v>
                </c:pt>
                <c:pt idx="6">
                  <c:v>1</c:v>
                </c:pt>
                <c:pt idx="7">
                  <c:v>6</c:v>
                </c:pt>
              </c:numCache>
            </c:numRef>
          </c:val>
        </c:ser>
        <c:dLbls>
          <c:txPr>
            <a:bodyPr/>
            <a:lstStyle/>
            <a:p>
              <a:pPr>
                <a:defRPr sz="1200" b="1">
                  <a:solidFill>
                    <a:srgbClr val="14201F"/>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spPr>
            <a:ln>
              <a:solidFill>
                <a:srgbClr val="E2E6E4"/>
              </a:solidFill>
            </a:ln>
          </c:spPr>
        </c:majorGridlines>
        <c:majorTickMark val="out"/>
        <c:minorTickMark val="none"/>
        <c:tickLblPos val="nextTo"/>
        <c:crossAx val="-2068027336"/>
        <c:crosses val="autoZero"/>
      </c:valAx>
    </c:plotArea>
    <c:dispBlanksAs val="gap"/>
  </c:chart>
  <c:txPr>
    <a:bodyPr/>
    <a:lstStyle/>
    <a:p>
      <a:pPr>
        <a:defRPr sz="1200">
          <a:solidFill>
            <a:srgbClr val="5A6B69"/>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of 4,571 genes</c:v>
                </c:pt>
              </c:strCache>
            </c:strRef>
          </c:tx>
          <c:spPr>
            <a:solidFill>
              <a:srgbClr val="EB6834"/>
            </a:solidFill>
          </c:spPr>
          <c:cat>
            <c:strRef>
              <c:f>Sheet1!$A$2:$A$8</c:f>
              <c:strCache>
                <c:ptCount val="7"/>
                <c:pt idx="0">
                  <c:v>absolute abundance</c:v>
                </c:pt>
                <c:pt idx="1">
                  <c:v>protein half-life</c:v>
                </c:pt>
                <c:pt idx="2">
                  <c:v>mRNA half-life</c:v>
                </c:pt>
                <c:pt idx="3">
                  <c:v>transcription rate</c:v>
                </c:pt>
                <c:pt idx="4">
                  <c:v>binding affinity / enzyme kinetics</c:v>
                </c:pt>
                <c:pt idx="5">
                  <c:v>diffusion coefficient</c:v>
                </c:pt>
                <c:pt idx="6">
                  <c:v>Hill coefficient</c:v>
                </c:pt>
              </c:strCache>
            </c:strRef>
          </c:cat>
          <c:val>
            <c:numRef>
              <c:f>Sheet1!$B$2:$B$8</c:f>
              <c:numCache>
                <c:formatCode>General</c:formatCode>
                <c:ptCount val="7"/>
                <c:pt idx="0">
                  <c:v>0</c:v>
                </c:pt>
                <c:pt idx="1">
                  <c:v>0</c:v>
                </c:pt>
                <c:pt idx="2">
                  <c:v>0</c:v>
                </c:pt>
                <c:pt idx="3">
                  <c:v>0</c:v>
                </c:pt>
                <c:pt idx="4">
                  <c:v>0</c:v>
                </c:pt>
                <c:pt idx="5">
                  <c:v>4</c:v>
                </c:pt>
                <c:pt idx="6">
                  <c:v>0</c:v>
                </c:pt>
              </c:numCache>
            </c:numRef>
          </c:val>
        </c:ser>
        <c:dLbls>
          <c:txPr>
            <a:bodyPr/>
            <a:lstStyle/>
            <a:p>
              <a:pPr>
                <a:defRPr sz="1200" b="1">
                  <a:solidFill>
                    <a:srgbClr val="14201F"/>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spPr>
            <a:ln>
              <a:solidFill>
                <a:srgbClr val="E2E6E4"/>
              </a:solidFill>
            </a:ln>
          </c:spPr>
        </c:majorGridlines>
        <c:majorTickMark val="out"/>
        <c:minorTickMark val="none"/>
        <c:tickLblPos val="nextTo"/>
        <c:crossAx val="-2068027336"/>
        <c:crosses val="autoZero"/>
      </c:valAx>
    </c:plotArea>
    <c:dispBlanksAs val="gap"/>
  </c:chart>
  <c:txPr>
    <a:bodyPr/>
    <a:lstStyle/>
    <a:p>
      <a:pPr>
        <a:defRPr sz="1200">
          <a:solidFill>
            <a:srgbClr val="5A6B69"/>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metres</c:v>
                </c:pt>
              </c:strCache>
            </c:strRef>
          </c:tx>
          <c:spPr>
            <a:solidFill>
              <a:srgbClr val="EB6834"/>
            </a:solidFill>
          </c:spPr>
          <c:cat>
            <c:strRef>
              <c:f>Sheet1!$A$2:$A$5</c:f>
              <c:strCache>
                <c:ptCount val="4"/>
                <c:pt idx="0">
                  <c:v>From 8 m at the measured L/D 4.37</c:v>
                </c:pt>
                <c:pt idx="1">
                  <c:v>… with the measured 14% ground effect</c:v>
                </c:pt>
                <c:pt idx="2">
                  <c:v>Field flight, reported as one glide</c:v>
                </c:pt>
                <c:pt idx="3">
                  <c:v>… at the theoretical L/D 15.7, for comparison</c:v>
                </c:pt>
              </c:strCache>
            </c:strRef>
          </c:cat>
          <c:val>
            <c:numRef>
              <c:f>Sheet1!$B$2:$B$5</c:f>
              <c:numCache>
                <c:formatCode>General</c:formatCode>
                <c:ptCount val="4"/>
                <c:pt idx="0">
                  <c:v>35</c:v>
                </c:pt>
                <c:pt idx="1">
                  <c:v>40.7</c:v>
                </c:pt>
                <c:pt idx="2">
                  <c:v>50</c:v>
                </c:pt>
                <c:pt idx="3">
                  <c:v>125.6</c:v>
                </c:pt>
              </c:numCache>
            </c:numRef>
          </c:val>
        </c:ser>
        <c:dLbls>
          <c:txPr>
            <a:bodyPr/>
            <a:lstStyle/>
            <a:p>
              <a:pPr>
                <a:defRPr sz="1200" b="1">
                  <a:solidFill>
                    <a:srgbClr val="14201F"/>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spPr>
            <a:ln>
              <a:solidFill>
                <a:srgbClr val="E2E6E4"/>
              </a:solidFill>
            </a:ln>
          </c:spPr>
        </c:majorGridlines>
        <c:majorTickMark val="out"/>
        <c:minorTickMark val="none"/>
        <c:tickLblPos val="nextTo"/>
        <c:crossAx val="-2068027336"/>
        <c:crosses val="autoZero"/>
      </c:valAx>
    </c:plotArea>
    <c:dispBlanksAs val="gap"/>
  </c:chart>
  <c:txPr>
    <a:bodyPr/>
    <a:lstStyle/>
    <a:p>
      <a:pPr>
        <a:defRPr sz="1200">
          <a:solidFill>
            <a:srgbClr val="5A6B69"/>
          </a:solidFill>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pieces</c:v>
                </c:pt>
              </c:strCache>
            </c:strRef>
          </c:tx>
          <c:spPr>
            <a:solidFill>
              <a:srgbClr val="2A78D6"/>
            </a:solidFill>
          </c:spPr>
          <c:cat>
            <c:strRef>
              <c:f>Sheet1!$A$2:$A$4</c:f>
              <c:strCache>
                <c:ptCount val="3"/>
                <c:pt idx="0">
                  <c:v>flying fish</c:v>
                </c:pt>
                <c:pt idx="1">
                  <c:v>zebrafish, adult</c:v>
                </c:pt>
                <c:pt idx="2">
                  <c:v>zebrafish, larva</c:v>
                </c:pt>
              </c:strCache>
            </c:strRef>
          </c:cat>
          <c:val>
            <c:numRef>
              <c:f>Sheet1!$B$2:$B$4</c:f>
              <c:numCache>
                <c:formatCode>General</c:formatCode>
                <c:ptCount val="3"/>
                <c:pt idx="0">
                  <c:v>110</c:v>
                </c:pt>
                <c:pt idx="1">
                  <c:v>189</c:v>
                </c:pt>
                <c:pt idx="2">
                  <c:v>58</c:v>
                </c:pt>
              </c:numCache>
            </c:numRef>
          </c:val>
        </c:ser>
        <c:ser>
          <c:idx val="1"/>
          <c:order val="1"/>
          <c:tx>
            <c:strRef>
              <c:f>Sheet1!$C$1</c:f>
              <c:strCache>
                <c:ptCount val="1"/>
                <c:pt idx="0">
                  <c:v>with an ontology term</c:v>
                </c:pt>
              </c:strCache>
            </c:strRef>
          </c:tx>
          <c:spPr>
            <a:solidFill>
              <a:srgbClr val="1BAF7A"/>
            </a:solidFill>
          </c:spPr>
          <c:cat>
            <c:strRef>
              <c:f>Sheet1!$A$2:$A$4</c:f>
              <c:strCache>
                <c:ptCount val="3"/>
                <c:pt idx="0">
                  <c:v>flying fish</c:v>
                </c:pt>
                <c:pt idx="1">
                  <c:v>zebrafish, adult</c:v>
                </c:pt>
                <c:pt idx="2">
                  <c:v>zebrafish, larva</c:v>
                </c:pt>
              </c:strCache>
            </c:strRef>
          </c:cat>
          <c:val>
            <c:numRef>
              <c:f>Sheet1!$C$2:$C$4</c:f>
              <c:numCache>
                <c:formatCode>General</c:formatCode>
                <c:ptCount val="3"/>
                <c:pt idx="0">
                  <c:v>50</c:v>
                </c:pt>
                <c:pt idx="1">
                  <c:v>189</c:v>
                </c:pt>
                <c:pt idx="2">
                  <c:v>58</c:v>
                </c:pt>
              </c:numCache>
            </c:numRef>
          </c:val>
        </c:ser>
        <c:dLbls>
          <c:txPr>
            <a:bodyPr/>
            <a:lstStyle/>
            <a:p>
              <a:pPr>
                <a:defRPr sz="1200" b="1">
                  <a:solidFill>
                    <a:srgbClr val="14201F"/>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spPr>
            <a:ln>
              <a:solidFill>
                <a:srgbClr val="E2E6E4"/>
              </a:solidFill>
            </a:ln>
          </c:spPr>
        </c:majorGridlines>
        <c:majorTickMark val="out"/>
        <c:minorTickMark val="none"/>
        <c:tickLblPos val="nextTo"/>
        <c:crossAx val="-2068027336"/>
        <c:crosses val="autoZero"/>
      </c:valAx>
    </c:plotArea>
    <c:legend>
      <c:legendPos val="b"/>
      <c:overlay val="0"/>
    </c:legend>
    <c:dispBlanksAs val="gap"/>
  </c:chart>
  <c:txPr>
    <a:bodyPr/>
    <a:lstStyle/>
    <a:p>
      <a:pPr>
        <a:defRPr sz="1200">
          <a:solidFill>
            <a:srgbClr val="5A6B69"/>
          </a:solidFill>
          <a:latin typeface="Segoe U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22 pass</c:v>
                </c:pt>
              </c:strCache>
            </c:strRef>
          </c:tx>
          <c:spPr>
            <a:solidFill>
              <a:srgbClr val="1BAF7A"/>
            </a:solidFill>
            <a:ln w="19050">
              <a:solidFill>
                <a:srgbClr val="FFFFFF"/>
              </a:solidFill>
            </a:ln>
          </c:spPr>
          <c:cat>
            <c:strRef>
              <c:f>Sheet1!$A$2:$A$5</c:f>
              <c:strCache>
                <c:ptCount val="4"/>
                <c:pt idx="0">
                  <c:v>Contract and determinism, per scenario (11)</c:v>
                </c:pt>
                <c:pt idx="1">
                  <c:v>Optimizer and parser controls (4)</c:v>
                </c:pt>
                <c:pt idx="2">
                  <c:v>Negative and law controls (5)</c:v>
                </c:pt>
                <c:pt idx="3">
                  <c:v>Wild-type predictions (11)</c:v>
                </c:pt>
              </c:strCache>
            </c:strRef>
          </c:cat>
          <c:val>
            <c:numRef>
              <c:f>Sheet1!$B$2:$B$5</c:f>
              <c:numCache>
                <c:formatCode>General</c:formatCode>
                <c:ptCount val="4"/>
                <c:pt idx="0">
                  <c:v>11</c:v>
                </c:pt>
                <c:pt idx="1">
                  <c:v>4</c:v>
                </c:pt>
                <c:pt idx="2">
                  <c:v>5</c:v>
                </c:pt>
                <c:pt idx="3">
                  <c:v>2</c:v>
                </c:pt>
              </c:numCache>
            </c:numRef>
          </c:val>
        </c:ser>
        <c:ser>
          <c:idx val="1"/>
          <c:order val="1"/>
          <c:tx>
            <c:strRef>
              <c:f>Sheet1!$C$1</c:f>
              <c:strCache>
                <c:ptCount val="1"/>
                <c:pt idx="0">
                  <c:v>8 circular: read the answer back</c:v>
                </c:pt>
              </c:strCache>
            </c:strRef>
          </c:tx>
          <c:spPr>
            <a:solidFill>
              <a:srgbClr val="6250D6"/>
            </a:solidFill>
            <a:ln w="19050">
              <a:solidFill>
                <a:srgbClr val="FFFFFF"/>
              </a:solidFill>
            </a:ln>
          </c:spPr>
          <c:cat>
            <c:strRef>
              <c:f>Sheet1!$A$2:$A$5</c:f>
              <c:strCache>
                <c:ptCount val="4"/>
                <c:pt idx="0">
                  <c:v>Contract and determinism, per scenario (11)</c:v>
                </c:pt>
                <c:pt idx="1">
                  <c:v>Optimizer and parser controls (4)</c:v>
                </c:pt>
                <c:pt idx="2">
                  <c:v>Negative and law controls (5)</c:v>
                </c:pt>
                <c:pt idx="3">
                  <c:v>Wild-type predictions (11)</c:v>
                </c:pt>
              </c:strCache>
            </c:strRef>
          </c:cat>
          <c:val>
            <c:numRef>
              <c:f>Sheet1!$C$2:$C$5</c:f>
              <c:numCache>
                <c:formatCode>General</c:formatCode>
                <c:ptCount val="4"/>
                <c:pt idx="3">
                  <c:v>8</c:v>
                </c:pt>
              </c:numCache>
            </c:numRef>
          </c:val>
        </c:ser>
        <c:ser>
          <c:idx val="2"/>
          <c:order val="2"/>
          <c:tx>
            <c:strRef>
              <c:f>Sheet1!$D$1</c:f>
              <c:strCache>
                <c:ptCount val="1"/>
                <c:pt idx="0">
                  <c:v>1 no target to test against</c:v>
                </c:pt>
              </c:strCache>
            </c:strRef>
          </c:tx>
          <c:spPr>
            <a:solidFill>
              <a:srgbClr val="9AA6A3"/>
            </a:solidFill>
            <a:ln w="19050">
              <a:solidFill>
                <a:srgbClr val="FFFFFF"/>
              </a:solidFill>
            </a:ln>
          </c:spPr>
          <c:cat>
            <c:strRef>
              <c:f>Sheet1!$A$2:$A$5</c:f>
              <c:strCache>
                <c:ptCount val="4"/>
                <c:pt idx="0">
                  <c:v>Contract and determinism, per scenario (11)</c:v>
                </c:pt>
                <c:pt idx="1">
                  <c:v>Optimizer and parser controls (4)</c:v>
                </c:pt>
                <c:pt idx="2">
                  <c:v>Negative and law controls (5)</c:v>
                </c:pt>
                <c:pt idx="3">
                  <c:v>Wild-type predictions (11)</c:v>
                </c:pt>
              </c:strCache>
            </c:strRef>
          </c:cat>
          <c:val>
            <c:numRef>
              <c:f>Sheet1!$D$2:$D$5</c:f>
              <c:numCache>
                <c:formatCode>General</c:formatCode>
                <c:ptCount val="4"/>
                <c:pt idx="3">
                  <c:v>1</c:v>
                </c:pt>
              </c:numCache>
            </c:numRef>
          </c:val>
        </c:ser>
        <c:dLbls>
          <c:txPr>
            <a:bodyPr/>
            <a:lstStyle/>
            <a:p>
              <a:pPr>
                <a:defRPr sz="1100" b="1">
                  <a:solidFill>
                    <a:srgbClr val="FFFFFF"/>
                  </a:solidFill>
                </a:defRPr>
              </a:pPr>
            </a:p>
          </c:txPr>
          <c:showLegendKey val="0"/>
          <c:showVal val="1"/>
          <c:showCatName val="0"/>
          <c:showSerName val="0"/>
          <c:showPercent val="0"/>
          <c:showBubbleSize val="0"/>
          <c:showLeaderLines val="1"/>
        </c:dLbls>
        <c:gapWidth val="45"/>
        <c:overlap val="100"/>
        <c:axId val="-2068027336"/>
        <c:axId val="-2113994440"/>
      </c:barChart>
      <c:catAx>
        <c:axId val="-2068027336"/>
        <c:scaling>
          <c:orientation val="minMax"/>
        </c:scaling>
        <c:delete val="0"/>
        <c:axPos val="l"/>
        <c:majorTickMark val="out"/>
        <c:minorTickMark val="none"/>
        <c:tickLblPos val="nextTo"/>
        <c:spPr>
          <a:ln>
            <a:solidFill>
              <a:srgbClr val="C3C2B7"/>
            </a:solidFill>
          </a:ln>
        </c:sp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b"/>
      <c:overlay val="0"/>
    </c:legend>
    <c:dispBlanksAs val="gap"/>
  </c:chart>
  <c:txPr>
    <a:bodyPr/>
    <a:lstStyle/>
    <a:p>
      <a:pPr>
        <a:defRPr sz="1100">
          <a:solidFill>
            <a:srgbClr val="5A6B69"/>
          </a:solidFill>
          <a:latin typeface="Segoe U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records drafted</c:v>
                </c:pt>
              </c:strCache>
            </c:strRef>
          </c:tx>
          <c:spPr>
            <a:solidFill>
              <a:srgbClr val="1BAF7A"/>
            </a:solidFill>
          </c:spPr>
          <c:cat>
            <c:strRef>
              <c:f>Sheet1!$A$2:$A$8</c:f>
              <c:strCache>
                <c:ptCount val="7"/>
                <c:pt idx="0">
                  <c:v>Proofs + assessments</c:v>
                </c:pt>
                <c:pt idx="1">
                  <c:v>Blueprints, predictions, a refusal</c:v>
                </c:pt>
                <c:pt idx="2">
                  <c:v>Swarm experiments</c:v>
                </c:pt>
                <c:pt idx="3">
                  <c:v>Claim tests, incl. refutations</c:v>
                </c:pt>
                <c:pt idx="4">
                  <c:v>Gene-to-fin, mostly negative</c:v>
                </c:pt>
                <c:pt idx="5">
                  <c:v>The held-out exam</c:v>
                </c:pt>
                <c:pt idx="6">
                  <c:v>Flight physics</c:v>
                </c:pt>
              </c:strCache>
            </c:strRef>
          </c:cat>
          <c:val>
            <c:numRef>
              <c:f>Sheet1!$B$2:$B$8</c:f>
              <c:numCache>
                <c:formatCode>General</c:formatCode>
                <c:ptCount val="7"/>
                <c:pt idx="0">
                  <c:v>55</c:v>
                </c:pt>
                <c:pt idx="1">
                  <c:v>35</c:v>
                </c:pt>
                <c:pt idx="2">
                  <c:v>9</c:v>
                </c:pt>
                <c:pt idx="3">
                  <c:v>15</c:v>
                </c:pt>
                <c:pt idx="4">
                  <c:v>21</c:v>
                </c:pt>
                <c:pt idx="5">
                  <c:v>10</c:v>
                </c:pt>
                <c:pt idx="6">
                  <c:v>13</c:v>
                </c:pt>
              </c:numCache>
            </c:numRef>
          </c:val>
        </c:ser>
        <c:dLbls>
          <c:txPr>
            <a:bodyPr/>
            <a:lstStyle/>
            <a:p>
              <a:pPr>
                <a:defRPr sz="1200" b="1">
                  <a:solidFill>
                    <a:srgbClr val="14201F"/>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spPr>
            <a:ln>
              <a:solidFill>
                <a:srgbClr val="E2E6E4"/>
              </a:solidFill>
            </a:ln>
          </c:spPr>
        </c:majorGridlines>
        <c:majorTickMark val="out"/>
        <c:minorTickMark val="none"/>
        <c:tickLblPos val="nextTo"/>
        <c:crossAx val="-2068027336"/>
        <c:crosses val="autoZero"/>
      </c:valAx>
    </c:plotArea>
    <c:dispBlanksAs val="gap"/>
  </c:chart>
  <c:txPr>
    <a:bodyPr/>
    <a:lstStyle/>
    <a:p>
      <a:pPr>
        <a:defRPr sz="1200">
          <a:solidFill>
            <a:srgbClr val="5A6B69"/>
          </a:solidFill>
          <a:latin typeface="Segoe U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Which experiment would</a:t>
            </a:r>
          </a:p>
          <a:p>
            <a:pPr algn="l">
              <a:lnSpc>
                <a:spcPct val="92000"/>
              </a:lnSpc>
            </a:pPr>
            <a:r>
              <a:rPr sz="4000" b="1">
                <a:solidFill>
                  <a:srgbClr val="14201F"/>
                </a:solidFill>
                <a:latin typeface="Segoe UI"/>
              </a:rPr>
              <a:t>justify the next step?</a:t>
            </a:r>
          </a:p>
        </p:txBody>
      </p:sp>
      <p:sp>
        <p:nvSpPr>
          <p:cNvPr id="5" name="TextBox 4"/>
          <p:cNvSpPr txBox="1"/>
          <p:nvPr/>
        </p:nvSpPr>
        <p:spPr>
          <a:xfrm>
            <a:off x="713232" y="2240280"/>
            <a:ext cx="7863840" cy="822960"/>
          </a:xfrm>
          <a:prstGeom prst="rect">
            <a:avLst/>
          </a:prstGeom>
          <a:noFill/>
        </p:spPr>
        <p:txBody>
          <a:bodyPr wrap="square">
            <a:spAutoFit/>
          </a:bodyPr>
          <a:lstStyle/>
          <a:p>
            <a:pPr algn="l">
              <a:lnSpc>
                <a:spcPct val="120000"/>
              </a:lnSpc>
            </a:pPr>
            <a:r>
              <a:rPr sz="1500" b="0">
                <a:solidFill>
                  <a:srgbClr val="5A6B69"/>
                </a:solidFill>
                <a:latin typeface="Segoe UI"/>
              </a:rPr>
              <a:t>We turn claims about how life works into experiments a machine can check —</a:t>
            </a:r>
          </a:p>
          <a:p>
            <a:pPr algn="l">
              <a:lnSpc>
                <a:spcPct val="120000"/>
              </a:lnSpc>
            </a:pPr>
            <a:r>
              <a:rPr sz="1500" b="0">
                <a:solidFill>
                  <a:srgbClr val="5A6B69"/>
                </a:solidFill>
                <a:latin typeface="Segoe UI"/>
              </a:rPr>
              <a:t>and say plainly when the evidence is not there yet.</a:t>
            </a:r>
          </a:p>
        </p:txBody>
      </p:sp>
      <p:sp>
        <p:nvSpPr>
          <p:cNvPr id="6" name="Rounded Rectangle 5"/>
          <p:cNvSpPr/>
          <p:nvPr/>
        </p:nvSpPr>
        <p:spPr>
          <a:xfrm>
            <a:off x="1167231" y="3749039"/>
            <a:ext cx="1078992" cy="566928"/>
          </a:xfrm>
          <a:prstGeom prst="roundRect">
            <a:avLst/>
          </a:prstGeom>
          <a:solidFill>
            <a:srgbClr val="FFFFFF"/>
          </a:solidFill>
          <a:ln w="222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VFVS</a:t>
            </a:r>
          </a:p>
        </p:txBody>
      </p:sp>
      <p:sp>
        <p:nvSpPr>
          <p:cNvPr id="7" name="Rectangle 6"/>
          <p:cNvSpPr/>
          <p:nvPr/>
        </p:nvSpPr>
        <p:spPr>
          <a:xfrm>
            <a:off x="2246223" y="4005071"/>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630271" y="3749039"/>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VFMS</a:t>
            </a:r>
          </a:p>
        </p:txBody>
      </p:sp>
      <p:sp>
        <p:nvSpPr>
          <p:cNvPr id="9" name="Rectangle 8"/>
          <p:cNvSpPr/>
          <p:nvPr/>
        </p:nvSpPr>
        <p:spPr>
          <a:xfrm>
            <a:off x="3709263" y="4005071"/>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093311" y="3749039"/>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SFMS</a:t>
            </a:r>
          </a:p>
        </p:txBody>
      </p:sp>
      <p:sp>
        <p:nvSpPr>
          <p:cNvPr id="11" name="Rectangle 10"/>
          <p:cNvSpPr/>
          <p:nvPr/>
        </p:nvSpPr>
        <p:spPr>
          <a:xfrm>
            <a:off x="5172303" y="4005071"/>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556351" y="3749039"/>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SIMS</a:t>
            </a:r>
          </a:p>
        </p:txBody>
      </p:sp>
      <p:sp>
        <p:nvSpPr>
          <p:cNvPr id="13" name="Rectangle 12"/>
          <p:cNvSpPr/>
          <p:nvPr/>
        </p:nvSpPr>
        <p:spPr>
          <a:xfrm>
            <a:off x="6635343" y="4005071"/>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19391" y="3749039"/>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SIMG</a:t>
            </a:r>
          </a:p>
        </p:txBody>
      </p:sp>
      <p:sp>
        <p:nvSpPr>
          <p:cNvPr id="15" name="Rectangle 14"/>
          <p:cNvSpPr/>
          <p:nvPr/>
        </p:nvSpPr>
        <p:spPr>
          <a:xfrm>
            <a:off x="8098383" y="4005071"/>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82431" y="3749039"/>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SIKG</a:t>
            </a:r>
          </a:p>
        </p:txBody>
      </p:sp>
      <p:sp>
        <p:nvSpPr>
          <p:cNvPr id="17" name="Rectangle 16"/>
          <p:cNvSpPr/>
          <p:nvPr/>
        </p:nvSpPr>
        <p:spPr>
          <a:xfrm>
            <a:off x="9561423" y="4005071"/>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945471" y="3749039"/>
            <a:ext cx="1078992" cy="566928"/>
          </a:xfrm>
          <a:prstGeom prst="roundRect">
            <a:avLst/>
          </a:prstGeom>
          <a:solidFill>
            <a:srgbClr val="FFFFFF"/>
          </a:solidFill>
          <a:ln w="22225">
            <a:solidFill>
              <a:srgbClr val="625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AIKG</a:t>
            </a:r>
          </a:p>
        </p:txBody>
      </p:sp>
      <p:sp>
        <p:nvSpPr>
          <p:cNvPr id="19" name="TextBox 18"/>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A real route through a real enzyme: every step measured, every step uphill, the whole thing machine-checked.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Science has a backlog.</a:t>
            </a:r>
          </a:p>
        </p:txBody>
      </p:sp>
      <p:sp>
        <p:nvSpPr>
          <p:cNvPr id="5" name="TextBox 4"/>
          <p:cNvSpPr txBox="1"/>
          <p:nvPr/>
        </p:nvSpPr>
        <p:spPr>
          <a:xfrm>
            <a:off x="713232" y="2286000"/>
            <a:ext cx="2834640" cy="1280160"/>
          </a:xfrm>
          <a:prstGeom prst="rect">
            <a:avLst/>
          </a:prstGeom>
          <a:noFill/>
        </p:spPr>
        <p:txBody>
          <a:bodyPr wrap="square">
            <a:spAutoFit/>
          </a:bodyPr>
          <a:lstStyle/>
          <a:p>
            <a:pPr algn="l">
              <a:lnSpc>
                <a:spcPct val="100000"/>
              </a:lnSpc>
            </a:pPr>
            <a:r>
              <a:rPr sz="5400" b="1">
                <a:solidFill>
                  <a:srgbClr val="2A78D6"/>
                </a:solidFill>
                <a:latin typeface="Segoe UI"/>
              </a:rPr>
              <a:t>880</a:t>
            </a:r>
          </a:p>
        </p:txBody>
      </p:sp>
      <p:sp>
        <p:nvSpPr>
          <p:cNvPr id="6" name="TextBox 5"/>
          <p:cNvSpPr txBox="1"/>
          <p:nvPr/>
        </p:nvSpPr>
        <p:spPr>
          <a:xfrm>
            <a:off x="713232" y="342900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claims pulled out of Darwin, Thompson, Turing, Wolfram and others</a:t>
            </a:r>
          </a:p>
        </p:txBody>
      </p:sp>
      <p:sp>
        <p:nvSpPr>
          <p:cNvPr id="7" name="TextBox 6"/>
          <p:cNvSpPr txBox="1"/>
          <p:nvPr/>
        </p:nvSpPr>
        <p:spPr>
          <a:xfrm>
            <a:off x="3913632" y="2286000"/>
            <a:ext cx="2834640" cy="1280160"/>
          </a:xfrm>
          <a:prstGeom prst="rect">
            <a:avLst/>
          </a:prstGeom>
          <a:noFill/>
        </p:spPr>
        <p:txBody>
          <a:bodyPr wrap="square">
            <a:spAutoFit/>
          </a:bodyPr>
          <a:lstStyle/>
          <a:p>
            <a:pPr algn="l">
              <a:lnSpc>
                <a:spcPct val="100000"/>
              </a:lnSpc>
            </a:pPr>
            <a:r>
              <a:rPr sz="5400" b="1">
                <a:solidFill>
                  <a:srgbClr val="EB6834"/>
                </a:solidFill>
                <a:latin typeface="Segoe UI"/>
              </a:rPr>
              <a:t>16</a:t>
            </a:r>
          </a:p>
        </p:txBody>
      </p:sp>
      <p:sp>
        <p:nvSpPr>
          <p:cNvPr id="8" name="TextBox 7"/>
          <p:cNvSpPr txBox="1"/>
          <p:nvPr/>
        </p:nvSpPr>
        <p:spPr>
          <a:xfrm>
            <a:off x="3913632" y="342900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of them tested against real data this weekend</a:t>
            </a:r>
          </a:p>
        </p:txBody>
      </p:sp>
      <p:sp>
        <p:nvSpPr>
          <p:cNvPr id="9" name="TextBox 8"/>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The gap is the opportunity, not an embarrassment. Most of these claims have never had a dataset pointed at them, because nobody had a cheap way to ask which dataset would settle which claim.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So we built the asking machine.</a:t>
            </a:r>
          </a:p>
        </p:txBody>
      </p:sp>
      <p:graphicFrame>
        <p:nvGraphicFramePr>
          <p:cNvPr id="5" name="Chart 4"/>
          <p:cNvGraphicFramePr>
            <a:graphicFrameLocks noGrp="1"/>
          </p:cNvGraphicFramePr>
          <p:nvPr/>
        </p:nvGraphicFramePr>
        <p:xfrm>
          <a:off x="713232" y="2103120"/>
          <a:ext cx="10490911" cy="2926080"/>
        </p:xfrm>
        <a:graphic>
          <a:graphicData uri="http://schemas.openxmlformats.org/drawingml/2006/chart">
            <c:chart xmlns:c="http://schemas.openxmlformats.org/drawingml/2006/chart" r:id="rId2"/>
          </a:graphicData>
        </a:graphic>
      </p:graphicFrame>
      <p:sp>
        <p:nvSpPr>
          <p:cNvPr id="6" name="TextBox 5"/>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Each stage is narrower than the last, on purpose. A claim only advances when a named dataset can settle it and two independent assessors agree it can.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Ten specialists, one chain.</a:t>
            </a:r>
          </a:p>
        </p:txBody>
      </p:sp>
      <p:sp>
        <p:nvSpPr>
          <p:cNvPr id="5" name="Rounded Rectangle 4"/>
          <p:cNvSpPr/>
          <p:nvPr/>
        </p:nvSpPr>
        <p:spPr>
          <a:xfrm>
            <a:off x="713232" y="2377440"/>
            <a:ext cx="2103120" cy="749808"/>
          </a:xfrm>
          <a:prstGeom prst="roundRect">
            <a:avLst/>
          </a:prstGeom>
          <a:solidFill>
            <a:srgbClr val="FFFFFF"/>
          </a:solidFill>
          <a:ln>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5A6B69"/>
                </a:solidFill>
              </a:rPr>
              <a:t>A1</a:t>
            </a:r>
          </a:p>
          <a:p>
            <a:r>
              <a:rPr sz="1200">
                <a:solidFill>
                  <a:srgbClr val="14201F"/>
                </a:solidFill>
              </a:rPr>
              <a:t>say it plainly</a:t>
            </a:r>
          </a:p>
        </p:txBody>
      </p:sp>
      <p:sp>
        <p:nvSpPr>
          <p:cNvPr id="6" name="Rounded Rectangle 5"/>
          <p:cNvSpPr/>
          <p:nvPr/>
        </p:nvSpPr>
        <p:spPr>
          <a:xfrm>
            <a:off x="2962656" y="2377440"/>
            <a:ext cx="2103120" cy="749808"/>
          </a:xfrm>
          <a:prstGeom prst="roundRect">
            <a:avLst/>
          </a:prstGeom>
          <a:solidFill>
            <a:srgbClr val="FFFFFF"/>
          </a:solidFill>
          <a:ln>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5A6B69"/>
                </a:solidFill>
              </a:rPr>
              <a:t>A2</a:t>
            </a:r>
          </a:p>
          <a:p>
            <a:r>
              <a:rPr sz="1200">
                <a:solidFill>
                  <a:srgbClr val="14201F"/>
                </a:solidFill>
              </a:rPr>
              <a:t>find the sources</a:t>
            </a:r>
          </a:p>
        </p:txBody>
      </p:sp>
      <p:sp>
        <p:nvSpPr>
          <p:cNvPr id="7" name="Rounded Rectangle 6"/>
          <p:cNvSpPr/>
          <p:nvPr/>
        </p:nvSpPr>
        <p:spPr>
          <a:xfrm>
            <a:off x="5212080" y="2377440"/>
            <a:ext cx="2103120" cy="749808"/>
          </a:xfrm>
          <a:prstGeom prst="roundRect">
            <a:avLst/>
          </a:prstGeom>
          <a:solidFill>
            <a:srgbClr val="FFFFFF"/>
          </a:solidFill>
          <a:ln>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5A6B69"/>
                </a:solidFill>
              </a:rPr>
              <a:t>A3</a:t>
            </a:r>
          </a:p>
          <a:p>
            <a:r>
              <a:rPr sz="1200">
                <a:solidFill>
                  <a:srgbClr val="14201F"/>
                </a:solidFill>
              </a:rPr>
              <a:t>name the species</a:t>
            </a:r>
          </a:p>
        </p:txBody>
      </p:sp>
      <p:sp>
        <p:nvSpPr>
          <p:cNvPr id="8" name="Rounded Rectangle 7"/>
          <p:cNvSpPr/>
          <p:nvPr/>
        </p:nvSpPr>
        <p:spPr>
          <a:xfrm>
            <a:off x="7461504" y="2377440"/>
            <a:ext cx="2103120" cy="749808"/>
          </a:xfrm>
          <a:prstGeom prst="roundRect">
            <a:avLst/>
          </a:prstGeom>
          <a:solidFill>
            <a:srgbClr val="FFFFFF"/>
          </a:solidFill>
          <a:ln>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5A6B69"/>
                </a:solidFill>
              </a:rPr>
              <a:t>A4</a:t>
            </a:r>
          </a:p>
          <a:p>
            <a:r>
              <a:rPr sz="1200">
                <a:solidFill>
                  <a:srgbClr val="14201F"/>
                </a:solidFill>
              </a:rPr>
              <a:t>find the data</a:t>
            </a:r>
          </a:p>
        </p:txBody>
      </p:sp>
      <p:sp>
        <p:nvSpPr>
          <p:cNvPr id="9" name="Rounded Rectangle 8"/>
          <p:cNvSpPr/>
          <p:nvPr/>
        </p:nvSpPr>
        <p:spPr>
          <a:xfrm>
            <a:off x="9710928" y="2377440"/>
            <a:ext cx="2103120" cy="749808"/>
          </a:xfrm>
          <a:prstGeom prst="roundRect">
            <a:avLst/>
          </a:prstGeom>
          <a:solidFill>
            <a:srgbClr val="FFFFFF"/>
          </a:solidFill>
          <a:ln>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5A6B69"/>
                </a:solidFill>
              </a:rPr>
              <a:t>A5</a:t>
            </a:r>
          </a:p>
          <a:p>
            <a:r>
              <a:rPr sz="1200">
                <a:solidFill>
                  <a:srgbClr val="14201F"/>
                </a:solidFill>
              </a:rPr>
              <a:t>inventory</a:t>
            </a:r>
          </a:p>
        </p:txBody>
      </p:sp>
      <p:sp>
        <p:nvSpPr>
          <p:cNvPr id="10" name="Rounded Rectangle 9"/>
          <p:cNvSpPr/>
          <p:nvPr/>
        </p:nvSpPr>
        <p:spPr>
          <a:xfrm>
            <a:off x="713232" y="3337560"/>
            <a:ext cx="2103120" cy="749808"/>
          </a:xfrm>
          <a:prstGeom prst="roundRect">
            <a:avLst/>
          </a:prstGeom>
          <a:solidFill>
            <a:srgbClr val="FFFFFF"/>
          </a:solidFill>
          <a:ln>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5A6B69"/>
                </a:solidFill>
              </a:rPr>
              <a:t>A6</a:t>
            </a:r>
          </a:p>
          <a:p>
            <a:r>
              <a:rPr sz="1200">
                <a:solidFill>
                  <a:srgbClr val="14201F"/>
                </a:solidFill>
              </a:rPr>
              <a:t>all scales?</a:t>
            </a:r>
          </a:p>
        </p:txBody>
      </p:sp>
      <p:sp>
        <p:nvSpPr>
          <p:cNvPr id="11" name="Rounded Rectangle 10"/>
          <p:cNvSpPr/>
          <p:nvPr/>
        </p:nvSpPr>
        <p:spPr>
          <a:xfrm>
            <a:off x="2962656" y="3337560"/>
            <a:ext cx="2103120" cy="749808"/>
          </a:xfrm>
          <a:prstGeom prst="roundRect">
            <a:avLst/>
          </a:prstGeom>
          <a:solidFill>
            <a:srgbClr val="FFFFFF"/>
          </a:solidFill>
          <a:ln>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5A6B69"/>
                </a:solidFill>
              </a:rPr>
              <a:t>A7</a:t>
            </a:r>
          </a:p>
          <a:p>
            <a:r>
              <a:rPr sz="1200">
                <a:solidFill>
                  <a:srgbClr val="14201F"/>
                </a:solidFill>
              </a:rPr>
              <a:t>write the maths</a:t>
            </a:r>
          </a:p>
        </p:txBody>
      </p:sp>
      <p:sp>
        <p:nvSpPr>
          <p:cNvPr id="12" name="Rounded Rectangle 11"/>
          <p:cNvSpPr/>
          <p:nvPr/>
        </p:nvSpPr>
        <p:spPr>
          <a:xfrm>
            <a:off x="5212080" y="3337560"/>
            <a:ext cx="2103120" cy="749808"/>
          </a:xfrm>
          <a:prstGeom prst="roundRect">
            <a:avLst/>
          </a:prstGeom>
          <a:solidFill>
            <a:srgbClr val="FFFFFF"/>
          </a:solidFill>
          <a:ln>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5A6B69"/>
                </a:solidFill>
              </a:rPr>
              <a:t>A8</a:t>
            </a:r>
          </a:p>
          <a:p>
            <a:r>
              <a:rPr sz="1200">
                <a:solidFill>
                  <a:srgbClr val="14201F"/>
                </a:solidFill>
              </a:rPr>
              <a:t>run the test</a:t>
            </a:r>
          </a:p>
        </p:txBody>
      </p:sp>
      <p:sp>
        <p:nvSpPr>
          <p:cNvPr id="13" name="Rounded Rectangle 12"/>
          <p:cNvSpPr/>
          <p:nvPr/>
        </p:nvSpPr>
        <p:spPr>
          <a:xfrm>
            <a:off x="7461504" y="3337560"/>
            <a:ext cx="2103120" cy="749808"/>
          </a:xfrm>
          <a:prstGeom prst="roundRect">
            <a:avLst/>
          </a:prstGeom>
          <a:solidFill>
            <a:srgbClr val="FFFFFF"/>
          </a:solidFill>
          <a:ln>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5A6B69"/>
                </a:solidFill>
              </a:rPr>
              <a:t>A9</a:t>
            </a:r>
          </a:p>
          <a:p>
            <a:r>
              <a:rPr sz="1200">
                <a:solidFill>
                  <a:srgbClr val="14201F"/>
                </a:solidFill>
              </a:rPr>
              <a:t>is it faithful?</a:t>
            </a:r>
          </a:p>
        </p:txBody>
      </p:sp>
      <p:sp>
        <p:nvSpPr>
          <p:cNvPr id="14" name="Rounded Rectangle 13"/>
          <p:cNvSpPr/>
          <p:nvPr/>
        </p:nvSpPr>
        <p:spPr>
          <a:xfrm>
            <a:off x="9710928" y="3337560"/>
            <a:ext cx="2103120" cy="749808"/>
          </a:xfrm>
          <a:prstGeom prst="roundRect">
            <a:avLst/>
          </a:prstGeom>
          <a:solidFill>
            <a:srgbClr val="FFFFFF"/>
          </a:solidFill>
          <a:ln>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5A6B69"/>
                </a:solidFill>
              </a:rPr>
              <a:t>A10</a:t>
            </a:r>
          </a:p>
          <a:p>
            <a:r>
              <a:rPr sz="1200">
                <a:solidFill>
                  <a:srgbClr val="14201F"/>
                </a:solidFill>
              </a:rPr>
              <a:t>publish it</a:t>
            </a:r>
          </a:p>
        </p:txBody>
      </p:sp>
      <p:sp>
        <p:nvSpPr>
          <p:cNvPr id="15" name="TextBox 14"/>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Two rules carry most of the weight. Nothing scores its own work, so the agent that runs a test never judges it. And every test is written down before the data is opened, so a disappointing answer stays the answer.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Six changes. No usable shortcut.</a:t>
            </a:r>
          </a:p>
        </p:txBody>
      </p:sp>
      <p:sp>
        <p:nvSpPr>
          <p:cNvPr id="5" name="Rounded Rectangle 4"/>
          <p:cNvSpPr/>
          <p:nvPr/>
        </p:nvSpPr>
        <p:spPr>
          <a:xfrm>
            <a:off x="1167231" y="2240280"/>
            <a:ext cx="1078992" cy="566928"/>
          </a:xfrm>
          <a:prstGeom prst="roundRect">
            <a:avLst/>
          </a:prstGeom>
          <a:solidFill>
            <a:srgbClr val="FFFFFF"/>
          </a:solidFill>
          <a:ln w="222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VFVS</a:t>
            </a:r>
          </a:p>
        </p:txBody>
      </p:sp>
      <p:sp>
        <p:nvSpPr>
          <p:cNvPr id="6" name="Rectangle 5"/>
          <p:cNvSpPr/>
          <p:nvPr/>
        </p:nvSpPr>
        <p:spPr>
          <a:xfrm>
            <a:off x="2246223" y="2496312"/>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30271" y="2240280"/>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VFMS</a:t>
            </a:r>
          </a:p>
        </p:txBody>
      </p:sp>
      <p:sp>
        <p:nvSpPr>
          <p:cNvPr id="8" name="Rectangle 7"/>
          <p:cNvSpPr/>
          <p:nvPr/>
        </p:nvSpPr>
        <p:spPr>
          <a:xfrm>
            <a:off x="3709263" y="2496312"/>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093311" y="2240280"/>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SFMS</a:t>
            </a:r>
          </a:p>
        </p:txBody>
      </p:sp>
      <p:sp>
        <p:nvSpPr>
          <p:cNvPr id="10" name="Rectangle 9"/>
          <p:cNvSpPr/>
          <p:nvPr/>
        </p:nvSpPr>
        <p:spPr>
          <a:xfrm>
            <a:off x="5172303" y="2496312"/>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556351" y="2240280"/>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SIMS</a:t>
            </a:r>
          </a:p>
        </p:txBody>
      </p:sp>
      <p:sp>
        <p:nvSpPr>
          <p:cNvPr id="12" name="Rectangle 11"/>
          <p:cNvSpPr/>
          <p:nvPr/>
        </p:nvSpPr>
        <p:spPr>
          <a:xfrm>
            <a:off x="6635343" y="2496312"/>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019391" y="2240280"/>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SIMG</a:t>
            </a:r>
          </a:p>
        </p:txBody>
      </p:sp>
      <p:sp>
        <p:nvSpPr>
          <p:cNvPr id="14" name="Rectangle 13"/>
          <p:cNvSpPr/>
          <p:nvPr/>
        </p:nvSpPr>
        <p:spPr>
          <a:xfrm>
            <a:off x="8098383" y="2496312"/>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82431" y="2240280"/>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SIKG</a:t>
            </a:r>
          </a:p>
        </p:txBody>
      </p:sp>
      <p:sp>
        <p:nvSpPr>
          <p:cNvPr id="16" name="Rectangle 15"/>
          <p:cNvSpPr/>
          <p:nvPr/>
        </p:nvSpPr>
        <p:spPr>
          <a:xfrm>
            <a:off x="9561423" y="2496312"/>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945471" y="2240280"/>
            <a:ext cx="1078992" cy="566928"/>
          </a:xfrm>
          <a:prstGeom prst="roundRect">
            <a:avLst/>
          </a:prstGeom>
          <a:solidFill>
            <a:srgbClr val="FFFFFF"/>
          </a:solidFill>
          <a:ln w="22225">
            <a:solidFill>
              <a:srgbClr val="625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AIKG</a:t>
            </a:r>
          </a:p>
        </p:txBody>
      </p:sp>
      <p:sp>
        <p:nvSpPr>
          <p:cNvPr id="18" name="Rounded Rectangle 17"/>
          <p:cNvSpPr/>
          <p:nvPr/>
        </p:nvSpPr>
        <p:spPr>
          <a:xfrm>
            <a:off x="1167231" y="3429000"/>
            <a:ext cx="1078992" cy="566928"/>
          </a:xfrm>
          <a:prstGeom prst="roundRect">
            <a:avLst/>
          </a:prstGeom>
          <a:solidFill>
            <a:srgbClr val="FFFFFF"/>
          </a:solidFill>
          <a:ln w="222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VFVS</a:t>
            </a:r>
          </a:p>
        </p:txBody>
      </p:sp>
      <p:sp>
        <p:nvSpPr>
          <p:cNvPr id="19" name="Rectangle 18"/>
          <p:cNvSpPr/>
          <p:nvPr/>
        </p:nvSpPr>
        <p:spPr>
          <a:xfrm>
            <a:off x="2246223" y="3685032"/>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630271" y="3429000"/>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VFMS</a:t>
            </a:r>
          </a:p>
        </p:txBody>
      </p:sp>
      <p:sp>
        <p:nvSpPr>
          <p:cNvPr id="21" name="Rectangle 20"/>
          <p:cNvSpPr/>
          <p:nvPr/>
        </p:nvSpPr>
        <p:spPr>
          <a:xfrm>
            <a:off x="3709263" y="3685032"/>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093311" y="3429000"/>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SFMS</a:t>
            </a:r>
          </a:p>
        </p:txBody>
      </p:sp>
      <p:sp>
        <p:nvSpPr>
          <p:cNvPr id="23" name="Rectangle 22"/>
          <p:cNvSpPr/>
          <p:nvPr/>
        </p:nvSpPr>
        <p:spPr>
          <a:xfrm>
            <a:off x="5172303" y="3685032"/>
            <a:ext cx="384048" cy="381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556351" y="3429000"/>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SIMS</a:t>
            </a:r>
          </a:p>
        </p:txBody>
      </p:sp>
      <p:sp>
        <p:nvSpPr>
          <p:cNvPr id="25" name="Rectangle 24"/>
          <p:cNvSpPr/>
          <p:nvPr/>
        </p:nvSpPr>
        <p:spPr>
          <a:xfrm>
            <a:off x="6635343" y="3685032"/>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019391" y="3429000"/>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SIMG</a:t>
            </a:r>
          </a:p>
        </p:txBody>
      </p:sp>
      <p:sp>
        <p:nvSpPr>
          <p:cNvPr id="27" name="Rectangle 26"/>
          <p:cNvSpPr/>
          <p:nvPr/>
        </p:nvSpPr>
        <p:spPr>
          <a:xfrm>
            <a:off x="8098383" y="3685032"/>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482431" y="3429000"/>
            <a:ext cx="1078992" cy="566928"/>
          </a:xfrm>
          <a:prstGeom prst="roundRect">
            <a:avLst/>
          </a:prstGeom>
          <a:solidFill>
            <a:srgbClr val="FFFFFF"/>
          </a:solidFill>
          <a:ln w="22225">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SIKG</a:t>
            </a:r>
          </a:p>
        </p:txBody>
      </p:sp>
      <p:sp>
        <p:nvSpPr>
          <p:cNvPr id="29" name="Rectangle 28"/>
          <p:cNvSpPr/>
          <p:nvPr/>
        </p:nvSpPr>
        <p:spPr>
          <a:xfrm>
            <a:off x="9561423" y="3685032"/>
            <a:ext cx="384048" cy="381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945471" y="3429000"/>
            <a:ext cx="1078992" cy="566928"/>
          </a:xfrm>
          <a:prstGeom prst="roundRect">
            <a:avLst/>
          </a:prstGeom>
          <a:solidFill>
            <a:srgbClr val="FFFFFF"/>
          </a:solidFill>
          <a:ln w="22225">
            <a:solidFill>
              <a:srgbClr val="625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14201F"/>
                </a:solidFill>
                <a:latin typeface="Consolas"/>
              </a:rPr>
              <a:t>AIKG</a:t>
            </a:r>
          </a:p>
        </p:txBody>
      </p:sp>
      <p:sp>
        <p:nvSpPr>
          <p:cNvPr id="31" name="TextBox 30"/>
          <p:cNvSpPr txBox="1"/>
          <p:nvPr/>
        </p:nvSpPr>
        <p:spPr>
          <a:xfrm>
            <a:off x="713232" y="2011680"/>
            <a:ext cx="4572000" cy="274320"/>
          </a:xfrm>
          <a:prstGeom prst="rect">
            <a:avLst/>
          </a:prstGeom>
          <a:noFill/>
        </p:spPr>
        <p:txBody>
          <a:bodyPr wrap="square">
            <a:spAutoFit/>
          </a:bodyPr>
          <a:lstStyle/>
          <a:p>
            <a:pPr algn="l">
              <a:lnSpc>
                <a:spcPct val="100000"/>
              </a:lnSpc>
            </a:pPr>
            <a:r>
              <a:rPr sz="1000" b="0">
                <a:solidFill>
                  <a:srgbClr val="5A6B69"/>
                </a:solidFill>
                <a:latin typeface="Segoe UI"/>
              </a:rPr>
              <a:t>at κ = 2, the setting used for the result</a:t>
            </a:r>
          </a:p>
        </p:txBody>
      </p:sp>
      <p:sp>
        <p:nvSpPr>
          <p:cNvPr id="32" name="TextBox 31"/>
          <p:cNvSpPr txBox="1"/>
          <p:nvPr/>
        </p:nvSpPr>
        <p:spPr>
          <a:xfrm>
            <a:off x="713232" y="3200400"/>
            <a:ext cx="4572000" cy="274320"/>
          </a:xfrm>
          <a:prstGeom prst="rect">
            <a:avLst/>
          </a:prstGeom>
          <a:noFill/>
        </p:spPr>
        <p:txBody>
          <a:bodyPr wrap="square">
            <a:spAutoFit/>
          </a:bodyPr>
          <a:lstStyle/>
          <a:p>
            <a:pPr algn="l">
              <a:lnSpc>
                <a:spcPct val="100000"/>
              </a:lnSpc>
            </a:pPr>
            <a:r>
              <a:rPr sz="1000" b="0">
                <a:solidFill>
                  <a:srgbClr val="EB6834"/>
                </a:solidFill>
                <a:latin typeface="Segoe UI"/>
              </a:rPr>
              <a:t>at κ = 2.45, one step stops being defensible</a:t>
            </a:r>
          </a:p>
        </p:txBody>
      </p:sp>
      <p:sp>
        <p:nvSpPr>
          <p:cNvPr id="33" name="TextBox 32"/>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Going straight needs 6 changes; every direct ordering drops downhill somewhere, so the usable path is a 6-step detour. Demand a little more margin and the route breaks. That is the product: it tells you which measurement would settle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Asking beats guessing.</a:t>
            </a:r>
          </a:p>
        </p:txBody>
      </p:sp>
      <p:pic>
        <p:nvPicPr>
          <p:cNvPr id="5" name="Picture 4" descr="cert_vs_assays.png"/>
          <p:cNvPicPr>
            <a:picLocks noChangeAspect="1"/>
          </p:cNvPicPr>
          <p:nvPr/>
        </p:nvPicPr>
        <p:blipFill>
          <a:blip r:embed="rId2"/>
          <a:stretch>
            <a:fillRect/>
          </a:stretch>
        </p:blipFill>
        <p:spPr>
          <a:xfrm>
            <a:off x="713232" y="1828800"/>
            <a:ext cx="10765231" cy="4140473"/>
          </a:xfrm>
          <a:prstGeom prst="rect">
            <a:avLst/>
          </a:prstGeom>
        </p:spPr>
      </p:pic>
      <p:sp>
        <p:nvSpPr>
          <p:cNvPr id="6" name="TextBox 5"/>
          <p:cNvSpPr txBox="1"/>
          <p:nvPr/>
        </p:nvSpPr>
        <p:spPr>
          <a:xfrm>
            <a:off x="713232" y="6024137"/>
            <a:ext cx="10765231" cy="457200"/>
          </a:xfrm>
          <a:prstGeom prst="rect">
            <a:avLst/>
          </a:prstGeom>
          <a:noFill/>
        </p:spPr>
        <p:txBody>
          <a:bodyPr wrap="square">
            <a:spAutoFit/>
          </a:bodyPr>
          <a:lstStyle/>
          <a:p>
            <a:pPr algn="l">
              <a:lnSpc>
                <a:spcPct val="110000"/>
              </a:lnSpc>
            </a:pPr>
            <a:r>
              <a:rPr sz="800" b="0">
                <a:solidFill>
                  <a:srgbClr val="5A6B69"/>
                </a:solidFill>
                <a:latin typeface="Segoe UI"/>
              </a:rPr>
              <a:t>Correct certificates against assays spent, 1,100 replay episodes, 11 policies  —  delphi-evolve artifacts/core/replay/cert_vs_assays.png, plotted by that project from its own replay episodes</a:t>
            </a:r>
          </a:p>
        </p:txBody>
      </p:sp>
      <p:sp>
        <p:nvSpPr>
          <p:cNvPr id="7" name="TextBox 6"/>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Same budget, same starting data, 100 runs each. Picking experiments to settle the question beats chasing the best-looking variant — and nobody issued a single false certificate.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Then we tried to break our own best result.</a:t>
            </a:r>
          </a:p>
        </p:txBody>
      </p:sp>
      <p:sp>
        <p:nvSpPr>
          <p:cNvPr id="5" name="TextBox 4"/>
          <p:cNvSpPr txBox="1"/>
          <p:nvPr/>
        </p:nvSpPr>
        <p:spPr>
          <a:xfrm>
            <a:off x="713232" y="2240280"/>
            <a:ext cx="2834640" cy="1280160"/>
          </a:xfrm>
          <a:prstGeom prst="rect">
            <a:avLst/>
          </a:prstGeom>
          <a:noFill/>
        </p:spPr>
        <p:txBody>
          <a:bodyPr wrap="square">
            <a:spAutoFit/>
          </a:bodyPr>
          <a:lstStyle/>
          <a:p>
            <a:pPr algn="l">
              <a:lnSpc>
                <a:spcPct val="100000"/>
              </a:lnSpc>
            </a:pPr>
            <a:r>
              <a:rPr sz="5400" b="1">
                <a:solidFill>
                  <a:srgbClr val="EB6834"/>
                </a:solidFill>
                <a:latin typeface="Segoe UI"/>
              </a:rPr>
              <a:t>18</a:t>
            </a:r>
          </a:p>
        </p:txBody>
      </p:sp>
      <p:sp>
        <p:nvSpPr>
          <p:cNvPr id="6" name="TextBox 5"/>
          <p:cNvSpPr txBox="1"/>
          <p:nvPr/>
        </p:nvSpPr>
        <p:spPr>
          <a:xfrm>
            <a:off x="713232" y="338328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extra wins on their panel, over 100 runs</a:t>
            </a:r>
          </a:p>
        </p:txBody>
      </p:sp>
      <p:sp>
        <p:nvSpPr>
          <p:cNvPr id="7" name="TextBox 6"/>
          <p:cNvSpPr txBox="1"/>
          <p:nvPr/>
        </p:nvSpPr>
        <p:spPr>
          <a:xfrm>
            <a:off x="3913632" y="2240280"/>
            <a:ext cx="2834640" cy="1280160"/>
          </a:xfrm>
          <a:prstGeom prst="rect">
            <a:avLst/>
          </a:prstGeom>
          <a:noFill/>
        </p:spPr>
        <p:txBody>
          <a:bodyPr wrap="square">
            <a:spAutoFit/>
          </a:bodyPr>
          <a:lstStyle/>
          <a:p>
            <a:pPr algn="l">
              <a:lnSpc>
                <a:spcPct val="100000"/>
              </a:lnSpc>
            </a:pPr>
            <a:r>
              <a:rPr sz="5400" b="1">
                <a:solidFill>
                  <a:srgbClr val="1BAF7A"/>
                </a:solidFill>
                <a:latin typeface="Segoe UI"/>
              </a:rPr>
              <a:t>1</a:t>
            </a:r>
          </a:p>
        </p:txBody>
      </p:sp>
      <p:sp>
        <p:nvSpPr>
          <p:cNvPr id="8" name="TextBox 7"/>
          <p:cNvSpPr txBox="1"/>
          <p:nvPr/>
        </p:nvSpPr>
        <p:spPr>
          <a:xfrm>
            <a:off x="3913632" y="338328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pair separating the top two on our 20 fresh pairs</a:t>
            </a:r>
          </a:p>
        </p:txBody>
      </p:sp>
      <p:sp>
        <p:nvSpPr>
          <p:cNvPr id="9" name="TextBox 8"/>
          <p:cNvSpPr txBox="1"/>
          <p:nvPr/>
        </p:nvSpPr>
        <p:spPr>
          <a:xfrm>
            <a:off x="7114032" y="2240280"/>
            <a:ext cx="2834640" cy="1280160"/>
          </a:xfrm>
          <a:prstGeom prst="rect">
            <a:avLst/>
          </a:prstGeom>
          <a:noFill/>
        </p:spPr>
        <p:txBody>
          <a:bodyPr wrap="square">
            <a:spAutoFit/>
          </a:bodyPr>
          <a:lstStyle/>
          <a:p>
            <a:pPr algn="l">
              <a:lnSpc>
                <a:spcPct val="100000"/>
              </a:lnSpc>
            </a:pPr>
            <a:r>
              <a:rPr sz="5400" b="1">
                <a:solidFill>
                  <a:srgbClr val="9AA6A3"/>
                </a:solidFill>
                <a:latin typeface="Segoe UI"/>
              </a:rPr>
              <a:t>80</a:t>
            </a:r>
          </a:p>
        </p:txBody>
      </p:sp>
      <p:sp>
        <p:nvSpPr>
          <p:cNvPr id="10" name="TextBox 9"/>
          <p:cNvSpPr txBox="1"/>
          <p:nvPr/>
        </p:nvSpPr>
        <p:spPr>
          <a:xfrm>
            <a:off x="7114032" y="338328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of their 100 runs start from the same genotype</a:t>
            </a:r>
          </a:p>
        </p:txBody>
      </p:sp>
      <p:sp>
        <p:nvSpPr>
          <p:cNvPr id="11" name="TextBox 10"/>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The ranking held; the margin did not. We pre-registered the panel before running it. A gap of 18 collapsed to 1 once the pairs were not chosen by the people being measured. The benchmark was partly measuring its own composition.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A group beats one agent — when attention is the bottleneck.</a:t>
            </a:r>
          </a:p>
        </p:txBody>
      </p:sp>
      <p:graphicFrame>
        <p:nvGraphicFramePr>
          <p:cNvPr id="5" name="Chart 4"/>
          <p:cNvGraphicFramePr>
            <a:graphicFrameLocks noGrp="1"/>
          </p:cNvGraphicFramePr>
          <p:nvPr/>
        </p:nvGraphicFramePr>
        <p:xfrm>
          <a:off x="713232" y="2011680"/>
          <a:ext cx="10490911" cy="3108960"/>
        </p:xfrm>
        <a:graphic>
          <a:graphicData uri="http://schemas.openxmlformats.org/drawingml/2006/chart">
            <c:chart xmlns:c="http://schemas.openxmlformats.org/drawingml/2006/chart" r:id="rId2"/>
          </a:graphicData>
        </a:graphic>
      </p:graphicFrame>
      <p:sp>
        <p:nvSpPr>
          <p:cNvPr id="6" name="TextBox 5"/>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Two pre-registered runs, same model and budget, out of 20 each. The single agent lost mostly by running out of room and leaving answers blank, not by reasoning worse. The same contest on the enzyme benchmark found no advantage at all, because there the members are deterministic code. Collaboration pays when the limit is attention.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Two independent swarms. Same claims. Six of eight agree.</a:t>
            </a:r>
          </a:p>
        </p:txBody>
      </p:sp>
      <p:sp>
        <p:nvSpPr>
          <p:cNvPr id="5" name="TextBox 4"/>
          <p:cNvSpPr txBox="1"/>
          <p:nvPr/>
        </p:nvSpPr>
        <p:spPr>
          <a:xfrm>
            <a:off x="713232" y="2103120"/>
            <a:ext cx="2834640" cy="1280160"/>
          </a:xfrm>
          <a:prstGeom prst="rect">
            <a:avLst/>
          </a:prstGeom>
          <a:noFill/>
        </p:spPr>
        <p:txBody>
          <a:bodyPr wrap="square">
            <a:spAutoFit/>
          </a:bodyPr>
          <a:lstStyle/>
          <a:p>
            <a:pPr algn="l">
              <a:lnSpc>
                <a:spcPct val="100000"/>
              </a:lnSpc>
            </a:pPr>
            <a:r>
              <a:rPr sz="5400" b="1">
                <a:solidFill>
                  <a:srgbClr val="1BAF7A"/>
                </a:solidFill>
                <a:latin typeface="Segoe UI"/>
              </a:rPr>
              <a:t>6</a:t>
            </a:r>
          </a:p>
        </p:txBody>
      </p:sp>
      <p:sp>
        <p:nvSpPr>
          <p:cNvPr id="6" name="TextBox 5"/>
          <p:cNvSpPr txBox="1"/>
          <p:nvPr/>
        </p:nvSpPr>
        <p:spPr>
          <a:xfrm>
            <a:off x="713232" y="324612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of 8 claims where both swarms reached the same verdict, working separately</a:t>
            </a:r>
          </a:p>
        </p:txBody>
      </p:sp>
      <p:sp>
        <p:nvSpPr>
          <p:cNvPr id="7" name="TextBox 6"/>
          <p:cNvSpPr txBox="1"/>
          <p:nvPr/>
        </p:nvSpPr>
        <p:spPr>
          <a:xfrm>
            <a:off x="3913632" y="2103120"/>
            <a:ext cx="2834640" cy="1280160"/>
          </a:xfrm>
          <a:prstGeom prst="rect">
            <a:avLst/>
          </a:prstGeom>
          <a:noFill/>
        </p:spPr>
        <p:txBody>
          <a:bodyPr wrap="square">
            <a:spAutoFit/>
          </a:bodyPr>
          <a:lstStyle/>
          <a:p>
            <a:pPr algn="l">
              <a:lnSpc>
                <a:spcPct val="100000"/>
              </a:lnSpc>
            </a:pPr>
            <a:r>
              <a:rPr sz="5400" b="1">
                <a:solidFill>
                  <a:srgbClr val="EB6834"/>
                </a:solidFill>
                <a:latin typeface="Segoe UI"/>
              </a:rPr>
              <a:t>2</a:t>
            </a:r>
          </a:p>
        </p:txBody>
      </p:sp>
      <p:sp>
        <p:nvSpPr>
          <p:cNvPr id="8" name="TextBox 7"/>
          <p:cNvSpPr txBox="1"/>
          <p:nvPr/>
        </p:nvSpPr>
        <p:spPr>
          <a:xfrm>
            <a:off x="3913632" y="324612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where they differ — both differences methodological, not factual</a:t>
            </a:r>
          </a:p>
        </p:txBody>
      </p:sp>
      <p:sp>
        <p:nvSpPr>
          <p:cNvPr id="9" name="TextBox 8"/>
          <p:cNvSpPr txBox="1"/>
          <p:nvPr/>
        </p:nvSpPr>
        <p:spPr>
          <a:xfrm>
            <a:off x="7114032" y="2103120"/>
            <a:ext cx="2834640" cy="1280160"/>
          </a:xfrm>
          <a:prstGeom prst="rect">
            <a:avLst/>
          </a:prstGeom>
          <a:noFill/>
        </p:spPr>
        <p:txBody>
          <a:bodyPr wrap="square">
            <a:spAutoFit/>
          </a:bodyPr>
          <a:lstStyle/>
          <a:p>
            <a:pPr algn="l">
              <a:lnSpc>
                <a:spcPct val="100000"/>
              </a:lnSpc>
            </a:pPr>
            <a:r>
              <a:rPr sz="5400" b="1">
                <a:solidFill>
                  <a:srgbClr val="14201F"/>
                </a:solidFill>
                <a:latin typeface="Segoe UI"/>
              </a:rPr>
              <a:t>129+16</a:t>
            </a:r>
          </a:p>
        </p:txBody>
      </p:sp>
      <p:sp>
        <p:nvSpPr>
          <p:cNvPr id="10" name="TextBox 9"/>
          <p:cNvSpPr txBox="1"/>
          <p:nvPr/>
        </p:nvSpPr>
        <p:spPr>
          <a:xfrm>
            <a:off x="7114032" y="324612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claim tests across the two swarms</a:t>
            </a:r>
          </a:p>
        </p:txBody>
      </p:sp>
      <p:sp>
        <p:nvSpPr>
          <p:cNvPr id="11" name="TextBox 10"/>
          <p:cNvSpPr txBox="1"/>
          <p:nvPr/>
        </p:nvSpPr>
        <p:spPr>
          <a:xfrm>
            <a:off x="713232" y="3977639"/>
            <a:ext cx="10765231" cy="384048"/>
          </a:xfrm>
          <a:prstGeom prst="rect">
            <a:avLst/>
          </a:prstGeom>
          <a:noFill/>
        </p:spPr>
        <p:txBody>
          <a:bodyPr wrap="square">
            <a:spAutoFit/>
          </a:bodyPr>
          <a:lstStyle/>
          <a:p>
            <a:pPr algn="l">
              <a:lnSpc>
                <a:spcPct val="100000"/>
              </a:lnSpc>
            </a:pPr>
            <a:r>
              <a:rPr sz="1100" b="0">
                <a:solidFill>
                  <a:srgbClr val="14201F"/>
                </a:solidFill>
                <a:latin typeface="Segoe UI"/>
              </a:rPr>
              <a:t>darwin1859-ch11-13:  ours supports  ·  theirs mixed  —  different operationalisation of the same sentence</a:t>
            </a:r>
          </a:p>
        </p:txBody>
      </p:sp>
      <p:sp>
        <p:nvSpPr>
          <p:cNvPr id="12" name="TextBox 11"/>
          <p:cNvSpPr txBox="1"/>
          <p:nvPr/>
        </p:nvSpPr>
        <p:spPr>
          <a:xfrm>
            <a:off x="713232" y="4379975"/>
            <a:ext cx="10765231" cy="384048"/>
          </a:xfrm>
          <a:prstGeom prst="rect">
            <a:avLst/>
          </a:prstGeom>
          <a:noFill/>
        </p:spPr>
        <p:txBody>
          <a:bodyPr wrap="square">
            <a:spAutoFit/>
          </a:bodyPr>
          <a:lstStyle/>
          <a:p>
            <a:pPr algn="l">
              <a:lnSpc>
                <a:spcPct val="100000"/>
              </a:lnSpc>
            </a:pPr>
            <a:r>
              <a:rPr sz="1100" b="0">
                <a:solidFill>
                  <a:srgbClr val="14201F"/>
                </a:solidFill>
                <a:latin typeface="Segoe UI"/>
              </a:rPr>
              <a:t>thompson1917-ch03-07:  ours supports  ·  theirs mixed  —  same data, same method, different pre-registered age range: 2.74 for ages 2-19 vs 2.41 once infants are pooled in</a:t>
            </a:r>
          </a:p>
        </p:txBody>
      </p:sp>
      <p:sp>
        <p:nvSpPr>
          <p:cNvPr id="13" name="TextBox 12"/>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Nobody coordinated these; the overlap was accidental. Then we chased the disagreements down. On Thompson's cube law the two swarms reproduce each other exactly once the age range matches: their own 2-20 year window gives 2.74, ours 2.76. The whole gap is infants, who scale near 2.1 and drag the pooled exponent to 2.41. The verdict turns on one pre-registered choice, not on anyone's method. Neither number is 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We broke the proofs on purpose.</a:t>
            </a:r>
          </a:p>
        </p:txBody>
      </p:sp>
      <p:sp>
        <p:nvSpPr>
          <p:cNvPr id="5" name="TextBox 4"/>
          <p:cNvSpPr txBox="1"/>
          <p:nvPr/>
        </p:nvSpPr>
        <p:spPr>
          <a:xfrm>
            <a:off x="713232" y="2286000"/>
            <a:ext cx="2834640" cy="1280160"/>
          </a:xfrm>
          <a:prstGeom prst="rect">
            <a:avLst/>
          </a:prstGeom>
          <a:noFill/>
        </p:spPr>
        <p:txBody>
          <a:bodyPr wrap="square">
            <a:spAutoFit/>
          </a:bodyPr>
          <a:lstStyle/>
          <a:p>
            <a:pPr algn="l">
              <a:lnSpc>
                <a:spcPct val="100000"/>
              </a:lnSpc>
            </a:pPr>
            <a:r>
              <a:rPr sz="5400" b="1">
                <a:solidFill>
                  <a:srgbClr val="1BAF7A"/>
                </a:solidFill>
                <a:latin typeface="Segoe UI"/>
              </a:rPr>
              <a:t>7/7</a:t>
            </a:r>
          </a:p>
        </p:txBody>
      </p:sp>
      <p:sp>
        <p:nvSpPr>
          <p:cNvPr id="6" name="TextBox 5"/>
          <p:cNvSpPr txBox="1"/>
          <p:nvPr/>
        </p:nvSpPr>
        <p:spPr>
          <a:xfrm>
            <a:off x="713232" y="342900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deliberate breakages correctly rejected</a:t>
            </a:r>
          </a:p>
        </p:txBody>
      </p:sp>
      <p:sp>
        <p:nvSpPr>
          <p:cNvPr id="7" name="TextBox 6"/>
          <p:cNvSpPr txBox="1"/>
          <p:nvPr/>
        </p:nvSpPr>
        <p:spPr>
          <a:xfrm>
            <a:off x="3913632" y="2286000"/>
            <a:ext cx="2834640" cy="1280160"/>
          </a:xfrm>
          <a:prstGeom prst="rect">
            <a:avLst/>
          </a:prstGeom>
          <a:noFill/>
        </p:spPr>
        <p:txBody>
          <a:bodyPr wrap="square">
            <a:spAutoFit/>
          </a:bodyPr>
          <a:lstStyle/>
          <a:p>
            <a:pPr algn="l">
              <a:lnSpc>
                <a:spcPct val="100000"/>
              </a:lnSpc>
            </a:pPr>
            <a:r>
              <a:rPr sz="5400" b="1">
                <a:solidFill>
                  <a:srgbClr val="14201F"/>
                </a:solidFill>
                <a:latin typeface="Segoe UI"/>
              </a:rPr>
              <a:t>clean</a:t>
            </a:r>
          </a:p>
        </p:txBody>
      </p:sp>
      <p:sp>
        <p:nvSpPr>
          <p:cNvPr id="8" name="TextBox 7"/>
          <p:cNvSpPr txBox="1"/>
          <p:nvPr/>
        </p:nvSpPr>
        <p:spPr>
          <a:xfrm>
            <a:off x="3913632" y="342900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rebuild from source, on our own copy</a:t>
            </a:r>
          </a:p>
        </p:txBody>
      </p:sp>
      <p:sp>
        <p:nvSpPr>
          <p:cNvPr id="9" name="TextBox 8"/>
          <p:cNvSpPr txBox="1"/>
          <p:nvPr/>
        </p:nvSpPr>
        <p:spPr>
          <a:xfrm>
            <a:off x="7114032" y="2286000"/>
            <a:ext cx="2834640" cy="1280160"/>
          </a:xfrm>
          <a:prstGeom prst="rect">
            <a:avLst/>
          </a:prstGeom>
          <a:noFill/>
        </p:spPr>
        <p:txBody>
          <a:bodyPr wrap="square">
            <a:spAutoFit/>
          </a:bodyPr>
          <a:lstStyle/>
          <a:p>
            <a:pPr algn="l">
              <a:lnSpc>
                <a:spcPct val="100000"/>
              </a:lnSpc>
            </a:pPr>
            <a:r>
              <a:rPr sz="5400" b="1">
                <a:solidFill>
                  <a:srgbClr val="2A78D6"/>
                </a:solidFill>
                <a:latin typeface="Segoe UI"/>
              </a:rPr>
              <a:t>8</a:t>
            </a:r>
          </a:p>
        </p:txBody>
      </p:sp>
      <p:sp>
        <p:nvSpPr>
          <p:cNvPr id="10" name="TextBox 9"/>
          <p:cNvSpPr txBox="1"/>
          <p:nvPr/>
        </p:nvSpPr>
        <p:spPr>
          <a:xfrm>
            <a:off x="7114032" y="342900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of our own laws machine-checked, zero gaps</a:t>
            </a:r>
          </a:p>
        </p:txBody>
      </p:sp>
      <p:sp>
        <p:nvSpPr>
          <p:cNvPr id="11" name="TextBox 10"/>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Reversing an inequality, weakening a wall, deleting a check, moving one measured number — each must stop the proof compiling, and each did. The theorems are general, not arithmetic about fixed constants. Found by checking rather than trusting: one receipt in the partner project credits a proof module that does not exist in its repository. The proofs are sound; the paperwork overstated the coverage.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Two things that did not work.</a:t>
            </a:r>
          </a:p>
        </p:txBody>
      </p:sp>
      <p:sp>
        <p:nvSpPr>
          <p:cNvPr id="5" name="TextBox 4"/>
          <p:cNvSpPr txBox="1"/>
          <p:nvPr/>
        </p:nvSpPr>
        <p:spPr>
          <a:xfrm>
            <a:off x="713232" y="1965960"/>
            <a:ext cx="2834640" cy="1280160"/>
          </a:xfrm>
          <a:prstGeom prst="rect">
            <a:avLst/>
          </a:prstGeom>
          <a:noFill/>
        </p:spPr>
        <p:txBody>
          <a:bodyPr wrap="square">
            <a:spAutoFit/>
          </a:bodyPr>
          <a:lstStyle/>
          <a:p>
            <a:pPr algn="l">
              <a:lnSpc>
                <a:spcPct val="100000"/>
              </a:lnSpc>
            </a:pPr>
            <a:r>
              <a:rPr sz="5400" b="1">
                <a:solidFill>
                  <a:srgbClr val="9AA6A3"/>
                </a:solidFill>
                <a:latin typeface="Segoe UI"/>
              </a:rPr>
              <a:t>0</a:t>
            </a:r>
          </a:p>
        </p:txBody>
      </p:sp>
      <p:sp>
        <p:nvSpPr>
          <p:cNvPr id="6" name="TextBox 5"/>
          <p:cNvSpPr txBox="1"/>
          <p:nvPr/>
        </p:nvSpPr>
        <p:spPr>
          <a:xfrm>
            <a:off x="713232" y="310896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benefit from a protein language model, across 5 sizes and 160,000 variants on an H100</a:t>
            </a:r>
          </a:p>
        </p:txBody>
      </p:sp>
      <p:sp>
        <p:nvSpPr>
          <p:cNvPr id="7" name="TextBox 6"/>
          <p:cNvSpPr txBox="1"/>
          <p:nvPr/>
        </p:nvSpPr>
        <p:spPr>
          <a:xfrm>
            <a:off x="3913632" y="1965960"/>
            <a:ext cx="2834640" cy="1280160"/>
          </a:xfrm>
          <a:prstGeom prst="rect">
            <a:avLst/>
          </a:prstGeom>
          <a:noFill/>
        </p:spPr>
        <p:txBody>
          <a:bodyPr wrap="square">
            <a:spAutoFit/>
          </a:bodyPr>
          <a:lstStyle/>
          <a:p>
            <a:pPr algn="l">
              <a:lnSpc>
                <a:spcPct val="100000"/>
              </a:lnSpc>
            </a:pPr>
            <a:r>
              <a:rPr sz="5400" b="1">
                <a:solidFill>
                  <a:srgbClr val="9AA6A3"/>
                </a:solidFill>
                <a:latin typeface="Segoe UI"/>
              </a:rPr>
              <a:t>0</a:t>
            </a:r>
          </a:p>
        </p:txBody>
      </p:sp>
      <p:sp>
        <p:nvSpPr>
          <p:cNvPr id="8" name="TextBox 7"/>
          <p:cNvSpPr txBox="1"/>
          <p:nvPr/>
        </p:nvSpPr>
        <p:spPr>
          <a:xfrm>
            <a:off x="3913632" y="310896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saving from reusing a claim, over an ordinary cache, within one context</a:t>
            </a:r>
          </a:p>
        </p:txBody>
      </p:sp>
      <p:sp>
        <p:nvSpPr>
          <p:cNvPr id="9" name="TextBox 8"/>
          <p:cNvSpPr txBox="1"/>
          <p:nvPr/>
        </p:nvSpPr>
        <p:spPr>
          <a:xfrm>
            <a:off x="713232" y="361188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A deliberately shuffled model scored as well as the real one. We lead with this because a null you can reproduce is worth more than a result you cannot — and because most teams will not show you theirs.</a:t>
            </a:r>
          </a:p>
        </p:txBody>
      </p:sp>
      <p:pic>
        <p:nvPicPr>
          <p:cNvPr id="10" name="Picture 9" descr="ablation.png"/>
          <p:cNvPicPr>
            <a:picLocks noChangeAspect="1"/>
          </p:cNvPicPr>
          <p:nvPr/>
        </p:nvPicPr>
        <p:blipFill>
          <a:blip r:embed="rId2"/>
          <a:stretch>
            <a:fillRect/>
          </a:stretch>
        </p:blipFill>
        <p:spPr>
          <a:xfrm>
            <a:off x="713232" y="4114800"/>
            <a:ext cx="5669280" cy="2180492"/>
          </a:xfrm>
          <a:prstGeom prst="rect">
            <a:avLst/>
          </a:prstGeom>
        </p:spPr>
      </p:pic>
      <p:sp>
        <p:nvSpPr>
          <p:cNvPr id="11" name="TextBox 10"/>
          <p:cNvSpPr txBox="1"/>
          <p:nvPr/>
        </p:nvSpPr>
        <p:spPr>
          <a:xfrm>
            <a:off x="713232" y="6350156"/>
            <a:ext cx="5669280" cy="457200"/>
          </a:xfrm>
          <a:prstGeom prst="rect">
            <a:avLst/>
          </a:prstGeom>
          <a:noFill/>
        </p:spPr>
        <p:txBody>
          <a:bodyPr wrap="square">
            <a:spAutoFit/>
          </a:bodyPr>
          <a:lstStyle/>
          <a:p>
            <a:pPr algn="l">
              <a:lnSpc>
                <a:spcPct val="110000"/>
              </a:lnSpc>
            </a:pPr>
            <a:r>
              <a:rPr sz="800" b="0">
                <a:solidFill>
                  <a:srgbClr val="5A6B69"/>
                </a:solidFill>
                <a:latin typeface="Segoe UI"/>
              </a:rPr>
              <a:t>Remove the learned model and the curves do not move  —  delphi-evolve artifacts/core/replay/ablation_cert_vs_assays.png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More of this is negative than positive.</a:t>
            </a:r>
          </a:p>
          <a:p>
            <a:pPr algn="l">
              <a:lnSpc>
                <a:spcPct val="92000"/>
              </a:lnSpc>
            </a:pPr>
            <a:r>
              <a:rPr sz="4000" b="1">
                <a:solidFill>
                  <a:srgbClr val="14201F"/>
                </a:solidFill>
                <a:latin typeface="Segoe UI"/>
              </a:rPr>
              <a:t>That is the result.</a:t>
            </a:r>
          </a:p>
        </p:txBody>
      </p:sp>
      <p:sp>
        <p:nvSpPr>
          <p:cNvPr id="5" name="Rectangle 4"/>
          <p:cNvSpPr/>
          <p:nvPr/>
        </p:nvSpPr>
        <p:spPr>
          <a:xfrm>
            <a:off x="713232" y="2057400"/>
            <a:ext cx="5619880" cy="310896"/>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423160"/>
            <a:ext cx="5619880" cy="548640"/>
          </a:xfrm>
          <a:prstGeom prst="rect">
            <a:avLst/>
          </a:prstGeom>
          <a:noFill/>
        </p:spPr>
        <p:txBody>
          <a:bodyPr wrap="square">
            <a:spAutoFit/>
          </a:bodyPr>
          <a:lstStyle/>
          <a:p>
            <a:pPr algn="l">
              <a:lnSpc>
                <a:spcPct val="110000"/>
              </a:lnSpc>
            </a:pPr>
            <a:r>
              <a:rPr sz="1000" b="0">
                <a:solidFill>
                  <a:srgbClr val="5A6B69"/>
                </a:solidFill>
                <a:latin typeface="Segoe UI"/>
              </a:rPr>
              <a:t>11  negative or self-limiting</a:t>
            </a:r>
          </a:p>
        </p:txBody>
      </p:sp>
      <p:sp>
        <p:nvSpPr>
          <p:cNvPr id="7" name="Rectangle 6"/>
          <p:cNvSpPr/>
          <p:nvPr/>
        </p:nvSpPr>
        <p:spPr>
          <a:xfrm>
            <a:off x="6352162" y="2057400"/>
            <a:ext cx="2031470" cy="31089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2162" y="2423160"/>
            <a:ext cx="2031470" cy="548640"/>
          </a:xfrm>
          <a:prstGeom prst="rect">
            <a:avLst/>
          </a:prstGeom>
          <a:noFill/>
        </p:spPr>
        <p:txBody>
          <a:bodyPr wrap="square">
            <a:spAutoFit/>
          </a:bodyPr>
          <a:lstStyle/>
          <a:p>
            <a:pPr algn="l">
              <a:lnSpc>
                <a:spcPct val="110000"/>
              </a:lnSpc>
            </a:pPr>
            <a:r>
              <a:rPr sz="1000" b="0">
                <a:solidFill>
                  <a:srgbClr val="5A6B69"/>
                </a:solidFill>
                <a:latin typeface="Segoe UI"/>
              </a:rPr>
              <a:t>4  methodological, found by accident</a:t>
            </a:r>
          </a:p>
        </p:txBody>
      </p:sp>
      <p:sp>
        <p:nvSpPr>
          <p:cNvPr id="9" name="Rectangle 8"/>
          <p:cNvSpPr/>
          <p:nvPr/>
        </p:nvSpPr>
        <p:spPr>
          <a:xfrm>
            <a:off x="8402682" y="2057400"/>
            <a:ext cx="3056730" cy="310896"/>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02682" y="2423160"/>
            <a:ext cx="3056730" cy="548640"/>
          </a:xfrm>
          <a:prstGeom prst="rect">
            <a:avLst/>
          </a:prstGeom>
          <a:noFill/>
        </p:spPr>
        <p:txBody>
          <a:bodyPr wrap="square">
            <a:spAutoFit/>
          </a:bodyPr>
          <a:lstStyle/>
          <a:p>
            <a:pPr algn="l">
              <a:lnSpc>
                <a:spcPct val="110000"/>
              </a:lnSpc>
            </a:pPr>
            <a:r>
              <a:rPr sz="1000" b="0">
                <a:solidFill>
                  <a:srgbClr val="5A6B69"/>
                </a:solidFill>
                <a:latin typeface="Segoe UI"/>
              </a:rPr>
              <a:t>6  supported</a:t>
            </a:r>
          </a:p>
        </p:txBody>
      </p:sp>
      <p:graphicFrame>
        <p:nvGraphicFramePr>
          <p:cNvPr id="11" name="Chart 10"/>
          <p:cNvGraphicFramePr>
            <a:graphicFrameLocks noGrp="1"/>
          </p:cNvGraphicFramePr>
          <p:nvPr/>
        </p:nvGraphicFramePr>
        <p:xfrm>
          <a:off x="713232" y="2971800"/>
          <a:ext cx="10490911" cy="2286000"/>
        </p:xfrm>
        <a:graphic>
          <a:graphicData uri="http://schemas.openxmlformats.org/drawingml/2006/chart">
            <c:chart xmlns:c="http://schemas.openxmlformats.org/drawingml/2006/chart" r:id="rId2"/>
          </a:graphicData>
        </a:graphic>
      </p:graphicFrame>
      <p:sp>
        <p:nvSpPr>
          <p:cNvPr id="12" name="Rounded Rectangle 11"/>
          <p:cNvSpPr/>
          <p:nvPr/>
        </p:nvSpPr>
        <p:spPr>
          <a:xfrm>
            <a:off x="713232" y="5440680"/>
            <a:ext cx="10765231" cy="91440"/>
          </a:xfrm>
          <a:prstGeom prst="roundRect">
            <a:avLst/>
          </a:prstGeom>
          <a:solidFill>
            <a:srgbClr val="FFFFFF"/>
          </a:solidFill>
          <a:ln>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wrap="square">
            <a:spAutoFit/>
          </a:bodyPr>
          <a:lstStyle/>
          <a:p>
            <a:pPr algn="ctr"/>
            <a:r>
              <a:rPr sz="1100">
                <a:solidFill>
                  <a:srgbClr val="14201F"/>
                </a:solidFill>
                <a:latin typeface="Segoe UI"/>
              </a:rPr>
              <a:t>4 claims corrected in one day — 3 found by our own checks, 1 by a collaborator's independent cross-check: The gja5a fin-length link, withdrawn (caught by our own cell-to-cell check); The flying-fish genome claim, wrong (caught by the project lead, not the thread that published it); A declared null, withdrawn (caught by our own curation pass, not the thread that wrote it); An overstated “settled”, withdrawn (caught by a collaborator’s independent cross-check). Every one is a record or a log entry, never a silent edit to history.</a:t>
            </a:r>
          </a:p>
        </p:txBody>
      </p:sp>
      <p:sp>
        <p:nvSpPr>
          <p:cNvPr id="13" name="TextBox 12"/>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This is an argument about method, not an apology. 15 of 21 records are not a win for the hypothesis we set out to test: 11 are negative or self-limiting and 4 are methodological findings we only have because something broke. A pipeline that mostly produces negatives, corrects itself in public and refuses statistics its sample cannot support is making a stronger claim about its method than one that reports only wins — because only the first kind can be wrong out loud.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We pre-registered a test of a designed organism.</a:t>
            </a:r>
          </a:p>
          <a:p>
            <a:pPr algn="l">
              <a:lnSpc>
                <a:spcPct val="92000"/>
              </a:lnSpc>
            </a:pPr>
            <a:r>
              <a:rPr sz="4000" b="1">
                <a:solidFill>
                  <a:srgbClr val="14201F"/>
                </a:solidFill>
                <a:latin typeface="Segoe UI"/>
              </a:rPr>
              <a:t>It failed.</a:t>
            </a:r>
          </a:p>
        </p:txBody>
      </p:sp>
      <p:sp>
        <p:nvSpPr>
          <p:cNvPr id="5" name="Rounded Rectangle 4"/>
          <p:cNvSpPr/>
          <p:nvPr/>
        </p:nvSpPr>
        <p:spPr>
          <a:xfrm>
            <a:off x="713232" y="2011680"/>
            <a:ext cx="10765231" cy="91440"/>
          </a:xfrm>
          <a:prstGeom prst="roundRect">
            <a:avLst/>
          </a:prstGeom>
          <a:solidFill>
            <a:srgbClr val="FFFFFF"/>
          </a:solidFill>
          <a:ln>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wrap="square">
            <a:spAutoFit/>
          </a:bodyPr>
          <a:lstStyle/>
          <a:p>
            <a:pPr algn="ctr"/>
            <a:r>
              <a:rPr sz="1100">
                <a:solidFill>
                  <a:srgbClr val="14201F"/>
                </a:solidFill>
                <a:latin typeface="Segoe UI"/>
              </a:rPr>
              <a:t>SAY THIS FIRST: the design is not ours. It is Daane et al. 2021's own germline double heterozygote — built, scored and published by them, with their own claim that it phenocopies flying-fish fin proportions. Our contribution is the validation arithmetic, not the organism. We did not design a flying fish.</a:t>
            </a:r>
          </a:p>
        </p:txBody>
      </p:sp>
      <p:sp>
        <p:nvSpPr>
          <p:cNvPr id="6" name="TextBox 5"/>
          <p:cNvSpPr txBox="1"/>
          <p:nvPr/>
        </p:nvSpPr>
        <p:spPr>
          <a:xfrm>
            <a:off x="713232" y="3017520"/>
            <a:ext cx="7564831" cy="310896"/>
          </a:xfrm>
          <a:prstGeom prst="rect">
            <a:avLst/>
          </a:prstGeom>
          <a:noFill/>
        </p:spPr>
        <p:txBody>
          <a:bodyPr wrap="square">
            <a:spAutoFit/>
          </a:bodyPr>
          <a:lstStyle/>
          <a:p>
            <a:pPr algn="l">
              <a:lnSpc>
                <a:spcPct val="100000"/>
              </a:lnSpc>
            </a:pPr>
            <a:r>
              <a:rPr sz="1400" b="1">
                <a:solidFill>
                  <a:srgbClr val="14201F"/>
                </a:solidFill>
                <a:latin typeface="Segoe UI"/>
              </a:rPr>
              <a:t>Morphological axes that could be scored at all</a:t>
            </a:r>
          </a:p>
        </p:txBody>
      </p:sp>
      <p:sp>
        <p:nvSpPr>
          <p:cNvPr id="7" name="TextBox 6"/>
          <p:cNvSpPr txBox="1"/>
          <p:nvPr/>
        </p:nvSpPr>
        <p:spPr>
          <a:xfrm>
            <a:off x="8552383" y="3017520"/>
            <a:ext cx="2926080" cy="310896"/>
          </a:xfrm>
          <a:prstGeom prst="rect">
            <a:avLst/>
          </a:prstGeom>
          <a:noFill/>
        </p:spPr>
        <p:txBody>
          <a:bodyPr wrap="square">
            <a:spAutoFit/>
          </a:bodyPr>
          <a:lstStyle/>
          <a:p>
            <a:pPr algn="r">
              <a:lnSpc>
                <a:spcPct val="100000"/>
              </a:lnSpc>
            </a:pPr>
            <a:r>
              <a:rPr sz="1400" b="1">
                <a:solidFill>
                  <a:srgbClr val="EB6834"/>
                </a:solidFill>
                <a:latin typeface="Segoe UI"/>
              </a:rPr>
              <a:t>1 of 10</a:t>
            </a:r>
          </a:p>
        </p:txBody>
      </p:sp>
      <p:sp>
        <p:nvSpPr>
          <p:cNvPr id="8" name="TextBox 7"/>
          <p:cNvSpPr txBox="1"/>
          <p:nvPr/>
        </p:nvSpPr>
        <p:spPr>
          <a:xfrm>
            <a:off x="713232" y="3291840"/>
            <a:ext cx="10399471" cy="749808"/>
          </a:xfrm>
          <a:prstGeom prst="rect">
            <a:avLst/>
          </a:prstGeom>
          <a:noFill/>
        </p:spPr>
        <p:txBody>
          <a:bodyPr wrap="square">
            <a:spAutoFit/>
          </a:bodyPr>
          <a:lstStyle/>
          <a:p>
            <a:pPr algn="l">
              <a:lnSpc>
                <a:spcPct val="112000"/>
              </a:lnSpc>
            </a:pPr>
            <a:r>
              <a:rPr sz="1000" b="0">
                <a:solidFill>
                  <a:srgbClr val="5A6B69"/>
                </a:solidFill>
                <a:latin typeface="Segoe UI"/>
              </a:rPr>
              <a:t>The axis the design is about, pectoral fin length / SL, cannot be scored on either side: no published adult zebrafish value exists, and the design's value exists only inside a figure we refused to digitise.</a:t>
            </a:r>
          </a:p>
        </p:txBody>
      </p:sp>
      <p:sp>
        <p:nvSpPr>
          <p:cNvPr id="9" name="TextBox 8"/>
          <p:cNvSpPr txBox="1"/>
          <p:nvPr/>
        </p:nvSpPr>
        <p:spPr>
          <a:xfrm>
            <a:off x="713232" y="4005072"/>
            <a:ext cx="7564831" cy="310896"/>
          </a:xfrm>
          <a:prstGeom prst="rect">
            <a:avLst/>
          </a:prstGeom>
          <a:noFill/>
        </p:spPr>
        <p:txBody>
          <a:bodyPr wrap="square">
            <a:spAutoFit/>
          </a:bodyPr>
          <a:lstStyle/>
          <a:p>
            <a:pPr algn="l">
              <a:lnSpc>
                <a:spcPct val="100000"/>
              </a:lnSpc>
            </a:pPr>
            <a:r>
              <a:rPr sz="1400" b="1">
                <a:solidFill>
                  <a:srgbClr val="14201F"/>
                </a:solidFill>
                <a:latin typeface="Segoe UI"/>
              </a:rPr>
              <a:t>Loci known to differ in flying fishes that the design TOUCHES — a near miss, not a hit</a:t>
            </a:r>
          </a:p>
        </p:txBody>
      </p:sp>
      <p:sp>
        <p:nvSpPr>
          <p:cNvPr id="10" name="TextBox 9"/>
          <p:cNvSpPr txBox="1"/>
          <p:nvPr/>
        </p:nvSpPr>
        <p:spPr>
          <a:xfrm>
            <a:off x="8552383" y="4005072"/>
            <a:ext cx="2926080" cy="310896"/>
          </a:xfrm>
          <a:prstGeom prst="rect">
            <a:avLst/>
          </a:prstGeom>
          <a:noFill/>
        </p:spPr>
        <p:txBody>
          <a:bodyPr wrap="square">
            <a:spAutoFit/>
          </a:bodyPr>
          <a:lstStyle/>
          <a:p>
            <a:pPr algn="r">
              <a:lnSpc>
                <a:spcPct val="100000"/>
              </a:lnSpc>
            </a:pPr>
            <a:r>
              <a:rPr sz="1400" b="1">
                <a:solidFill>
                  <a:srgbClr val="EB6834"/>
                </a:solidFill>
                <a:latin typeface="Segoe UI"/>
              </a:rPr>
              <a:t>1 of 74  ·  1.4%</a:t>
            </a:r>
          </a:p>
        </p:txBody>
      </p:sp>
      <p:sp>
        <p:nvSpPr>
          <p:cNvPr id="11" name="TextBox 10"/>
          <p:cNvSpPr txBox="1"/>
          <p:nvPr/>
        </p:nvSpPr>
        <p:spPr>
          <a:xfrm>
            <a:off x="713232" y="4279392"/>
            <a:ext cx="10399471" cy="749808"/>
          </a:xfrm>
          <a:prstGeom prst="rect">
            <a:avLst/>
          </a:prstGeom>
          <a:noFill/>
        </p:spPr>
        <p:txBody>
          <a:bodyPr wrap="square">
            <a:spAutoFit/>
          </a:bodyPr>
          <a:lstStyle/>
          <a:p>
            <a:pPr algn="l">
              <a:lnSpc>
                <a:spcPct val="112000"/>
              </a:lnSpc>
            </a:pPr>
            <a:r>
              <a:rPr sz="1000" b="0">
                <a:solidFill>
                  <a:srgbClr val="5A6B69"/>
                </a:solidFill>
                <a:latin typeface="Segoe UI"/>
              </a:rPr>
              <a:t>Same gene, different variant. lat4a/slc43a2a is genuinely in Daane's convergent-substitution sheet, so the design touches the right gene — but the zebrafish allele this project's design uses is T200K; the convergent substitution reported in flying fishes is F326L. Different sites, different species, and not the same variant. The design changes a different position in the same transporter, not the change flying fishes carry. The other half of the design, kcnh2a, appears nowhere in that workbook.</a:t>
            </a:r>
          </a:p>
        </p:txBody>
      </p:sp>
      <p:sp>
        <p:nvSpPr>
          <p:cNvPr id="12" name="TextBox 11"/>
          <p:cNvSpPr txBox="1"/>
          <p:nvPr/>
        </p:nvSpPr>
        <p:spPr>
          <a:xfrm>
            <a:off x="713232" y="4992624"/>
            <a:ext cx="7564831" cy="310896"/>
          </a:xfrm>
          <a:prstGeom prst="rect">
            <a:avLst/>
          </a:prstGeom>
          <a:noFill/>
        </p:spPr>
        <p:txBody>
          <a:bodyPr wrap="square">
            <a:spAutoFit/>
          </a:bodyPr>
          <a:lstStyle/>
          <a:p>
            <a:pPr algn="l">
              <a:lnSpc>
                <a:spcPct val="100000"/>
              </a:lnSpc>
            </a:pPr>
            <a:r>
              <a:rPr sz="1400" b="1">
                <a:solidFill>
                  <a:srgbClr val="14201F"/>
                </a:solidFill>
                <a:latin typeface="Segoe UI"/>
              </a:rPr>
              <a:t>The Lean constraint gate</a:t>
            </a:r>
          </a:p>
        </p:txBody>
      </p:sp>
      <p:sp>
        <p:nvSpPr>
          <p:cNvPr id="13" name="TextBox 12"/>
          <p:cNvSpPr txBox="1"/>
          <p:nvPr/>
        </p:nvSpPr>
        <p:spPr>
          <a:xfrm>
            <a:off x="8552383" y="4992624"/>
            <a:ext cx="2926080" cy="310896"/>
          </a:xfrm>
          <a:prstGeom prst="rect">
            <a:avLst/>
          </a:prstGeom>
          <a:noFill/>
        </p:spPr>
        <p:txBody>
          <a:bodyPr wrap="square">
            <a:spAutoFit/>
          </a:bodyPr>
          <a:lstStyle/>
          <a:p>
            <a:pPr algn="r">
              <a:lnSpc>
                <a:spcPct val="100000"/>
              </a:lnSpc>
            </a:pPr>
            <a:r>
              <a:rPr sz="1400" b="1">
                <a:solidFill>
                  <a:srgbClr val="EB6834"/>
                </a:solidFill>
                <a:latin typeface="Segoe UI"/>
              </a:rPr>
              <a:t>FAILS, both arms</a:t>
            </a:r>
          </a:p>
        </p:txBody>
      </p:sp>
      <p:sp>
        <p:nvSpPr>
          <p:cNvPr id="14" name="TextBox 13"/>
          <p:cNvSpPr txBox="1"/>
          <p:nvPr/>
        </p:nvSpPr>
        <p:spPr>
          <a:xfrm>
            <a:off x="713232" y="5266944"/>
            <a:ext cx="10399471" cy="749808"/>
          </a:xfrm>
          <a:prstGeom prst="rect">
            <a:avLst/>
          </a:prstGeom>
          <a:noFill/>
        </p:spPr>
        <p:txBody>
          <a:bodyPr wrap="square">
            <a:spAutoFit/>
          </a:bodyPr>
          <a:lstStyle/>
          <a:p>
            <a:pPr algn="l">
              <a:lnSpc>
                <a:spcPct val="112000"/>
              </a:lnSpc>
            </a:pPr>
            <a:r>
              <a:rPr sz="1000" b="0">
                <a:solidFill>
                  <a:srgbClr val="5A6B69"/>
                </a:solidFill>
                <a:latin typeface="Segoe UI"/>
              </a:rPr>
              <a:t>It fails for the design (2 violated) and for the real flying fish (1 violated), so failing does not separate the design from its target. The gate is weak: only 3 of 21 rows are decided by a single design, and it tests nothing aerodynamic, nothing developmental and nothing about fins.</a:t>
            </a:r>
          </a:p>
        </p:txBody>
      </p:sp>
      <p:sp>
        <p:nvSpPr>
          <p:cNvPr id="15" name="TextBox 14"/>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Dropped as unsupported, not disproved, under the pre-registration's own rule. The honest framing is also the stronger one: we built the apparatus to ask whether a designed organism matches a real one, wrote the test down first, ran it, and it failed — which is why we can now say what designing an organism would require. At a single scored axis none of the pre-registered FAIL triggers could fire, so the letter of the rule would have awarded "close" by default; the agent refused that and logged it as a deviation against the design's own interest. Pre-registration hashed before the first number, sha256 ea6f99eb25b48cdb… (verified unaltered).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We said there was no genome. There is.</a:t>
            </a:r>
          </a:p>
        </p:txBody>
      </p:sp>
      <p:sp>
        <p:nvSpPr>
          <p:cNvPr id="5" name="TextBox 4"/>
          <p:cNvSpPr txBox="1"/>
          <p:nvPr/>
        </p:nvSpPr>
        <p:spPr>
          <a:xfrm>
            <a:off x="713232" y="2103120"/>
            <a:ext cx="2834640" cy="1280160"/>
          </a:xfrm>
          <a:prstGeom prst="rect">
            <a:avLst/>
          </a:prstGeom>
          <a:noFill/>
        </p:spPr>
        <p:txBody>
          <a:bodyPr wrap="square">
            <a:spAutoFit/>
          </a:bodyPr>
          <a:lstStyle/>
          <a:p>
            <a:pPr algn="l">
              <a:lnSpc>
                <a:spcPct val="100000"/>
              </a:lnSpc>
            </a:pPr>
            <a:r>
              <a:rPr sz="5400" b="1">
                <a:solidFill>
                  <a:srgbClr val="2A78D6"/>
                </a:solidFill>
                <a:latin typeface="Segoe UI"/>
              </a:rPr>
              <a:t>23,611</a:t>
            </a:r>
          </a:p>
        </p:txBody>
      </p:sp>
      <p:sp>
        <p:nvSpPr>
          <p:cNvPr id="6" name="TextBox 5"/>
          <p:cNvSpPr txBox="1"/>
          <p:nvPr/>
        </p:nvSpPr>
        <p:spPr>
          <a:xfrm>
            <a:off x="713232" y="324612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protein-coding genes predicted in the flying-fish assembly</a:t>
            </a:r>
          </a:p>
        </p:txBody>
      </p:sp>
      <p:sp>
        <p:nvSpPr>
          <p:cNvPr id="7" name="TextBox 6"/>
          <p:cNvSpPr txBox="1"/>
          <p:nvPr/>
        </p:nvSpPr>
        <p:spPr>
          <a:xfrm>
            <a:off x="3913632" y="2103120"/>
            <a:ext cx="2834640" cy="1280160"/>
          </a:xfrm>
          <a:prstGeom prst="rect">
            <a:avLst/>
          </a:prstGeom>
          <a:noFill/>
        </p:spPr>
        <p:txBody>
          <a:bodyPr wrap="square">
            <a:spAutoFit/>
          </a:bodyPr>
          <a:lstStyle/>
          <a:p>
            <a:pPr algn="l">
              <a:lnSpc>
                <a:spcPct val="100000"/>
              </a:lnSpc>
            </a:pPr>
            <a:r>
              <a:rPr sz="5400" b="1">
                <a:solidFill>
                  <a:srgbClr val="1BAF7A"/>
                </a:solidFill>
                <a:latin typeface="Segoe UI"/>
              </a:rPr>
              <a:t>99.5%</a:t>
            </a:r>
          </a:p>
        </p:txBody>
      </p:sp>
      <p:sp>
        <p:nvSpPr>
          <p:cNvPr id="8" name="TextBox 7"/>
          <p:cNvSpPr txBox="1"/>
          <p:nvPr/>
        </p:nvSpPr>
        <p:spPr>
          <a:xfrm>
            <a:off x="3913632" y="324612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of them carry at least one database hit (23,492 genes)</a:t>
            </a:r>
          </a:p>
        </p:txBody>
      </p:sp>
      <p:sp>
        <p:nvSpPr>
          <p:cNvPr id="9" name="TextBox 8"/>
          <p:cNvSpPr txBox="1"/>
          <p:nvPr/>
        </p:nvSpPr>
        <p:spPr>
          <a:xfrm>
            <a:off x="7114032" y="2103120"/>
            <a:ext cx="2834640" cy="1280160"/>
          </a:xfrm>
          <a:prstGeom prst="rect">
            <a:avLst/>
          </a:prstGeom>
          <a:noFill/>
        </p:spPr>
        <p:txBody>
          <a:bodyPr wrap="square">
            <a:spAutoFit/>
          </a:bodyPr>
          <a:lstStyle/>
          <a:p>
            <a:pPr algn="l">
              <a:lnSpc>
                <a:spcPct val="100000"/>
              </a:lnSpc>
            </a:pPr>
            <a:r>
              <a:rPr sz="5400" b="1">
                <a:solidFill>
                  <a:srgbClr val="EB6834"/>
                </a:solidFill>
                <a:latin typeface="Segoe UI"/>
              </a:rPr>
              <a:t>0</a:t>
            </a:r>
          </a:p>
        </p:txBody>
      </p:sp>
      <p:sp>
        <p:nvSpPr>
          <p:cNvPr id="10" name="TextBox 9"/>
          <p:cNvSpPr txBox="1"/>
          <p:nvPr/>
        </p:nvSpPr>
        <p:spPr>
          <a:xfrm>
            <a:off x="7114032" y="324612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occurrences of "RNA-seq" or "transcriptome" in that paper, counted</a:t>
            </a:r>
          </a:p>
        </p:txBody>
      </p:sp>
      <p:sp>
        <p:nvSpPr>
          <p:cNvPr id="11" name="Rounded Rectangle 10"/>
          <p:cNvSpPr/>
          <p:nvPr/>
        </p:nvSpPr>
        <p:spPr>
          <a:xfrm>
            <a:off x="713232" y="3886200"/>
            <a:ext cx="10765231" cy="91440"/>
          </a:xfrm>
          <a:prstGeom prst="roundRect">
            <a:avLst/>
          </a:prstGeom>
          <a:solidFill>
            <a:srgbClr val="FFFFFF"/>
          </a:solidFill>
          <a:ln>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wrap="square">
            <a:spAutoFit/>
          </a:bodyPr>
          <a:lstStyle/>
          <a:p>
            <a:pPr algn="ctr"/>
            <a:r>
              <a:rPr sz="1100">
                <a:solidFill>
                  <a:srgbClr val="14201F"/>
                </a:solidFill>
                <a:latin typeface="Segoe UI"/>
              </a:rPr>
              <a:t>What we said, and what changed: until this weekend our own files, our brief to ten subagents and the public dashboard all said that almost no molecular data exists for flying fish. That was wrong, and it was load-bearing — it was repeated on every number in the map. 9 files were rewritten and the error recorded as its own citable correction.   And the caveat on our own headline: "functionally annotated" means one sequence-similarity or domain hit. TrEMBL alone supplies 23,477 of the hits and is automatically generated and unreviewed, so 99.5% measures database coverage, not understood function.</a:t>
            </a:r>
          </a:p>
        </p:txBody>
      </p:sp>
      <p:sp>
        <p:nvSpPr>
          <p:cNvPr id="12" name="TextBox 11"/>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This is the cleanest statement of the gap we face. The genes are known; what is missing is measurement. That paper reports no expression data, no mutant, no kinetics and no regulatory network, and the zero is established by counting strings in the full text rather than by inference. Xu et al. 2021, Frontiers in Genetics 12:695700, doi 10.3389/fgene.2021.695700.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84.4% annotated. 0% parameterised.</a:t>
            </a:r>
          </a:p>
        </p:txBody>
      </p:sp>
      <p:sp>
        <p:nvSpPr>
          <p:cNvPr id="5" name="TextBox 4"/>
          <p:cNvSpPr txBox="1"/>
          <p:nvPr/>
        </p:nvSpPr>
        <p:spPr>
          <a:xfrm>
            <a:off x="713232" y="2057400"/>
            <a:ext cx="2834640" cy="1280160"/>
          </a:xfrm>
          <a:prstGeom prst="rect">
            <a:avLst/>
          </a:prstGeom>
          <a:noFill/>
        </p:spPr>
        <p:txBody>
          <a:bodyPr wrap="square">
            <a:spAutoFit/>
          </a:bodyPr>
          <a:lstStyle/>
          <a:p>
            <a:pPr algn="l">
              <a:lnSpc>
                <a:spcPct val="100000"/>
              </a:lnSpc>
            </a:pPr>
            <a:r>
              <a:rPr sz="5400" b="1">
                <a:solidFill>
                  <a:srgbClr val="EB6834"/>
                </a:solidFill>
                <a:latin typeface="Segoe UI"/>
              </a:rPr>
              <a:t>0</a:t>
            </a:r>
          </a:p>
        </p:txBody>
      </p:sp>
      <p:sp>
        <p:nvSpPr>
          <p:cNvPr id="6" name="TextBox 5"/>
          <p:cNvSpPr txBox="1"/>
          <p:nvPr/>
        </p:nvSpPr>
        <p:spPr>
          <a:xfrm>
            <a:off x="713232" y="320040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of the 18,733 numbers a minimal dynamical model of our 4,571 genes would need</a:t>
            </a:r>
          </a:p>
        </p:txBody>
      </p:sp>
      <p:sp>
        <p:nvSpPr>
          <p:cNvPr id="7" name="TextBox 6"/>
          <p:cNvSpPr txBox="1"/>
          <p:nvPr/>
        </p:nvSpPr>
        <p:spPr>
          <a:xfrm>
            <a:off x="3913632" y="2057400"/>
            <a:ext cx="2834640" cy="1280160"/>
          </a:xfrm>
          <a:prstGeom prst="rect">
            <a:avLst/>
          </a:prstGeom>
          <a:noFill/>
        </p:spPr>
        <p:txBody>
          <a:bodyPr wrap="square">
            <a:spAutoFit/>
          </a:bodyPr>
          <a:lstStyle/>
          <a:p>
            <a:pPr algn="l">
              <a:lnSpc>
                <a:spcPct val="100000"/>
              </a:lnSpc>
            </a:pPr>
            <a:r>
              <a:rPr sz="5400" b="1">
                <a:solidFill>
                  <a:srgbClr val="1BAF7A"/>
                </a:solidFill>
                <a:latin typeface="Segoe UI"/>
              </a:rPr>
              <a:t>84.4%</a:t>
            </a:r>
          </a:p>
        </p:txBody>
      </p:sp>
      <p:sp>
        <p:nvSpPr>
          <p:cNvPr id="8" name="TextBox 7"/>
          <p:cNvSpPr txBox="1"/>
          <p:nvPr/>
        </p:nvSpPr>
        <p:spPr>
          <a:xfrm>
            <a:off x="3913632" y="320040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of the same genes carry a functional annotation (3,857 of 4,571)</a:t>
            </a:r>
          </a:p>
        </p:txBody>
      </p:sp>
      <p:sp>
        <p:nvSpPr>
          <p:cNvPr id="9" name="TextBox 8"/>
          <p:cNvSpPr txBox="1"/>
          <p:nvPr/>
        </p:nvSpPr>
        <p:spPr>
          <a:xfrm>
            <a:off x="7114032" y="2057400"/>
            <a:ext cx="2834640" cy="1280160"/>
          </a:xfrm>
          <a:prstGeom prst="rect">
            <a:avLst/>
          </a:prstGeom>
          <a:noFill/>
        </p:spPr>
        <p:txBody>
          <a:bodyPr wrap="square">
            <a:spAutoFit/>
          </a:bodyPr>
          <a:lstStyle/>
          <a:p>
            <a:pPr algn="l">
              <a:lnSpc>
                <a:spcPct val="100000"/>
              </a:lnSpc>
            </a:pPr>
            <a:r>
              <a:rPr sz="5400" b="1">
                <a:solidFill>
                  <a:srgbClr val="9AA6A3"/>
                </a:solidFill>
                <a:latin typeface="Segoe UI"/>
              </a:rPr>
              <a:t>449</a:t>
            </a:r>
          </a:p>
        </p:txBody>
      </p:sp>
      <p:sp>
        <p:nvSpPr>
          <p:cNvPr id="10" name="TextBox 9"/>
          <p:cNvSpPr txBox="1"/>
          <p:nvPr/>
        </p:nvSpPr>
        <p:spPr>
          <a:xfrm>
            <a:off x="7114032" y="320040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of 10,444,735 gene pairs with any direct experimental support (0.00430%)</a:t>
            </a:r>
          </a:p>
        </p:txBody>
      </p:sp>
      <p:graphicFrame>
        <p:nvGraphicFramePr>
          <p:cNvPr id="11" name="Chart 10"/>
          <p:cNvGraphicFramePr>
            <a:graphicFrameLocks noGrp="1"/>
          </p:cNvGraphicFramePr>
          <p:nvPr/>
        </p:nvGraphicFramePr>
        <p:xfrm>
          <a:off x="713232" y="3840480"/>
          <a:ext cx="10490911" cy="1737360"/>
        </p:xfrm>
        <a:graphic>
          <a:graphicData uri="http://schemas.openxmlformats.org/drawingml/2006/chart">
            <c:chart xmlns:c="http://schemas.openxmlformats.org/drawingml/2006/chart" r:id="rId2"/>
          </a:graphicData>
        </a:graphic>
      </p:graphicFrame>
      <p:sp>
        <p:nvSpPr>
          <p:cNvPr id="12" name="TextBox 11"/>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This is not a complaint about missing data; it is a measurement nobody had made. Annotation says this gene is involved in this process. A simulation needs this many molecules, decaying this fast, binding this tightly — and the first does not constrain the second. Relaxed as far as honesty allows, accepting a relative abundance figure in place of an absolute one, it is 2,972 of 18,733 (15.9%), and every one of those is that same single substitute. For scale: the whole-cell model that predicts phenotype from genotype used 525 genes and over 900 primary sources, for a single cell with no anatomy and no development (Karr 2012, 10.1016/j.cell.2012.05.044).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Sustained powered flight is eliminated,</a:t>
            </a:r>
          </a:p>
          <a:p>
            <a:pPr algn="l">
              <a:lnSpc>
                <a:spcPct val="92000"/>
              </a:lnSpc>
            </a:pPr>
            <a:r>
              <a:rPr sz="4000" b="1">
                <a:solidFill>
                  <a:srgbClr val="14201F"/>
                </a:solidFill>
                <a:latin typeface="Segoe UI"/>
              </a:rPr>
              <a:t>with a certificate.</a:t>
            </a:r>
          </a:p>
        </p:txBody>
      </p:sp>
      <p:sp>
        <p:nvSpPr>
          <p:cNvPr id="5" name="TextBox 4"/>
          <p:cNvSpPr txBox="1"/>
          <p:nvPr/>
        </p:nvSpPr>
        <p:spPr>
          <a:xfrm>
            <a:off x="713232" y="2057400"/>
            <a:ext cx="2834640" cy="1280160"/>
          </a:xfrm>
          <a:prstGeom prst="rect">
            <a:avLst/>
          </a:prstGeom>
          <a:noFill/>
        </p:spPr>
        <p:txBody>
          <a:bodyPr wrap="square">
            <a:spAutoFit/>
          </a:bodyPr>
          <a:lstStyle/>
          <a:p>
            <a:pPr algn="l">
              <a:lnSpc>
                <a:spcPct val="100000"/>
              </a:lnSpc>
            </a:pPr>
            <a:r>
              <a:rPr sz="5400" b="1">
                <a:solidFill>
                  <a:srgbClr val="1BAF7A"/>
                </a:solidFill>
                <a:latin typeface="Segoe UI"/>
              </a:rPr>
              <a:t>0.0357 W</a:t>
            </a:r>
          </a:p>
        </p:txBody>
      </p:sp>
      <p:sp>
        <p:nvSpPr>
          <p:cNvPr id="6" name="TextBox 5"/>
          <p:cNvSpPr txBox="1"/>
          <p:nvPr/>
        </p:nvSpPr>
        <p:spPr>
          <a:xfrm>
            <a:off x="713232" y="320040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aerobic ceiling on the proxy values we commit to</a:t>
            </a:r>
          </a:p>
        </p:txBody>
      </p:sp>
      <p:sp>
        <p:nvSpPr>
          <p:cNvPr id="7" name="TextBox 6"/>
          <p:cNvSpPr txBox="1"/>
          <p:nvPr/>
        </p:nvSpPr>
        <p:spPr>
          <a:xfrm>
            <a:off x="3913632" y="2057400"/>
            <a:ext cx="2834640" cy="1280160"/>
          </a:xfrm>
          <a:prstGeom prst="rect">
            <a:avLst/>
          </a:prstGeom>
          <a:noFill/>
        </p:spPr>
        <p:txBody>
          <a:bodyPr wrap="square">
            <a:spAutoFit/>
          </a:bodyPr>
          <a:lstStyle/>
          <a:p>
            <a:pPr algn="l">
              <a:lnSpc>
                <a:spcPct val="100000"/>
              </a:lnSpc>
            </a:pPr>
            <a:r>
              <a:rPr sz="5400" b="1">
                <a:solidFill>
                  <a:srgbClr val="EB6834"/>
                </a:solidFill>
                <a:latin typeface="Segoe UI"/>
              </a:rPr>
              <a:t>1.347 W</a:t>
            </a:r>
          </a:p>
        </p:txBody>
      </p:sp>
      <p:sp>
        <p:nvSpPr>
          <p:cNvPr id="8" name="TextBox 7"/>
          <p:cNvSpPr txBox="1"/>
          <p:nvPr/>
        </p:nvSpPr>
        <p:spPr>
          <a:xfrm>
            <a:off x="3913632" y="320040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needed for level flight at 10 m/s at the measured L/D of 4.37</a:t>
            </a:r>
          </a:p>
        </p:txBody>
      </p:sp>
      <p:sp>
        <p:nvSpPr>
          <p:cNvPr id="9" name="TextBox 8"/>
          <p:cNvSpPr txBox="1"/>
          <p:nvPr/>
        </p:nvSpPr>
        <p:spPr>
          <a:xfrm>
            <a:off x="7114032" y="2057400"/>
            <a:ext cx="2834640" cy="1280160"/>
          </a:xfrm>
          <a:prstGeom prst="rect">
            <a:avLst/>
          </a:prstGeom>
          <a:noFill/>
        </p:spPr>
        <p:txBody>
          <a:bodyPr wrap="square">
            <a:spAutoFit/>
          </a:bodyPr>
          <a:lstStyle/>
          <a:p>
            <a:pPr algn="l">
              <a:lnSpc>
                <a:spcPct val="100000"/>
              </a:lnSpc>
            </a:pPr>
            <a:r>
              <a:rPr sz="5400" b="1">
                <a:solidFill>
                  <a:srgbClr val="EB6834"/>
                </a:solidFill>
                <a:latin typeface="Segoe UI"/>
              </a:rPr>
              <a:t>38x  /  29x</a:t>
            </a:r>
          </a:p>
        </p:txBody>
      </p:sp>
      <p:sp>
        <p:nvSpPr>
          <p:cNvPr id="10" name="TextBox 9"/>
          <p:cNvSpPr txBox="1"/>
          <p:nvPr/>
        </p:nvSpPr>
        <p:spPr>
          <a:xfrm>
            <a:off x="7114032" y="320040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short on those proxies, and on the widest combination the measured record allows — both checked by the Lean kernel</a:t>
            </a:r>
          </a:p>
        </p:txBody>
      </p:sp>
      <p:sp>
        <p:nvSpPr>
          <p:cNvPr id="11" name="TextBox 10"/>
          <p:cNvSpPr txBox="1"/>
          <p:nvPr/>
        </p:nvSpPr>
        <p:spPr>
          <a:xfrm>
            <a:off x="713232" y="3794760"/>
            <a:ext cx="6766560" cy="274320"/>
          </a:xfrm>
          <a:prstGeom prst="rect">
            <a:avLst/>
          </a:prstGeom>
          <a:noFill/>
        </p:spPr>
        <p:txBody>
          <a:bodyPr wrap="square">
            <a:spAutoFit/>
          </a:bodyPr>
          <a:lstStyle/>
          <a:p>
            <a:pPr algn="l">
              <a:lnSpc>
                <a:spcPct val="100000"/>
              </a:lnSpc>
            </a:pPr>
            <a:r>
              <a:rPr sz="1100" b="0">
                <a:solidFill>
                  <a:srgbClr val="14201F"/>
                </a:solidFill>
                <a:latin typeface="Segoe UI"/>
              </a:rPr>
              <a:t>the measured specimen at the low end of the field speeds, 10 m/s</a:t>
            </a:r>
          </a:p>
        </p:txBody>
      </p:sp>
      <p:sp>
        <p:nvSpPr>
          <p:cNvPr id="12" name="TextBox 11"/>
          <p:cNvSpPr txBox="1"/>
          <p:nvPr/>
        </p:nvSpPr>
        <p:spPr>
          <a:xfrm>
            <a:off x="7637983" y="3794760"/>
            <a:ext cx="3840480" cy="274320"/>
          </a:xfrm>
          <a:prstGeom prst="rect">
            <a:avLst/>
          </a:prstGeom>
          <a:noFill/>
        </p:spPr>
        <p:txBody>
          <a:bodyPr wrap="square">
            <a:spAutoFit/>
          </a:bodyPr>
          <a:lstStyle/>
          <a:p>
            <a:pPr algn="r">
              <a:lnSpc>
                <a:spcPct val="100000"/>
              </a:lnSpc>
            </a:pPr>
            <a:r>
              <a:rPr sz="1100" b="1">
                <a:solidFill>
                  <a:srgbClr val="EB6834"/>
                </a:solidFill>
                <a:latin typeface="Segoe UI"/>
              </a:rPr>
              <a:t>1.347 W needed  ·  38x short</a:t>
            </a:r>
          </a:p>
        </p:txBody>
      </p:sp>
      <p:sp>
        <p:nvSpPr>
          <p:cNvPr id="13" name="TextBox 12"/>
          <p:cNvSpPr txBox="1"/>
          <p:nvPr/>
        </p:nvSpPr>
        <p:spPr>
          <a:xfrm>
            <a:off x="713232" y="4105656"/>
            <a:ext cx="6766560" cy="274320"/>
          </a:xfrm>
          <a:prstGeom prst="rect">
            <a:avLst/>
          </a:prstGeom>
          <a:noFill/>
        </p:spPr>
        <p:txBody>
          <a:bodyPr wrap="square">
            <a:spAutoFit/>
          </a:bodyPr>
          <a:lstStyle/>
          <a:p>
            <a:pPr algn="l">
              <a:lnSpc>
                <a:spcPct val="100000"/>
              </a:lnSpc>
            </a:pPr>
            <a:r>
              <a:rPr sz="1100" b="0">
                <a:solidFill>
                  <a:srgbClr val="14201F"/>
                </a:solidFill>
                <a:latin typeface="Segoe UI"/>
              </a:rPr>
              <a:t>the hypothetical flier, 7 m/s  [illustrative numbers]</a:t>
            </a:r>
          </a:p>
        </p:txBody>
      </p:sp>
      <p:sp>
        <p:nvSpPr>
          <p:cNvPr id="14" name="TextBox 13"/>
          <p:cNvSpPr txBox="1"/>
          <p:nvPr/>
        </p:nvSpPr>
        <p:spPr>
          <a:xfrm>
            <a:off x="7637983" y="4105656"/>
            <a:ext cx="3840480" cy="274320"/>
          </a:xfrm>
          <a:prstGeom prst="rect">
            <a:avLst/>
          </a:prstGeom>
          <a:noFill/>
        </p:spPr>
        <p:txBody>
          <a:bodyPr wrap="square">
            <a:spAutoFit/>
          </a:bodyPr>
          <a:lstStyle/>
          <a:p>
            <a:pPr algn="r">
              <a:lnSpc>
                <a:spcPct val="100000"/>
              </a:lnSpc>
            </a:pPr>
            <a:r>
              <a:rPr sz="1100" b="1">
                <a:solidFill>
                  <a:srgbClr val="EB6834"/>
                </a:solidFill>
                <a:latin typeface="Segoe UI"/>
              </a:rPr>
              <a:t>0.943 W needed  ·  26x short</a:t>
            </a:r>
          </a:p>
        </p:txBody>
      </p:sp>
      <p:sp>
        <p:nvSpPr>
          <p:cNvPr id="15" name="TextBox 14"/>
          <p:cNvSpPr txBox="1"/>
          <p:nvPr/>
        </p:nvSpPr>
        <p:spPr>
          <a:xfrm>
            <a:off x="713232" y="4416552"/>
            <a:ext cx="6766560" cy="274320"/>
          </a:xfrm>
          <a:prstGeom prst="rect">
            <a:avLst/>
          </a:prstGeom>
          <a:noFill/>
        </p:spPr>
        <p:txBody>
          <a:bodyPr wrap="square">
            <a:spAutoFit/>
          </a:bodyPr>
          <a:lstStyle/>
          <a:p>
            <a:pPr algn="l">
              <a:lnSpc>
                <a:spcPct val="100000"/>
              </a:lnSpc>
            </a:pPr>
            <a:r>
              <a:rPr sz="1100" b="0">
                <a:solidFill>
                  <a:srgbClr val="14201F"/>
                </a:solidFill>
                <a:latin typeface="Segoe UI"/>
              </a:rPr>
              <a:t>the measured specimen at its minimum flying speed, 9.85 m/s</a:t>
            </a:r>
          </a:p>
        </p:txBody>
      </p:sp>
      <p:sp>
        <p:nvSpPr>
          <p:cNvPr id="16" name="TextBox 15"/>
          <p:cNvSpPr txBox="1"/>
          <p:nvPr/>
        </p:nvSpPr>
        <p:spPr>
          <a:xfrm>
            <a:off x="7637983" y="4416552"/>
            <a:ext cx="3840480" cy="274320"/>
          </a:xfrm>
          <a:prstGeom prst="rect">
            <a:avLst/>
          </a:prstGeom>
          <a:noFill/>
        </p:spPr>
        <p:txBody>
          <a:bodyPr wrap="square">
            <a:spAutoFit/>
          </a:bodyPr>
          <a:lstStyle/>
          <a:p>
            <a:pPr algn="r">
              <a:lnSpc>
                <a:spcPct val="100000"/>
              </a:lnSpc>
            </a:pPr>
            <a:r>
              <a:rPr sz="1100" b="1">
                <a:solidFill>
                  <a:srgbClr val="EB6834"/>
                </a:solidFill>
                <a:latin typeface="Segoe UI"/>
              </a:rPr>
              <a:t>1.327 W needed  ·  37x short</a:t>
            </a:r>
          </a:p>
        </p:txBody>
      </p:sp>
      <p:sp>
        <p:nvSpPr>
          <p:cNvPr id="17" name="Rounded Rectangle 16"/>
          <p:cNvSpPr/>
          <p:nvPr/>
        </p:nvSpPr>
        <p:spPr>
          <a:xfrm>
            <a:off x="713232" y="4846320"/>
            <a:ext cx="10765231" cy="91440"/>
          </a:xfrm>
          <a:prstGeom prst="roundRect">
            <a:avLst/>
          </a:prstGeom>
          <a:solidFill>
            <a:srgbClr val="FFFFFF"/>
          </a:solidFill>
          <a:ln>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spAutoFit/>
          </a:bodyPr>
          <a:lstStyle/>
          <a:p>
            <a:pPr algn="ctr"/>
            <a:r>
              <a:rPr sz="1100">
                <a:solidFill>
                  <a:srgbClr val="14201F"/>
                </a:solidFill>
                <a:latin typeface="Segoe UI"/>
              </a:rPr>
              <a:t>TWO CEILINGS, AND THE SMALLER MULTIPLIER IS THE STRONGER CLAIM. 0.0357 W is the product of the four proxy values this candidate commits to, so 38x rules flight out for THAT ONE PARAMETERISATION. 0.0458 W instead takes the MAXIMUM of each measured teleost range (eta &lt;= 0.15, E &lt;= 19.35 J/ml, Q &lt;= 0.075 ml/s, Ca &lt;= 0.21 ml/ml), so it is necessarily the larger ceiling and the smaller multiplier — and 29x rules it out for EVERY animal the measured record allows. Neither supersedes the other: different quantities, both kernel-checked. Reject it and C14 still rules, but only on the particular proxies a candidate commits, not on every teleost.</a:t>
            </a:r>
          </a:p>
        </p:txBody>
      </p:sp>
      <p:sp>
        <p:nvSpPr>
          <p:cNvPr id="18" name="TextBox 17"/>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What it rests on: Fick's principle, aerobic power rather than burst power, and teleost proxy values — no flying-fish physiology exists, so the proxies are what the elimination rests on. What it does NOT bound: gliding (a flying fish is a glider), and short burst flight. 3 of 3 candidates eliminated by theorems the compiler accepted; 41 other constraints on the same candidates could not be fired at all, for want of an input. A proof about a model, not a fact about a fish.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What a fish that really flew would need,</a:t>
            </a:r>
          </a:p>
          <a:p>
            <a:pPr algn="l">
              <a:lnSpc>
                <a:spcPct val="92000"/>
              </a:lnSpc>
            </a:pPr>
            <a:r>
              <a:rPr sz="4000" b="1">
                <a:solidFill>
                  <a:srgbClr val="14201F"/>
                </a:solidFill>
                <a:latin typeface="Segoe UI"/>
              </a:rPr>
              <a:t>and no animal has.</a:t>
            </a:r>
          </a:p>
        </p:txBody>
      </p:sp>
      <p:sp>
        <p:nvSpPr>
          <p:cNvPr id="5" name="TextBox 4"/>
          <p:cNvSpPr txBox="1"/>
          <p:nvPr/>
        </p:nvSpPr>
        <p:spPr>
          <a:xfrm>
            <a:off x="713232" y="2194560"/>
            <a:ext cx="2834640" cy="1280160"/>
          </a:xfrm>
          <a:prstGeom prst="rect">
            <a:avLst/>
          </a:prstGeom>
          <a:noFill/>
        </p:spPr>
        <p:txBody>
          <a:bodyPr wrap="square">
            <a:spAutoFit/>
          </a:bodyPr>
          <a:lstStyle/>
          <a:p>
            <a:pPr algn="l">
              <a:lnSpc>
                <a:spcPct val="100000"/>
              </a:lnSpc>
            </a:pPr>
            <a:r>
              <a:rPr sz="5400" b="1">
                <a:solidFill>
                  <a:srgbClr val="EB6834"/>
                </a:solidFill>
                <a:latin typeface="Segoe UI"/>
              </a:rPr>
              <a:t>29.5%</a:t>
            </a:r>
          </a:p>
        </p:txBody>
      </p:sp>
      <p:sp>
        <p:nvSpPr>
          <p:cNvPr id="6" name="TextBox 5"/>
          <p:cNvSpPr txBox="1"/>
          <p:nvPr/>
        </p:nvSpPr>
        <p:spPr>
          <a:xfrm>
            <a:off x="713232" y="333756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of the required flight muscle actually fits inside the body at the pectoral girdle, in the geometry the specification itself implies</a:t>
            </a:r>
          </a:p>
        </p:txBody>
      </p:sp>
      <p:sp>
        <p:nvSpPr>
          <p:cNvPr id="7" name="TextBox 6"/>
          <p:cNvSpPr txBox="1"/>
          <p:nvPr/>
        </p:nvSpPr>
        <p:spPr>
          <a:xfrm>
            <a:off x="3913632" y="2194560"/>
            <a:ext cx="2834640" cy="1280160"/>
          </a:xfrm>
          <a:prstGeom prst="rect">
            <a:avLst/>
          </a:prstGeom>
          <a:noFill/>
        </p:spPr>
        <p:txBody>
          <a:bodyPr wrap="square">
            <a:spAutoFit/>
          </a:bodyPr>
          <a:lstStyle/>
          <a:p>
            <a:pPr algn="l">
              <a:lnSpc>
                <a:spcPct val="100000"/>
              </a:lnSpc>
            </a:pPr>
            <a:r>
              <a:rPr sz="5400" b="1">
                <a:solidFill>
                  <a:srgbClr val="EB6834"/>
                </a:solidFill>
                <a:latin typeface="Segoe UI"/>
              </a:rPr>
              <a:t>2,365</a:t>
            </a:r>
          </a:p>
        </p:txBody>
      </p:sp>
      <p:sp>
        <p:nvSpPr>
          <p:cNvPr id="8" name="TextBox 7"/>
          <p:cNvSpPr txBox="1"/>
          <p:nvPr/>
        </p:nvSpPr>
        <p:spPr>
          <a:xfrm>
            <a:off x="3913632" y="3337560"/>
            <a:ext cx="2834640" cy="1005840"/>
          </a:xfrm>
          <a:prstGeom prst="rect">
            <a:avLst/>
          </a:prstGeom>
          <a:noFill/>
        </p:spPr>
        <p:txBody>
          <a:bodyPr wrap="square">
            <a:spAutoFit/>
          </a:bodyPr>
          <a:lstStyle/>
          <a:p>
            <a:pPr algn="l">
              <a:lnSpc>
                <a:spcPct val="112000"/>
              </a:lnSpc>
            </a:pPr>
            <a:r>
              <a:rPr sz="1100" b="0">
                <a:solidFill>
                  <a:srgbClr val="5A6B69"/>
                </a:solidFill>
                <a:latin typeface="Segoe UI"/>
              </a:rPr>
              <a:t>ml/min/kg of cardiac output — 36x the sourced fish maximum</a:t>
            </a:r>
          </a:p>
        </p:txBody>
      </p:sp>
      <p:sp>
        <p:nvSpPr>
          <p:cNvPr id="9" name="Rounded Rectangle 8"/>
          <p:cNvSpPr/>
          <p:nvPr/>
        </p:nvSpPr>
        <p:spPr>
          <a:xfrm>
            <a:off x="713232" y="4206240"/>
            <a:ext cx="10765231" cy="91440"/>
          </a:xfrm>
          <a:prstGeom prst="roundRect">
            <a:avLst/>
          </a:prstGeom>
          <a:solidFill>
            <a:srgbClr val="FFFFFF"/>
          </a:solidFill>
          <a:ln>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wrap="square">
            <a:spAutoFit/>
          </a:bodyPr>
          <a:lstStyle/>
          <a:p>
            <a:pPr algn="ctr"/>
            <a:r>
              <a:rPr sz="1100">
                <a:solidFill>
                  <a:srgbClr val="14201F"/>
                </a:solidFill>
                <a:latin typeface="Segoe UI"/>
              </a:rPr>
              <a:t>A flight muscle that does not fit in the animal. At 16% of a 60 g body and ordinary muscle density that is 9.06e-6 m³ of muscle, and only 29.5% of it fits inside the body at the pectoral girdle. That is a geometric consequence of the specification, not an opinion — and building the design as real geometry was itself a test, which caught something three rounds of equations did not.</a:t>
            </a:r>
          </a:p>
        </p:txBody>
      </p:sp>
      <p:sp>
        <p:nvSpPr>
          <p:cNvPr id="10" name="TextBox 9"/>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The flier is hypothetical throughout and now carries a requirement nothing can satisfy. It is not a validated design, and nothing in this deck presents it as one.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One glide cannot explain the long flights.</a:t>
            </a:r>
          </a:p>
        </p:txBody>
      </p:sp>
      <p:graphicFrame>
        <p:nvGraphicFramePr>
          <p:cNvPr id="5" name="Chart 4"/>
          <p:cNvGraphicFramePr>
            <a:graphicFrameLocks noGrp="1"/>
          </p:cNvGraphicFramePr>
          <p:nvPr/>
        </p:nvGraphicFramePr>
        <p:xfrm>
          <a:off x="713232" y="2103120"/>
          <a:ext cx="10490911" cy="2834640"/>
        </p:xfrm>
        <a:graphic>
          <a:graphicData uri="http://schemas.openxmlformats.org/drawingml/2006/chart">
            <c:chart xmlns:c="http://schemas.openxmlformats.org/drawingml/2006/chart" r:id="rId2"/>
          </a:graphicData>
        </a:graphic>
      </p:graphicFrame>
      <p:sp>
        <p:nvSpPr>
          <p:cNvPr id="6" name="TextBox 5"/>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A steady glide can only trade height for distance, so its range is at most height times lift-to-drag. At the measured ratio that is 35 m from the greatest recorded flight height, or 40.7 m once the measured ground effect is allowed — and the field reports 50 m. So the single-glide reading is eliminated, and taxiing re-launches or wind must account for the rest. The field figures are quoted second-hand and labelled secondary; the 400 m one is already described by its own source as a sequence of taxiing and glides, not one glide. Our simulator reproduces that shape: 6 glides and 288 m in 23.4 s, from a model changed after seeing results, so that run is exploratory and labelled so.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Four sequence results. Three of them say no.</a:t>
            </a:r>
          </a:p>
        </p:txBody>
      </p:sp>
      <p:sp>
        <p:nvSpPr>
          <p:cNvPr id="5" name="TextBox 4"/>
          <p:cNvSpPr txBox="1"/>
          <p:nvPr/>
        </p:nvSpPr>
        <p:spPr>
          <a:xfrm>
            <a:off x="713232" y="2011680"/>
            <a:ext cx="7564831" cy="310896"/>
          </a:xfrm>
          <a:prstGeom prst="rect">
            <a:avLst/>
          </a:prstGeom>
          <a:noFill/>
        </p:spPr>
        <p:txBody>
          <a:bodyPr wrap="square">
            <a:spAutoFit/>
          </a:bodyPr>
          <a:lstStyle/>
          <a:p>
            <a:pPr algn="l">
              <a:lnSpc>
                <a:spcPct val="100000"/>
              </a:lnSpc>
            </a:pPr>
            <a:r>
              <a:rPr sz="1400" b="1">
                <a:solidFill>
                  <a:srgbClr val="14201F"/>
                </a:solidFill>
                <a:latin typeface="Segoe UI"/>
              </a:rPr>
              <a:t>Gliders do not converge</a:t>
            </a:r>
          </a:p>
        </p:txBody>
      </p:sp>
      <p:sp>
        <p:nvSpPr>
          <p:cNvPr id="6" name="TextBox 5"/>
          <p:cNvSpPr txBox="1"/>
          <p:nvPr/>
        </p:nvSpPr>
        <p:spPr>
          <a:xfrm>
            <a:off x="8552383" y="2011680"/>
            <a:ext cx="2926080" cy="310896"/>
          </a:xfrm>
          <a:prstGeom prst="rect">
            <a:avLst/>
          </a:prstGeom>
          <a:noFill/>
        </p:spPr>
        <p:txBody>
          <a:bodyPr wrap="square">
            <a:spAutoFit/>
          </a:bodyPr>
          <a:lstStyle/>
          <a:p>
            <a:pPr algn="r">
              <a:lnSpc>
                <a:spcPct val="100000"/>
              </a:lnSpc>
            </a:pPr>
            <a:r>
              <a:rPr sz="1400" b="1">
                <a:solidFill>
                  <a:srgbClr val="EB6834"/>
                </a:solidFill>
                <a:latin typeface="Segoe UI"/>
              </a:rPr>
              <a:t>11 vs 17</a:t>
            </a:r>
          </a:p>
        </p:txBody>
      </p:sp>
      <p:sp>
        <p:nvSpPr>
          <p:cNvPr id="7" name="TextBox 6"/>
          <p:cNvSpPr txBox="1"/>
          <p:nvPr/>
        </p:nvSpPr>
        <p:spPr>
          <a:xfrm>
            <a:off x="713232" y="2286000"/>
            <a:ext cx="10399471" cy="713232"/>
          </a:xfrm>
          <a:prstGeom prst="rect">
            <a:avLst/>
          </a:prstGeom>
          <a:noFill/>
        </p:spPr>
        <p:txBody>
          <a:bodyPr wrap="square">
            <a:spAutoFit/>
          </a:bodyPr>
          <a:lstStyle/>
          <a:p>
            <a:pPr algn="l">
              <a:lnSpc>
                <a:spcPct val="112000"/>
              </a:lnSpc>
            </a:pPr>
            <a:r>
              <a:rPr sz="1000" b="0">
                <a:solidFill>
                  <a:srgbClr val="5A6B69"/>
                </a:solidFill>
                <a:latin typeface="Segoe UI"/>
              </a:rPr>
              <a:t>Across 9 fin genes, 11 alignment columns show a residue shared by independent gliders and absent from each lineage's non-gliding relative — against 17 for the same count with the roles swapped. Similarity follows ancestry, not gliding. The genes were picked from fin biology, so this says nothing about the rest of the genome.</a:t>
            </a:r>
          </a:p>
        </p:txBody>
      </p:sp>
      <p:sp>
        <p:nvSpPr>
          <p:cNvPr id="8" name="TextBox 7"/>
          <p:cNvSpPr txBox="1"/>
          <p:nvPr/>
        </p:nvSpPr>
        <p:spPr>
          <a:xfrm>
            <a:off x="713232" y="2962656"/>
            <a:ext cx="7564831" cy="310896"/>
          </a:xfrm>
          <a:prstGeom prst="rect">
            <a:avLst/>
          </a:prstGeom>
          <a:noFill/>
        </p:spPr>
        <p:txBody>
          <a:bodyPr wrap="square">
            <a:spAutoFit/>
          </a:bodyPr>
          <a:lstStyle/>
          <a:p>
            <a:pPr algn="l">
              <a:lnSpc>
                <a:spcPct val="100000"/>
              </a:lnSpc>
            </a:pPr>
            <a:r>
              <a:rPr sz="1400" b="1">
                <a:solidFill>
                  <a:srgbClr val="14201F"/>
                </a:solidFill>
                <a:latin typeface="Segoe UI"/>
              </a:rPr>
              <a:t>The lat4a substitution tracks gliding inside the fishes only</a:t>
            </a:r>
          </a:p>
        </p:txBody>
      </p:sp>
      <p:sp>
        <p:nvSpPr>
          <p:cNvPr id="9" name="TextBox 8"/>
          <p:cNvSpPr txBox="1"/>
          <p:nvPr/>
        </p:nvSpPr>
        <p:spPr>
          <a:xfrm>
            <a:off x="8552383" y="2962656"/>
            <a:ext cx="2926080" cy="310896"/>
          </a:xfrm>
          <a:prstGeom prst="rect">
            <a:avLst/>
          </a:prstGeom>
          <a:noFill/>
        </p:spPr>
        <p:txBody>
          <a:bodyPr wrap="square">
            <a:spAutoFit/>
          </a:bodyPr>
          <a:lstStyle/>
          <a:p>
            <a:pPr algn="r">
              <a:lnSpc>
                <a:spcPct val="100000"/>
              </a:lnSpc>
            </a:pPr>
            <a:r>
              <a:rPr sz="1400" b="1">
                <a:solidFill>
                  <a:srgbClr val="1BAF7A"/>
                </a:solidFill>
                <a:latin typeface="Segoe UI"/>
              </a:rPr>
              <a:t>8/9  ·  23/24</a:t>
            </a:r>
          </a:p>
        </p:txBody>
      </p:sp>
      <p:sp>
        <p:nvSpPr>
          <p:cNvPr id="10" name="TextBox 9"/>
          <p:cNvSpPr txBox="1"/>
          <p:nvPr/>
        </p:nvSpPr>
        <p:spPr>
          <a:xfrm>
            <a:off x="713232" y="3236976"/>
            <a:ext cx="10399471" cy="713232"/>
          </a:xfrm>
          <a:prstGeom prst="rect">
            <a:avLst/>
          </a:prstGeom>
          <a:noFill/>
        </p:spPr>
        <p:txBody>
          <a:bodyPr wrap="square">
            <a:spAutoFit/>
          </a:bodyPr>
          <a:lstStyle/>
          <a:p>
            <a:pPr algn="l">
              <a:lnSpc>
                <a:spcPct val="112000"/>
              </a:lnSpc>
            </a:pPr>
            <a:r>
              <a:rPr sz="1000" b="0">
                <a:solidFill>
                  <a:srgbClr val="5A6B69"/>
                </a:solidFill>
                <a:latin typeface="Segoe UI"/>
              </a:rPr>
              <a:t>L in 8 of 9 flying fishes and in both gliding halfbeaks, against 23 of 24 non-gliding relatives carrying F. But all three bats, both colugos, the sugar glider, mouse, human and every outgroup scored carry F too, so this is not convergence with gliding mammals. Tracking is not causing.</a:t>
            </a:r>
          </a:p>
        </p:txBody>
      </p:sp>
      <p:sp>
        <p:nvSpPr>
          <p:cNvPr id="11" name="TextBox 10"/>
          <p:cNvSpPr txBox="1"/>
          <p:nvPr/>
        </p:nvSpPr>
        <p:spPr>
          <a:xfrm>
            <a:off x="713232" y="3913632"/>
            <a:ext cx="7564831" cy="310896"/>
          </a:xfrm>
          <a:prstGeom prst="rect">
            <a:avLst/>
          </a:prstGeom>
          <a:noFill/>
        </p:spPr>
        <p:txBody>
          <a:bodyPr wrap="square">
            <a:spAutoFit/>
          </a:bodyPr>
          <a:lstStyle/>
          <a:p>
            <a:pPr algn="l">
              <a:lnSpc>
                <a:spcPct val="100000"/>
              </a:lnSpc>
            </a:pPr>
            <a:r>
              <a:rPr sz="1400" b="1">
                <a:solidFill>
                  <a:srgbClr val="14201F"/>
                </a:solidFill>
                <a:latin typeface="Segoe UI"/>
              </a:rPr>
              <a:t>The derived-site panel is not a dose-response</a:t>
            </a:r>
          </a:p>
        </p:txBody>
      </p:sp>
      <p:sp>
        <p:nvSpPr>
          <p:cNvPr id="12" name="TextBox 11"/>
          <p:cNvSpPr txBox="1"/>
          <p:nvPr/>
        </p:nvSpPr>
        <p:spPr>
          <a:xfrm>
            <a:off x="8552383" y="3913632"/>
            <a:ext cx="2926080" cy="310896"/>
          </a:xfrm>
          <a:prstGeom prst="rect">
            <a:avLst/>
          </a:prstGeom>
          <a:noFill/>
        </p:spPr>
        <p:txBody>
          <a:bodyPr wrap="square">
            <a:spAutoFit/>
          </a:bodyPr>
          <a:lstStyle/>
          <a:p>
            <a:pPr algn="r">
              <a:lnSpc>
                <a:spcPct val="100000"/>
              </a:lnSpc>
            </a:pPr>
            <a:r>
              <a:rPr sz="1400" b="1">
                <a:solidFill>
                  <a:srgbClr val="EB6834"/>
                </a:solidFill>
                <a:latin typeface="Segoe UI"/>
              </a:rPr>
              <a:t>24 at 0.274  ·  21.4 at 0.687</a:t>
            </a:r>
          </a:p>
        </p:txBody>
      </p:sp>
      <p:sp>
        <p:nvSpPr>
          <p:cNvPr id="13" name="TextBox 12"/>
          <p:cNvSpPr txBox="1"/>
          <p:nvPr/>
        </p:nvSpPr>
        <p:spPr>
          <a:xfrm>
            <a:off x="713232" y="4187952"/>
            <a:ext cx="10399471" cy="713232"/>
          </a:xfrm>
          <a:prstGeom prst="rect">
            <a:avLst/>
          </a:prstGeom>
          <a:noFill/>
        </p:spPr>
        <p:txBody>
          <a:bodyPr wrap="square">
            <a:spAutoFit/>
          </a:bodyPr>
          <a:lstStyle/>
          <a:p>
            <a:pPr algn="l">
              <a:lnSpc>
                <a:spcPct val="112000"/>
              </a:lnSpc>
            </a:pPr>
            <a:r>
              <a:rPr sz="1000" b="0">
                <a:solidFill>
                  <a:srgbClr val="5A6B69"/>
                </a:solidFill>
                <a:latin typeface="Segoe UI"/>
              </a:rPr>
              <a:t>Gliding halfbeaks carry a mean 24 of 38 derived states at a fin-to-body ratio of 0.274; flying fishes carry 21.4 at 0.687. The group with the far smaller fin carries slightly more derived residues. The non-gliders' zero is circular by construction and is not shown as a finding; four groups is a ladder to read, not a statistical test.</a:t>
            </a:r>
          </a:p>
        </p:txBody>
      </p:sp>
      <p:sp>
        <p:nvSpPr>
          <p:cNvPr id="14" name="TextBox 13"/>
          <p:cNvSpPr txBox="1"/>
          <p:nvPr/>
        </p:nvSpPr>
        <p:spPr>
          <a:xfrm>
            <a:off x="713232" y="4864608"/>
            <a:ext cx="7564831" cy="310896"/>
          </a:xfrm>
          <a:prstGeom prst="rect">
            <a:avLst/>
          </a:prstGeom>
          <a:noFill/>
        </p:spPr>
        <p:txBody>
          <a:bodyPr wrap="square">
            <a:spAutoFit/>
          </a:bodyPr>
          <a:lstStyle/>
          <a:p>
            <a:pPr algn="l">
              <a:lnSpc>
                <a:spcPct val="100000"/>
              </a:lnSpc>
            </a:pPr>
            <a:r>
              <a:rPr sz="1400" b="1">
                <a:solidFill>
                  <a:srgbClr val="14201F"/>
                </a:solidFill>
                <a:latin typeface="Segoe UI"/>
              </a:rPr>
              <a:t>An "engineered" genome is a handful of edits</a:t>
            </a:r>
          </a:p>
        </p:txBody>
      </p:sp>
      <p:sp>
        <p:nvSpPr>
          <p:cNvPr id="15" name="TextBox 14"/>
          <p:cNvSpPr txBox="1"/>
          <p:nvPr/>
        </p:nvSpPr>
        <p:spPr>
          <a:xfrm>
            <a:off x="8552383" y="4864608"/>
            <a:ext cx="2926080" cy="310896"/>
          </a:xfrm>
          <a:prstGeom prst="rect">
            <a:avLst/>
          </a:prstGeom>
          <a:noFill/>
        </p:spPr>
        <p:txBody>
          <a:bodyPr wrap="square">
            <a:spAutoFit/>
          </a:bodyPr>
          <a:lstStyle/>
          <a:p>
            <a:pPr algn="r">
              <a:lnSpc>
                <a:spcPct val="100000"/>
              </a:lnSpc>
            </a:pPr>
            <a:r>
              <a:rPr sz="1400" b="1">
                <a:solidFill>
                  <a:srgbClr val="EB6834"/>
                </a:solidFill>
                <a:latin typeface="Segoe UI"/>
              </a:rPr>
              <a:t>1 vs 7,300</a:t>
            </a:r>
          </a:p>
        </p:txBody>
      </p:sp>
      <p:sp>
        <p:nvSpPr>
          <p:cNvPr id="16" name="TextBox 15"/>
          <p:cNvSpPr txBox="1"/>
          <p:nvPr/>
        </p:nvSpPr>
        <p:spPr>
          <a:xfrm>
            <a:off x="713232" y="5138928"/>
            <a:ext cx="10399471" cy="713232"/>
          </a:xfrm>
          <a:prstGeom prst="rect">
            <a:avLst/>
          </a:prstGeom>
          <a:noFill/>
        </p:spPr>
        <p:txBody>
          <a:bodyPr wrap="square">
            <a:spAutoFit/>
          </a:bodyPr>
          <a:lstStyle/>
          <a:p>
            <a:pPr algn="l">
              <a:lnSpc>
                <a:spcPct val="112000"/>
              </a:lnSpc>
            </a:pPr>
            <a:r>
              <a:rPr sz="1000" b="0">
                <a:solidFill>
                  <a:srgbClr val="5A6B69"/>
                </a:solidFill>
                <a:latin typeface="Segoe UI"/>
              </a:rPr>
              <a:t>2 edited loci change 1 amino acid; the other edit is regulatory and changes none. In just 37 of our causal-chain proteins, zebrafish and medaka differ by 7,300 amino-acid substitutions (16,054 positions counting indels). Coding only, in a tiny gene sample.</a:t>
            </a:r>
          </a:p>
        </p:txBody>
      </p:sp>
      <p:sp>
        <p:nvSpPr>
          <p:cNvPr id="17" name="TextBox 16"/>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All four are about fin enlargement for gliding, the trait Daane et al. 2021 measured (10.1016/j.cub.2021.08.054); the fin ratios, the convergent-substitution panel and the captured exons are theirs. Three of these close a door we would have liked open, and the one that holds, holds only inside the Beloniformes. No bird sequence, assembly or annotation was fetched: Aves is this project's frozen holdout.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EB6834"/>
                </a:solidFill>
              </a:rPr>
              <a:t>PARTLY EVIDENCED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357 named pieces. 23 measured numbers behind them.</a:t>
            </a:r>
          </a:p>
        </p:txBody>
      </p:sp>
      <p:graphicFrame>
        <p:nvGraphicFramePr>
          <p:cNvPr id="5" name="Chart 4"/>
          <p:cNvGraphicFramePr>
            <a:graphicFrameLocks noGrp="1"/>
          </p:cNvGraphicFramePr>
          <p:nvPr/>
        </p:nvGraphicFramePr>
        <p:xfrm>
          <a:off x="713232" y="2011680"/>
          <a:ext cx="10490911" cy="2103120"/>
        </p:xfrm>
        <a:graphic>
          <a:graphicData uri="http://schemas.openxmlformats.org/drawingml/2006/chart">
            <c:chart xmlns:c="http://schemas.openxmlformats.org/drawingml/2006/chart" r:id="rId2"/>
          </a:graphicData>
        </a:graphic>
      </p:graphicFrame>
      <p:sp>
        <p:nvSpPr>
          <p:cNvPr id="6" name="Rounded Rectangle 5"/>
          <p:cNvSpPr/>
          <p:nvPr/>
        </p:nvSpPr>
        <p:spPr>
          <a:xfrm>
            <a:off x="713232" y="4297680"/>
            <a:ext cx="10765231" cy="91440"/>
          </a:xfrm>
          <a:prstGeom prst="roundRect">
            <a:avLst/>
          </a:prstGeom>
          <a:solidFill>
            <a:srgbClr val="FFFFFF"/>
          </a:solidFill>
          <a:ln>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spAutoFit/>
          </a:bodyPr>
          <a:lstStyle/>
          <a:p>
            <a:pPr algn="ctr"/>
            <a:r>
              <a:rPr sz="1100">
                <a:solidFill>
                  <a:srgbClr val="14201F"/>
                </a:solidFill>
                <a:latin typeface="Segoe UI"/>
              </a:rPr>
              <a:t>Evidence-backed: the flying fish rests on exactly ONE measured proportion — pectoral fin length at 0.687 of standard length, the median of 49 museum specimens, read from the measurement file rather than typed in (preserved museum specimens; length only (no fin area, shape or spread)). The two zebrafish models carry 22 sourced proportions and counts between them.   Schematic, and labelled so per piece: everything else, including every count.   Where the ontology ran out: 60 of the flying fish's pieces have no ontology term at all; the manifest records a null and the nearest ancestor it could find, instead of inventing one.</a:t>
            </a:r>
          </a:p>
        </p:txBody>
      </p:sp>
      <p:sp>
        <p:nvSpPr>
          <p:cNvPr id="7" name="TextBox 6"/>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The one novelty claim we make, worded as narrowly as the search supports: we did not find prior use of a proof assistant on an ontology-derived anatomy hierarchy. Ten logged searches turned up no Lean, Coq or Isabelle proofs about a hierarchy built from Uberon and the Cell Ontology. That is "not found", not "does not exist", and it is not a claim to a first. Built on Uberon (10.1186/gb-2012-13-1-r5), the Cell Ontology (10.1186/2041-1480-5-21) via Ubergraph, Phenoscape (10.1093/molbev/msv223, 10.1093/sysbio/syv031) and Daane 2021 (10.1016/j.cub.2021.08.054). The anatomy terms are theirs; only the hierarchy check is ours.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Say what the animal must do.</a:t>
            </a:r>
          </a:p>
          <a:p>
            <a:pPr algn="l">
              <a:lnSpc>
                <a:spcPct val="92000"/>
              </a:lnSpc>
            </a:pPr>
            <a:r>
              <a:rPr sz="4000" b="1">
                <a:solidFill>
                  <a:srgbClr val="14201F"/>
                </a:solidFill>
                <a:latin typeface="Segoe UI"/>
              </a:rPr>
              <a:t>The studio says what it would take.</a:t>
            </a:r>
          </a:p>
        </p:txBody>
      </p:sp>
      <p:pic>
        <p:nvPicPr>
          <p:cNvPr id="5" name="Picture 4" descr="studio_spec.png"/>
          <p:cNvPicPr>
            <a:picLocks noChangeAspect="1"/>
          </p:cNvPicPr>
          <p:nvPr/>
        </p:nvPicPr>
        <p:blipFill>
          <a:blip r:embed="rId2"/>
          <a:stretch>
            <a:fillRect/>
          </a:stretch>
        </p:blipFill>
        <p:spPr>
          <a:xfrm>
            <a:off x="713232" y="2011680"/>
            <a:ext cx="6258560" cy="3520440"/>
          </a:xfrm>
          <a:prstGeom prst="rect">
            <a:avLst/>
          </a:prstGeom>
        </p:spPr>
      </p:pic>
      <p:sp>
        <p:nvSpPr>
          <p:cNvPr id="6" name="TextBox 5"/>
          <p:cNvSpPr txBox="1"/>
          <p:nvPr/>
        </p:nvSpPr>
        <p:spPr>
          <a:xfrm>
            <a:off x="713232" y="5577840"/>
            <a:ext cx="6309360" cy="548640"/>
          </a:xfrm>
          <a:prstGeom prst="rect">
            <a:avLst/>
          </a:prstGeom>
          <a:noFill/>
        </p:spPr>
        <p:txBody>
          <a:bodyPr wrap="square">
            <a:spAutoFit/>
          </a:bodyPr>
          <a:lstStyle/>
          <a:p>
            <a:pPr algn="l">
              <a:lnSpc>
                <a:spcPct val="110000"/>
              </a:lnSpc>
            </a:pPr>
            <a:r>
              <a:rPr sz="800" b="0">
                <a:solidFill>
                  <a:srgbClr val="5A6B69"/>
                </a:solidFill>
                <a:latin typeface="Segoe UI"/>
              </a:rPr>
              <a:t>Typed: “a zebrafish that glides at least 5 m from 1 m height and survives 10 °C to 30 °C as an adult”. Read into 3 criteria, valid against the engine; every default it assumed is listed. Real page, real engine (engine/ (sim-engine: organism.mjs, state.mjs, 12 scenarios, data bundle 2026-11-01T02:57).); screenshot 2026-11-01T02:58:14.064Z, sha256 d25e671ed14e4cfb…</a:t>
            </a:r>
          </a:p>
        </p:txBody>
      </p:sp>
      <p:sp>
        <p:nvSpPr>
          <p:cNvPr id="7" name="TextBox 6"/>
          <p:cNvSpPr txBox="1"/>
          <p:nvPr/>
        </p:nvSpPr>
        <p:spPr>
          <a:xfrm>
            <a:off x="7251192" y="2011680"/>
            <a:ext cx="4227271" cy="274320"/>
          </a:xfrm>
          <a:prstGeom prst="rect">
            <a:avLst/>
          </a:prstGeom>
          <a:noFill/>
        </p:spPr>
        <p:txBody>
          <a:bodyPr wrap="square">
            <a:spAutoFit/>
          </a:bodyPr>
          <a:lstStyle/>
          <a:p>
            <a:pPr algn="l">
              <a:lnSpc>
                <a:spcPct val="100000"/>
              </a:lnSpc>
            </a:pPr>
            <a:r>
              <a:rPr sz="1300" b="1">
                <a:solidFill>
                  <a:srgbClr val="14201F"/>
                </a:solidFill>
                <a:latin typeface="Segoe UI"/>
              </a:rPr>
              <a:t>Edit at any level</a:t>
            </a:r>
          </a:p>
        </p:txBody>
      </p:sp>
      <p:sp>
        <p:nvSpPr>
          <p:cNvPr id="8" name="TextBox 7"/>
          <p:cNvSpPr txBox="1"/>
          <p:nvPr/>
        </p:nvSpPr>
        <p:spPr>
          <a:xfrm>
            <a:off x="7251192" y="2267712"/>
            <a:ext cx="4227271" cy="548640"/>
          </a:xfrm>
          <a:prstGeom prst="rect">
            <a:avLst/>
          </a:prstGeom>
          <a:noFill/>
        </p:spPr>
        <p:txBody>
          <a:bodyPr wrap="square">
            <a:spAutoFit/>
          </a:bodyPr>
          <a:lstStyle/>
          <a:p>
            <a:pPr algn="l">
              <a:lnSpc>
                <a:spcPct val="110000"/>
              </a:lnSpc>
            </a:pPr>
            <a:r>
              <a:rPr sz="1000" b="0">
                <a:solidFill>
                  <a:srgbClr val="5A6B69"/>
                </a:solidFill>
                <a:latin typeface="Segoe UI"/>
              </a:rPr>
              <a:t>body, organ system, organ, tissue, cell, gene; humans and agents in one append-only co-design log. Agents post proposals; a human applies them.</a:t>
            </a:r>
          </a:p>
        </p:txBody>
      </p:sp>
      <p:sp>
        <p:nvSpPr>
          <p:cNvPr id="9" name="TextBox 8"/>
          <p:cNvSpPr txBox="1"/>
          <p:nvPr/>
        </p:nvSpPr>
        <p:spPr>
          <a:xfrm>
            <a:off x="7251192" y="2798064"/>
            <a:ext cx="4227271" cy="274320"/>
          </a:xfrm>
          <a:prstGeom prst="rect">
            <a:avLst/>
          </a:prstGeom>
          <a:noFill/>
        </p:spPr>
        <p:txBody>
          <a:bodyPr wrap="square">
            <a:spAutoFit/>
          </a:bodyPr>
          <a:lstStyle/>
          <a:p>
            <a:pPr algn="l">
              <a:lnSpc>
                <a:spcPct val="100000"/>
              </a:lnSpc>
            </a:pPr>
            <a:r>
              <a:rPr sz="1300" b="1">
                <a:solidFill>
                  <a:srgbClr val="14201F"/>
                </a:solidFill>
                <a:latin typeface="Segoe UI"/>
              </a:rPr>
              <a:t>11 perturbations, every developmental stage</a:t>
            </a:r>
          </a:p>
        </p:txBody>
      </p:sp>
      <p:sp>
        <p:nvSpPr>
          <p:cNvPr id="10" name="TextBox 9"/>
          <p:cNvSpPr txBox="1"/>
          <p:nvPr/>
        </p:nvSpPr>
        <p:spPr>
          <a:xfrm>
            <a:off x="7251192" y="3054096"/>
            <a:ext cx="4227271" cy="548640"/>
          </a:xfrm>
          <a:prstGeom prst="rect">
            <a:avLst/>
          </a:prstGeom>
          <a:noFill/>
        </p:spPr>
        <p:txBody>
          <a:bodyPr wrap="square">
            <a:spAutoFit/>
          </a:bodyPr>
          <a:lstStyle/>
          <a:p>
            <a:pPr algn="l">
              <a:lnSpc>
                <a:spcPct val="110000"/>
              </a:lnSpc>
            </a:pPr>
            <a:r>
              <a:rPr sz="1000" b="0">
                <a:solidFill>
                  <a:srgbClr val="5A6B69"/>
                </a:solidFill>
                <a:latin typeface="Segoe UI"/>
              </a:rPr>
              <a:t>altitude, current, daynight, digestion, glide, grip, predator, pressure, sleep, temperature, wind.</a:t>
            </a:r>
          </a:p>
        </p:txBody>
      </p:sp>
      <p:sp>
        <p:nvSpPr>
          <p:cNvPr id="11" name="TextBox 10"/>
          <p:cNvSpPr txBox="1"/>
          <p:nvPr/>
        </p:nvSpPr>
        <p:spPr>
          <a:xfrm>
            <a:off x="7251192" y="3584448"/>
            <a:ext cx="4227271" cy="274320"/>
          </a:xfrm>
          <a:prstGeom prst="rect">
            <a:avLst/>
          </a:prstGeom>
          <a:noFill/>
        </p:spPr>
        <p:txBody>
          <a:bodyPr wrap="square">
            <a:spAutoFit/>
          </a:bodyPr>
          <a:lstStyle/>
          <a:p>
            <a:pPr algn="l">
              <a:lnSpc>
                <a:spcPct val="100000"/>
              </a:lnSpc>
            </a:pPr>
            <a:r>
              <a:rPr sz="1300" b="1">
                <a:solidFill>
                  <a:srgbClr val="14201F"/>
                </a:solidFill>
                <a:latin typeface="Segoe UI"/>
              </a:rPr>
              <a:t>Every number keeps its kind</a:t>
            </a:r>
          </a:p>
        </p:txBody>
      </p:sp>
      <p:sp>
        <p:nvSpPr>
          <p:cNvPr id="12" name="TextBox 11"/>
          <p:cNvSpPr txBox="1"/>
          <p:nvPr/>
        </p:nvSpPr>
        <p:spPr>
          <a:xfrm>
            <a:off x="7251192" y="3840480"/>
            <a:ext cx="4227271" cy="548640"/>
          </a:xfrm>
          <a:prstGeom prst="rect">
            <a:avLst/>
          </a:prstGeom>
          <a:noFill/>
        </p:spPr>
        <p:txBody>
          <a:bodyPr wrap="square">
            <a:spAutoFit/>
          </a:bodyPr>
          <a:lstStyle/>
          <a:p>
            <a:pPr algn="l">
              <a:lnSpc>
                <a:spcPct val="110000"/>
              </a:lnSpc>
            </a:pPr>
            <a:r>
              <a:rPr sz="1000" b="0">
                <a:solidFill>
                  <a:srgbClr val="5A6B69"/>
                </a:solidFill>
                <a:latin typeface="Segoe UI"/>
              </a:rPr>
              <a:t>measured, borrowed, derived, calibrated or assumed; a calibrated number can never be cited as a result.</a:t>
            </a:r>
          </a:p>
        </p:txBody>
      </p:sp>
      <p:sp>
        <p:nvSpPr>
          <p:cNvPr id="13" name="TextBox 12"/>
          <p:cNvSpPr txBox="1"/>
          <p:nvPr/>
        </p:nvSpPr>
        <p:spPr>
          <a:xfrm>
            <a:off x="7251192" y="4370832"/>
            <a:ext cx="4227271" cy="274320"/>
          </a:xfrm>
          <a:prstGeom prst="rect">
            <a:avLst/>
          </a:prstGeom>
          <a:noFill/>
        </p:spPr>
        <p:txBody>
          <a:bodyPr wrap="square">
            <a:spAutoFit/>
          </a:bodyPr>
          <a:lstStyle/>
          <a:p>
            <a:pPr algn="l">
              <a:lnSpc>
                <a:spcPct val="100000"/>
              </a:lnSpc>
            </a:pPr>
            <a:r>
              <a:rPr sz="1300" b="1">
                <a:solidFill>
                  <a:srgbClr val="14201F"/>
                </a:solidFill>
                <a:latin typeface="Segoe UI"/>
              </a:rPr>
              <a:t>The optimizer refuses</a:t>
            </a:r>
          </a:p>
        </p:txBody>
      </p:sp>
      <p:sp>
        <p:nvSpPr>
          <p:cNvPr id="14" name="TextBox 13"/>
          <p:cNvSpPr txBox="1"/>
          <p:nvPr/>
        </p:nvSpPr>
        <p:spPr>
          <a:xfrm>
            <a:off x="7251192" y="4626864"/>
            <a:ext cx="4227271" cy="548640"/>
          </a:xfrm>
          <a:prstGeom prst="rect">
            <a:avLst/>
          </a:prstGeom>
          <a:noFill/>
        </p:spPr>
        <p:txBody>
          <a:bodyPr wrap="square">
            <a:spAutoFit/>
          </a:bodyPr>
          <a:lstStyle/>
          <a:p>
            <a:pPr algn="l">
              <a:lnSpc>
                <a:spcPct val="110000"/>
              </a:lnSpc>
            </a:pPr>
            <a:r>
              <a:rPr sz="1000" b="0">
                <a:solidFill>
                  <a:srgbClr val="5A6B69"/>
                </a:solidFill>
                <a:latin typeface="Segoe UI"/>
              </a:rPr>
              <a:t>any candidate that breaks a binding law, and says “no design meets the spec” instead of returning its best failure.</a:t>
            </a:r>
          </a:p>
        </p:txBody>
      </p:sp>
      <p:sp>
        <p:nvSpPr>
          <p:cNvPr id="15" name="TextBox 14"/>
          <p:cNvSpPr txBox="1"/>
          <p:nvPr/>
        </p:nvSpPr>
        <p:spPr>
          <a:xfrm>
            <a:off x="7251192" y="5202936"/>
            <a:ext cx="4227271" cy="914400"/>
          </a:xfrm>
          <a:prstGeom prst="rect">
            <a:avLst/>
          </a:prstGeom>
          <a:noFill/>
        </p:spPr>
        <p:txBody>
          <a:bodyPr wrap="square">
            <a:spAutoFit/>
          </a:bodyPr>
          <a:lstStyle/>
          <a:p>
            <a:pPr algn="l">
              <a:lnSpc>
                <a:spcPct val="110000"/>
              </a:lnSpc>
            </a:pPr>
            <a:r>
              <a:rPr sz="1000" b="0">
                <a:solidFill>
                  <a:srgbClr val="EB6834"/>
                </a:solidFill>
                <a:latin typeface="Segoe UI"/>
              </a:rPr>
              <a:t>What it is not: an edited parameter set is a shape, not a viable or breedable organism; mixing parents is morphological interpolation, not genetic hybridisation. Law verdicts are floating-point checks of Lean-backed formulas, not kernel proofs.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The laws are data, with version numbers.</a:t>
            </a:r>
          </a:p>
        </p:txBody>
      </p:sp>
      <p:sp>
        <p:nvSpPr>
          <p:cNvPr id="5" name="Rounded Rectangle 4"/>
          <p:cNvSpPr/>
          <p:nvPr/>
        </p:nvSpPr>
        <p:spPr>
          <a:xfrm>
            <a:off x="713232" y="1965960"/>
            <a:ext cx="2029968" cy="1600200"/>
          </a:xfrm>
          <a:prstGeom prst="round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29968"/>
            <a:ext cx="1847088" cy="274320"/>
          </a:xfrm>
          <a:prstGeom prst="rect">
            <a:avLst/>
          </a:prstGeom>
          <a:noFill/>
        </p:spPr>
        <p:txBody>
          <a:bodyPr wrap="square">
            <a:spAutoFit/>
          </a:bodyPr>
          <a:lstStyle/>
          <a:p>
            <a:pPr algn="l">
              <a:lnSpc>
                <a:spcPct val="100000"/>
              </a:lnSpc>
            </a:pPr>
            <a:r>
              <a:rPr sz="900" b="1">
                <a:solidFill>
                  <a:srgbClr val="5A6B69"/>
                </a:solidFill>
                <a:latin typeface="Segoe UI"/>
              </a:rPr>
              <a:t>PROPOSED</a:t>
            </a:r>
          </a:p>
        </p:txBody>
      </p:sp>
      <p:sp>
        <p:nvSpPr>
          <p:cNvPr id="7" name="TextBox 6"/>
          <p:cNvSpPr txBox="1"/>
          <p:nvPr/>
        </p:nvSpPr>
        <p:spPr>
          <a:xfrm>
            <a:off x="822960" y="2240280"/>
            <a:ext cx="1847088" cy="548640"/>
          </a:xfrm>
          <a:prstGeom prst="rect">
            <a:avLst/>
          </a:prstGeom>
          <a:noFill/>
        </p:spPr>
        <p:txBody>
          <a:bodyPr wrap="square">
            <a:spAutoFit/>
          </a:bodyPr>
          <a:lstStyle/>
          <a:p>
            <a:pPr algn="l">
              <a:lnSpc>
                <a:spcPct val="100000"/>
              </a:lnSpc>
            </a:pPr>
            <a:r>
              <a:rPr sz="3000" b="1">
                <a:solidFill>
                  <a:srgbClr val="14201F"/>
                </a:solidFill>
                <a:latin typeface="Segoe UI"/>
              </a:rPr>
              <a:t>7</a:t>
            </a:r>
          </a:p>
        </p:txBody>
      </p:sp>
      <p:sp>
        <p:nvSpPr>
          <p:cNvPr id="8" name="TextBox 7"/>
          <p:cNvSpPr txBox="1"/>
          <p:nvPr/>
        </p:nvSpPr>
        <p:spPr>
          <a:xfrm>
            <a:off x="822960" y="2743200"/>
            <a:ext cx="1847088" cy="822960"/>
          </a:xfrm>
          <a:prstGeom prst="rect">
            <a:avLst/>
          </a:prstGeom>
          <a:noFill/>
        </p:spPr>
        <p:txBody>
          <a:bodyPr wrap="square">
            <a:spAutoFit/>
          </a:bodyPr>
          <a:lstStyle/>
          <a:p>
            <a:pPr algn="l">
              <a:lnSpc>
                <a:spcPct val="110000"/>
              </a:lnSpc>
            </a:pPr>
            <a:r>
              <a:rPr sz="800" b="0">
                <a:solidFill>
                  <a:srgbClr val="5A6B69"/>
                </a:solidFill>
                <a:latin typeface="Segoe UI"/>
              </a:rPr>
              <a:t>4 physical · 3 biological</a:t>
            </a:r>
          </a:p>
          <a:p>
            <a:pPr algn="l">
              <a:lnSpc>
                <a:spcPct val="110000"/>
              </a:lnSpc>
            </a:pPr>
            <a:r>
              <a:rPr sz="800" b="0">
                <a:solidFill>
                  <a:srgbClr val="5A6B69"/>
                </a:solidFill>
                <a:latin typeface="Segoe UI"/>
              </a:rPr>
              <a:t>stated, not formalised: enters no verdict</a:t>
            </a:r>
          </a:p>
        </p:txBody>
      </p:sp>
      <p:sp>
        <p:nvSpPr>
          <p:cNvPr id="9" name="Rounded Rectangle 8"/>
          <p:cNvSpPr/>
          <p:nvPr/>
        </p:nvSpPr>
        <p:spPr>
          <a:xfrm>
            <a:off x="2862072" y="1965960"/>
            <a:ext cx="2029968" cy="1600200"/>
          </a:xfrm>
          <a:prstGeom prst="round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71800" y="2029968"/>
            <a:ext cx="1847088" cy="274320"/>
          </a:xfrm>
          <a:prstGeom prst="rect">
            <a:avLst/>
          </a:prstGeom>
          <a:noFill/>
        </p:spPr>
        <p:txBody>
          <a:bodyPr wrap="square">
            <a:spAutoFit/>
          </a:bodyPr>
          <a:lstStyle/>
          <a:p>
            <a:pPr algn="l">
              <a:lnSpc>
                <a:spcPct val="100000"/>
              </a:lnSpc>
            </a:pPr>
            <a:r>
              <a:rPr sz="900" b="1">
                <a:solidFill>
                  <a:srgbClr val="5A6B69"/>
                </a:solidFill>
                <a:latin typeface="Segoe UI"/>
              </a:rPr>
              <a:t>CANDIDATE</a:t>
            </a:r>
          </a:p>
        </p:txBody>
      </p:sp>
      <p:sp>
        <p:nvSpPr>
          <p:cNvPr id="11" name="TextBox 10"/>
          <p:cNvSpPr txBox="1"/>
          <p:nvPr/>
        </p:nvSpPr>
        <p:spPr>
          <a:xfrm>
            <a:off x="2971800" y="2240280"/>
            <a:ext cx="1847088" cy="548640"/>
          </a:xfrm>
          <a:prstGeom prst="rect">
            <a:avLst/>
          </a:prstGeom>
          <a:noFill/>
        </p:spPr>
        <p:txBody>
          <a:bodyPr wrap="square">
            <a:spAutoFit/>
          </a:bodyPr>
          <a:lstStyle/>
          <a:p>
            <a:pPr algn="l">
              <a:lnSpc>
                <a:spcPct val="100000"/>
              </a:lnSpc>
            </a:pPr>
            <a:r>
              <a:rPr sz="3000" b="1">
                <a:solidFill>
                  <a:srgbClr val="14201F"/>
                </a:solidFill>
                <a:latin typeface="Segoe UI"/>
              </a:rPr>
              <a:t>9</a:t>
            </a:r>
          </a:p>
        </p:txBody>
      </p:sp>
      <p:sp>
        <p:nvSpPr>
          <p:cNvPr id="12" name="TextBox 11"/>
          <p:cNvSpPr txBox="1"/>
          <p:nvPr/>
        </p:nvSpPr>
        <p:spPr>
          <a:xfrm>
            <a:off x="2971800" y="2743200"/>
            <a:ext cx="1847088" cy="822960"/>
          </a:xfrm>
          <a:prstGeom prst="rect">
            <a:avLst/>
          </a:prstGeom>
          <a:noFill/>
        </p:spPr>
        <p:txBody>
          <a:bodyPr wrap="square">
            <a:spAutoFit/>
          </a:bodyPr>
          <a:lstStyle/>
          <a:p>
            <a:pPr algn="l">
              <a:lnSpc>
                <a:spcPct val="110000"/>
              </a:lnSpc>
            </a:pPr>
            <a:r>
              <a:rPr sz="800" b="0">
                <a:solidFill>
                  <a:srgbClr val="5A6B69"/>
                </a:solidFill>
                <a:latin typeface="Segoe UI"/>
              </a:rPr>
              <a:t>3 physical · 6 biological</a:t>
            </a:r>
          </a:p>
          <a:p>
            <a:pPr algn="l">
              <a:lnSpc>
                <a:spcPct val="110000"/>
              </a:lnSpc>
            </a:pPr>
            <a:r>
              <a:rPr sz="800" b="0">
                <a:solidFill>
                  <a:srgbClr val="5A6B69"/>
                </a:solidFill>
                <a:latin typeface="Segoe UI"/>
              </a:rPr>
              <a:t>builds, no sorry/axiom, witness, mutants rejected: advisory</a:t>
            </a:r>
          </a:p>
        </p:txBody>
      </p:sp>
      <p:sp>
        <p:nvSpPr>
          <p:cNvPr id="13" name="Rounded Rectangle 12"/>
          <p:cNvSpPr/>
          <p:nvPr/>
        </p:nvSpPr>
        <p:spPr>
          <a:xfrm>
            <a:off x="5010912" y="1965960"/>
            <a:ext cx="2029968" cy="1600200"/>
          </a:xfrm>
          <a:prstGeom prst="roundRect">
            <a:avLst/>
          </a:prstGeom>
          <a:solidFill>
            <a:srgbClr val="FFFFFF"/>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2029968"/>
            <a:ext cx="1847088" cy="274320"/>
          </a:xfrm>
          <a:prstGeom prst="rect">
            <a:avLst/>
          </a:prstGeom>
          <a:noFill/>
        </p:spPr>
        <p:txBody>
          <a:bodyPr wrap="square">
            <a:spAutoFit/>
          </a:bodyPr>
          <a:lstStyle/>
          <a:p>
            <a:pPr algn="l">
              <a:lnSpc>
                <a:spcPct val="100000"/>
              </a:lnSpc>
            </a:pPr>
            <a:r>
              <a:rPr sz="900" b="1">
                <a:solidFill>
                  <a:srgbClr val="5A6B69"/>
                </a:solidFill>
                <a:latin typeface="Segoe UI"/>
              </a:rPr>
              <a:t>ACCEPTED</a:t>
            </a:r>
          </a:p>
        </p:txBody>
      </p:sp>
      <p:sp>
        <p:nvSpPr>
          <p:cNvPr id="15" name="TextBox 14"/>
          <p:cNvSpPr txBox="1"/>
          <p:nvPr/>
        </p:nvSpPr>
        <p:spPr>
          <a:xfrm>
            <a:off x="5120640" y="2240280"/>
            <a:ext cx="1847088" cy="548640"/>
          </a:xfrm>
          <a:prstGeom prst="rect">
            <a:avLst/>
          </a:prstGeom>
          <a:noFill/>
        </p:spPr>
        <p:txBody>
          <a:bodyPr wrap="square">
            <a:spAutoFit/>
          </a:bodyPr>
          <a:lstStyle/>
          <a:p>
            <a:pPr algn="l">
              <a:lnSpc>
                <a:spcPct val="100000"/>
              </a:lnSpc>
            </a:pPr>
            <a:r>
              <a:rPr sz="3000" b="1">
                <a:solidFill>
                  <a:srgbClr val="14201F"/>
                </a:solidFill>
                <a:latin typeface="Segoe UI"/>
              </a:rPr>
              <a:t>31</a:t>
            </a:r>
          </a:p>
        </p:txBody>
      </p:sp>
      <p:sp>
        <p:nvSpPr>
          <p:cNvPr id="16" name="TextBox 15"/>
          <p:cNvSpPr txBox="1"/>
          <p:nvPr/>
        </p:nvSpPr>
        <p:spPr>
          <a:xfrm>
            <a:off x="5120640" y="2743200"/>
            <a:ext cx="1847088" cy="822960"/>
          </a:xfrm>
          <a:prstGeom prst="rect">
            <a:avLst/>
          </a:prstGeom>
          <a:noFill/>
        </p:spPr>
        <p:txBody>
          <a:bodyPr wrap="square">
            <a:spAutoFit/>
          </a:bodyPr>
          <a:lstStyle/>
          <a:p>
            <a:pPr algn="l">
              <a:lnSpc>
                <a:spcPct val="110000"/>
              </a:lnSpc>
            </a:pPr>
            <a:r>
              <a:rPr sz="800" b="0">
                <a:solidFill>
                  <a:srgbClr val="5A6B69"/>
                </a:solidFill>
                <a:latin typeface="Segoe UI"/>
              </a:rPr>
              <a:t>11 physical · 20 biological</a:t>
            </a:r>
          </a:p>
          <a:p>
            <a:pPr algn="l">
              <a:lnSpc>
                <a:spcPct val="110000"/>
              </a:lnSpc>
            </a:pPr>
            <a:r>
              <a:rPr sz="800" b="0">
                <a:solidFill>
                  <a:srgbClr val="5A6B69"/>
                </a:solidFill>
                <a:latin typeface="Segoe UI"/>
              </a:rPr>
              <a:t>recorded human approval: the only laws that turn a design red</a:t>
            </a:r>
          </a:p>
        </p:txBody>
      </p:sp>
      <p:sp>
        <p:nvSpPr>
          <p:cNvPr id="17" name="Rounded Rectangle 16"/>
          <p:cNvSpPr/>
          <p:nvPr/>
        </p:nvSpPr>
        <p:spPr>
          <a:xfrm>
            <a:off x="7159752" y="1965960"/>
            <a:ext cx="2029968" cy="1600200"/>
          </a:xfrm>
          <a:prstGeom prst="round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69480" y="2029968"/>
            <a:ext cx="1847088" cy="274320"/>
          </a:xfrm>
          <a:prstGeom prst="rect">
            <a:avLst/>
          </a:prstGeom>
          <a:noFill/>
        </p:spPr>
        <p:txBody>
          <a:bodyPr wrap="square">
            <a:spAutoFit/>
          </a:bodyPr>
          <a:lstStyle/>
          <a:p>
            <a:pPr algn="l">
              <a:lnSpc>
                <a:spcPct val="100000"/>
              </a:lnSpc>
            </a:pPr>
            <a:r>
              <a:rPr sz="900" b="1">
                <a:solidFill>
                  <a:srgbClr val="5A6B69"/>
                </a:solidFill>
                <a:latin typeface="Segoe UI"/>
              </a:rPr>
              <a:t>CONTESTED</a:t>
            </a:r>
          </a:p>
        </p:txBody>
      </p:sp>
      <p:sp>
        <p:nvSpPr>
          <p:cNvPr id="19" name="TextBox 18"/>
          <p:cNvSpPr txBox="1"/>
          <p:nvPr/>
        </p:nvSpPr>
        <p:spPr>
          <a:xfrm>
            <a:off x="7269480" y="2240280"/>
            <a:ext cx="1847088" cy="548640"/>
          </a:xfrm>
          <a:prstGeom prst="rect">
            <a:avLst/>
          </a:prstGeom>
          <a:noFill/>
        </p:spPr>
        <p:txBody>
          <a:bodyPr wrap="square">
            <a:spAutoFit/>
          </a:bodyPr>
          <a:lstStyle/>
          <a:p>
            <a:pPr algn="l">
              <a:lnSpc>
                <a:spcPct val="100000"/>
              </a:lnSpc>
            </a:pPr>
            <a:r>
              <a:rPr sz="3000" b="1">
                <a:solidFill>
                  <a:srgbClr val="14201F"/>
                </a:solidFill>
                <a:latin typeface="Segoe UI"/>
              </a:rPr>
              <a:t>3</a:t>
            </a:r>
          </a:p>
        </p:txBody>
      </p:sp>
      <p:sp>
        <p:nvSpPr>
          <p:cNvPr id="20" name="TextBox 19"/>
          <p:cNvSpPr txBox="1"/>
          <p:nvPr/>
        </p:nvSpPr>
        <p:spPr>
          <a:xfrm>
            <a:off x="7269480" y="2743200"/>
            <a:ext cx="1847088" cy="822960"/>
          </a:xfrm>
          <a:prstGeom prst="rect">
            <a:avLst/>
          </a:prstGeom>
          <a:noFill/>
        </p:spPr>
        <p:txBody>
          <a:bodyPr wrap="square">
            <a:spAutoFit/>
          </a:bodyPr>
          <a:lstStyle/>
          <a:p>
            <a:pPr algn="l">
              <a:lnSpc>
                <a:spcPct val="110000"/>
              </a:lnSpc>
            </a:pPr>
            <a:r>
              <a:rPr sz="800" b="0">
                <a:solidFill>
                  <a:srgbClr val="5A6B69"/>
                </a:solidFill>
                <a:latin typeface="Segoe UI"/>
              </a:rPr>
              <a:t>0 physical · 3 biological</a:t>
            </a:r>
          </a:p>
          <a:p>
            <a:pPr algn="l">
              <a:lnSpc>
                <a:spcPct val="110000"/>
              </a:lnSpc>
            </a:pPr>
            <a:r>
              <a:rPr sz="800" b="0">
                <a:solidFill>
                  <a:srgbClr val="5A6B69"/>
                </a:solidFill>
                <a:latin typeface="Segoe UI"/>
              </a:rPr>
              <a:t>proved contradiction or live dispute: amber</a:t>
            </a:r>
          </a:p>
        </p:txBody>
      </p:sp>
      <p:sp>
        <p:nvSpPr>
          <p:cNvPr id="21" name="Rounded Rectangle 20"/>
          <p:cNvSpPr/>
          <p:nvPr/>
        </p:nvSpPr>
        <p:spPr>
          <a:xfrm>
            <a:off x="9308592" y="1965960"/>
            <a:ext cx="2029968" cy="1600200"/>
          </a:xfrm>
          <a:prstGeom prst="roundRect">
            <a:avLst/>
          </a:prstGeom>
          <a:solidFill>
            <a:srgbClr val="FFFFFF"/>
          </a:solidFill>
          <a:ln w="12700">
            <a:solidFill>
              <a:srgbClr val="D9DF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0" y="2029968"/>
            <a:ext cx="1847088" cy="274320"/>
          </a:xfrm>
          <a:prstGeom prst="rect">
            <a:avLst/>
          </a:prstGeom>
          <a:noFill/>
        </p:spPr>
        <p:txBody>
          <a:bodyPr wrap="square">
            <a:spAutoFit/>
          </a:bodyPr>
          <a:lstStyle/>
          <a:p>
            <a:pPr algn="l">
              <a:lnSpc>
                <a:spcPct val="100000"/>
              </a:lnSpc>
            </a:pPr>
            <a:r>
              <a:rPr sz="900" b="1">
                <a:solidFill>
                  <a:srgbClr val="5A6B69"/>
                </a:solidFill>
                <a:latin typeface="Segoe UI"/>
              </a:rPr>
              <a:t>RETIRED</a:t>
            </a:r>
          </a:p>
        </p:txBody>
      </p:sp>
      <p:sp>
        <p:nvSpPr>
          <p:cNvPr id="23" name="TextBox 22"/>
          <p:cNvSpPr txBox="1"/>
          <p:nvPr/>
        </p:nvSpPr>
        <p:spPr>
          <a:xfrm>
            <a:off x="9418320" y="2240280"/>
            <a:ext cx="1847088" cy="548640"/>
          </a:xfrm>
          <a:prstGeom prst="rect">
            <a:avLst/>
          </a:prstGeom>
          <a:noFill/>
        </p:spPr>
        <p:txBody>
          <a:bodyPr wrap="square">
            <a:spAutoFit/>
          </a:bodyPr>
          <a:lstStyle/>
          <a:p>
            <a:pPr algn="l">
              <a:lnSpc>
                <a:spcPct val="100000"/>
              </a:lnSpc>
            </a:pPr>
            <a:r>
              <a:rPr sz="3000" b="1">
                <a:solidFill>
                  <a:srgbClr val="14201F"/>
                </a:solidFill>
                <a:latin typeface="Segoe UI"/>
              </a:rPr>
              <a:t>2</a:t>
            </a:r>
          </a:p>
        </p:txBody>
      </p:sp>
      <p:sp>
        <p:nvSpPr>
          <p:cNvPr id="24" name="TextBox 23"/>
          <p:cNvSpPr txBox="1"/>
          <p:nvPr/>
        </p:nvSpPr>
        <p:spPr>
          <a:xfrm>
            <a:off x="9418320" y="2743200"/>
            <a:ext cx="1847088" cy="822960"/>
          </a:xfrm>
          <a:prstGeom prst="rect">
            <a:avLst/>
          </a:prstGeom>
          <a:noFill/>
        </p:spPr>
        <p:txBody>
          <a:bodyPr wrap="square">
            <a:spAutoFit/>
          </a:bodyPr>
          <a:lstStyle/>
          <a:p>
            <a:pPr algn="l">
              <a:lnSpc>
                <a:spcPct val="110000"/>
              </a:lnSpc>
            </a:pPr>
            <a:r>
              <a:rPr sz="800" b="0">
                <a:solidFill>
                  <a:srgbClr val="5A6B69"/>
                </a:solidFill>
                <a:latin typeface="Segoe UI"/>
              </a:rPr>
              <a:t>0 physical · 2 biological</a:t>
            </a:r>
          </a:p>
          <a:p>
            <a:pPr algn="l">
              <a:lnSpc>
                <a:spcPct val="110000"/>
              </a:lnSpc>
            </a:pPr>
            <a:r>
              <a:rPr sz="800" b="0">
                <a:solidFill>
                  <a:srgbClr val="5A6B69"/>
                </a:solidFill>
                <a:latin typeface="Segoe UI"/>
              </a:rPr>
              <a:t>kept on file so old verdicts reproduce</a:t>
            </a:r>
          </a:p>
        </p:txBody>
      </p:sp>
      <p:sp>
        <p:nvSpPr>
          <p:cNvPr id="25" name="TextBox 24"/>
          <p:cNvSpPr txBox="1"/>
          <p:nvPr/>
        </p:nvSpPr>
        <p:spPr>
          <a:xfrm>
            <a:off x="713232" y="3794760"/>
            <a:ext cx="10765231" cy="640080"/>
          </a:xfrm>
          <a:prstGeom prst="rect">
            <a:avLst/>
          </a:prstGeom>
          <a:noFill/>
        </p:spPr>
        <p:txBody>
          <a:bodyPr wrap="square">
            <a:spAutoFit/>
          </a:bodyPr>
          <a:lstStyle/>
          <a:p>
            <a:pPr algn="l">
              <a:lnSpc>
                <a:spcPct val="112000"/>
              </a:lnSpc>
            </a:pPr>
            <a:r>
              <a:rPr sz="1200" b="0">
                <a:solidFill>
                  <a:srgbClr val="14201F"/>
                </a:solidFill>
                <a:latin typeface="Segoe UI"/>
              </a:rPr>
              <a:t>Law set 1.2.0 pins 52 laws, each with its version, a content hash over what it says, the Lean module and theorem, and the commit and statement hash it was checked at. Promotion to accepted is never automated. 4 further candidates were mined from the project's own sourced data.</a:t>
            </a:r>
          </a:p>
        </p:txBody>
      </p:sp>
      <p:sp>
        <p:nvSpPr>
          <p:cNvPr id="26" name="TextBox 25"/>
          <p:cNvSpPr txBox="1"/>
          <p:nvPr/>
        </p:nvSpPr>
        <p:spPr>
          <a:xfrm>
            <a:off x="713232" y="4544568"/>
            <a:ext cx="10765231" cy="640080"/>
          </a:xfrm>
          <a:prstGeom prst="rect">
            <a:avLst/>
          </a:prstGeom>
          <a:noFill/>
        </p:spPr>
        <p:txBody>
          <a:bodyPr wrap="square">
            <a:spAutoFit/>
          </a:bodyPr>
          <a:lstStyle/>
          <a:p>
            <a:pPr algn="l">
              <a:lnSpc>
                <a:spcPct val="112000"/>
              </a:lnSpc>
            </a:pPr>
            <a:r>
              <a:rPr sz="1200" b="0">
                <a:solidFill>
                  <a:srgbClr val="14201F"/>
                </a:solidFill>
                <a:latin typeface="Segoe UI"/>
              </a:rPr>
              <a:t>Served three ways from one loader: the hosted delphisci MCP server 0.3.0 (lean_laws_list, lean_law_get, lean_lawset_get, lean_check, lean_verify); the CLI and local sim-engine; and a static JSON mirror at /api/lean/, currently serving law set 1.2.0 (52 laws).</a:t>
            </a:r>
          </a:p>
        </p:txBody>
      </p:sp>
      <p:sp>
        <p:nvSpPr>
          <p:cNvPr id="27" name="TextBox 26"/>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Red on the model means an accepted law is violated; amber means contested, candidate or not checkable. A law's status is a registry decision, not a truth value, and the accepted set was grandfathered in at bootstrap with no per-law review recorded; the approval field says exactly that. Read from lean/registry/ and dashboard/public/api/lean/index.json.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No numeric prediction about a real zebrafish</a:t>
            </a:r>
          </a:p>
          <a:p>
            <a:pPr algn="l">
              <a:lnSpc>
                <a:spcPct val="92000"/>
              </a:lnSpc>
            </a:pPr>
            <a:r>
              <a:rPr sz="4000" b="1">
                <a:solidFill>
                  <a:srgbClr val="14201F"/>
                </a:solidFill>
                <a:latin typeface="Segoe UI"/>
              </a:rPr>
              <a:t>passes as independent evidence.</a:t>
            </a:r>
          </a:p>
        </p:txBody>
      </p:sp>
      <p:graphicFrame>
        <p:nvGraphicFramePr>
          <p:cNvPr id="5" name="Chart 4"/>
          <p:cNvGraphicFramePr>
            <a:graphicFrameLocks noGrp="1"/>
          </p:cNvGraphicFramePr>
          <p:nvPr/>
        </p:nvGraphicFramePr>
        <p:xfrm>
          <a:off x="713232" y="1965960"/>
          <a:ext cx="10765231" cy="2148840"/>
        </p:xfrm>
        <a:graphic>
          <a:graphicData uri="http://schemas.openxmlformats.org/drawingml/2006/chart">
            <c:chart xmlns:c="http://schemas.openxmlformats.org/drawingml/2006/chart" r:id="rId2"/>
          </a:graphicData>
        </a:graphic>
      </p:graphicFrame>
      <p:sp>
        <p:nvSpPr>
          <p:cNvPr id="6" name="TextBox 5"/>
          <p:cNvSpPr txBox="1"/>
          <p:nvPr/>
        </p:nvSpPr>
        <p:spPr>
          <a:xfrm>
            <a:off x="713232" y="4297680"/>
            <a:ext cx="9210751" cy="310896"/>
          </a:xfrm>
          <a:prstGeom prst="rect">
            <a:avLst/>
          </a:prstGeom>
          <a:noFill/>
        </p:spPr>
        <p:txBody>
          <a:bodyPr wrap="square">
            <a:spAutoFit/>
          </a:bodyPr>
          <a:lstStyle/>
          <a:p>
            <a:pPr algn="l">
              <a:lnSpc>
                <a:spcPct val="100000"/>
              </a:lnSpc>
            </a:pPr>
            <a:r>
              <a:rPr sz="1400" b="1">
                <a:solidFill>
                  <a:srgbClr val="14201F"/>
                </a:solidFill>
                <a:latin typeface="Segoe UI"/>
              </a:rPr>
              <a:t>8 “passes” were the studio reading its own sources back</a:t>
            </a:r>
          </a:p>
        </p:txBody>
      </p:sp>
      <p:sp>
        <p:nvSpPr>
          <p:cNvPr id="7" name="TextBox 6"/>
          <p:cNvSpPr txBox="1"/>
          <p:nvPr/>
        </p:nvSpPr>
        <p:spPr>
          <a:xfrm>
            <a:off x="10198303" y="4297680"/>
            <a:ext cx="1280160" cy="310896"/>
          </a:xfrm>
          <a:prstGeom prst="rect">
            <a:avLst/>
          </a:prstGeom>
          <a:noFill/>
        </p:spPr>
        <p:txBody>
          <a:bodyPr wrap="square">
            <a:spAutoFit/>
          </a:bodyPr>
          <a:lstStyle/>
          <a:p>
            <a:pPr algn="r">
              <a:lnSpc>
                <a:spcPct val="100000"/>
              </a:lnSpc>
            </a:pPr>
            <a:r>
              <a:rPr sz="1400" b="1">
                <a:solidFill>
                  <a:srgbClr val="6250D6"/>
                </a:solidFill>
                <a:latin typeface="Segoe UI"/>
              </a:rPr>
              <a:t>circular</a:t>
            </a:r>
          </a:p>
        </p:txBody>
      </p:sp>
      <p:sp>
        <p:nvSpPr>
          <p:cNvPr id="8" name="TextBox 7"/>
          <p:cNvSpPr txBox="1"/>
          <p:nvPr/>
        </p:nvSpPr>
        <p:spPr>
          <a:xfrm>
            <a:off x="713232" y="4572000"/>
            <a:ext cx="10399471" cy="274320"/>
          </a:xfrm>
          <a:prstGeom prst="rect">
            <a:avLst/>
          </a:prstGeom>
          <a:noFill/>
        </p:spPr>
        <p:txBody>
          <a:bodyPr wrap="square">
            <a:spAutoFit/>
          </a:bodyPr>
          <a:lstStyle/>
          <a:p>
            <a:pPr algn="l">
              <a:lnSpc>
                <a:spcPct val="112000"/>
              </a:lnSpc>
            </a:pPr>
            <a:r>
              <a:rPr sz="1000" b="0">
                <a:solidFill>
                  <a:srgbClr val="5A6B69"/>
                </a:solidFill>
                <a:latin typeface="Segoe UI"/>
              </a:rPr>
              <a:t>W1, W2, W3, W5, W6, W7, W8, W9: in band only because the module interpolates, or quotes, the paper it is scored against. Reclassified after the results in a labelled amendment (A1).</a:t>
            </a:r>
          </a:p>
        </p:txBody>
      </p:sp>
      <p:sp>
        <p:nvSpPr>
          <p:cNvPr id="9" name="TextBox 8"/>
          <p:cNvSpPr txBox="1"/>
          <p:nvPr/>
        </p:nvSpPr>
        <p:spPr>
          <a:xfrm>
            <a:off x="713232" y="598932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Tests fixed before any scenario module existed; the pre-registration still hashes to f2523da8529b998e…. Written by an agent that built none of the studio. Harness self-test: 20 of 20 checks fail on a planted bad input. Every negative, law and optimizer control held.  Read from sim-engine/validation/studio-results.json, run 2026-11-01T03:02:07.484Z.</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EB6834"/>
                </a:solidFill>
              </a:rPr>
              <a:t>PARTLY EVIDENCED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A design you can hold.</a:t>
            </a:r>
          </a:p>
          <a:p>
            <a:pPr algn="l">
              <a:lnSpc>
                <a:spcPct val="92000"/>
              </a:lnSpc>
            </a:pPr>
            <a:r>
              <a:rPr sz="4000" b="1">
                <a:solidFill>
                  <a:srgbClr val="14201F"/>
                </a:solidFill>
                <a:latin typeface="Segoe UI"/>
              </a:rPr>
              <a:t>Nobody has thrown one yet.</a:t>
            </a:r>
          </a:p>
        </p:txBody>
      </p:sp>
      <p:pic>
        <p:nvPicPr>
          <p:cNvPr id="5" name="Picture 4" descr="print_starter_exploded.jpg"/>
          <p:cNvPicPr>
            <a:picLocks noChangeAspect="1"/>
          </p:cNvPicPr>
          <p:nvPr/>
        </p:nvPicPr>
        <p:blipFill>
          <a:blip r:embed="rId2"/>
          <a:stretch>
            <a:fillRect/>
          </a:stretch>
        </p:blipFill>
        <p:spPr>
          <a:xfrm>
            <a:off x="713232" y="2057400"/>
            <a:ext cx="4754880" cy="3566160"/>
          </a:xfrm>
          <a:prstGeom prst="rect">
            <a:avLst/>
          </a:prstGeom>
        </p:spPr>
      </p:pic>
      <p:sp>
        <p:nvSpPr>
          <p:cNvPr id="6" name="TextBox 5"/>
          <p:cNvSpPr txBox="1"/>
          <p:nvPr/>
        </p:nvSpPr>
        <p:spPr>
          <a:xfrm>
            <a:off x="713232" y="5669280"/>
            <a:ext cx="4846320" cy="457200"/>
          </a:xfrm>
          <a:prstGeom prst="rect">
            <a:avLst/>
          </a:prstGeom>
          <a:noFill/>
        </p:spPr>
        <p:txBody>
          <a:bodyPr wrap="square">
            <a:spAutoFit/>
          </a:bodyPr>
          <a:lstStyle/>
          <a:p>
            <a:pPr algn="l">
              <a:lnSpc>
                <a:spcPct val="110000"/>
              </a:lnSpc>
            </a:pPr>
            <a:r>
              <a:rPr sz="800" b="0">
                <a:solidFill>
                  <a:srgbClr val="5A6B69"/>
                </a:solidFill>
                <a:latin typeface="Segoe UI"/>
              </a:rPr>
              <a:t>The life-size starter kit, exploded in assembly order: a render of the shipped STL files, not a photograph of a print. anatomy-model/print/renders/starter-exploded.jpg, sha256 cd4aca296376e574…</a:t>
            </a:r>
          </a:p>
        </p:txBody>
      </p:sp>
      <p:sp>
        <p:nvSpPr>
          <p:cNvPr id="7" name="TextBox 6"/>
          <p:cNvSpPr txBox="1"/>
          <p:nvPr/>
        </p:nvSpPr>
        <p:spPr>
          <a:xfrm>
            <a:off x="5833872" y="2057400"/>
            <a:ext cx="3657600" cy="274320"/>
          </a:xfrm>
          <a:prstGeom prst="rect">
            <a:avLst/>
          </a:prstGeom>
          <a:noFill/>
        </p:spPr>
        <p:txBody>
          <a:bodyPr wrap="square">
            <a:spAutoFit/>
          </a:bodyPr>
          <a:lstStyle/>
          <a:p>
            <a:pPr algn="l">
              <a:lnSpc>
                <a:spcPct val="100000"/>
              </a:lnSpc>
            </a:pPr>
            <a:r>
              <a:rPr sz="1300" b="1">
                <a:solidFill>
                  <a:srgbClr val="14201F"/>
                </a:solidFill>
                <a:latin typeface="Segoe UI"/>
              </a:rPr>
              <a:t>Life-size starter kit</a:t>
            </a:r>
          </a:p>
        </p:txBody>
      </p:sp>
      <p:sp>
        <p:nvSpPr>
          <p:cNvPr id="8" name="TextBox 7"/>
          <p:cNvSpPr txBox="1"/>
          <p:nvPr/>
        </p:nvSpPr>
        <p:spPr>
          <a:xfrm>
            <a:off x="9558223" y="2057400"/>
            <a:ext cx="1920240" cy="274320"/>
          </a:xfrm>
          <a:prstGeom prst="rect">
            <a:avLst/>
          </a:prstGeom>
          <a:noFill/>
        </p:spPr>
        <p:txBody>
          <a:bodyPr wrap="square">
            <a:spAutoFit/>
          </a:bodyPr>
          <a:lstStyle/>
          <a:p>
            <a:pPr algn="r">
              <a:lnSpc>
                <a:spcPct val="100000"/>
              </a:lnSpc>
            </a:pPr>
            <a:r>
              <a:rPr sz="1300" b="1">
                <a:solidFill>
                  <a:srgbClr val="1BAF7A"/>
                </a:solidFill>
                <a:latin typeface="Segoe UI"/>
              </a:rPr>
              <a:t>10 of 10 pass</a:t>
            </a:r>
          </a:p>
        </p:txBody>
      </p:sp>
      <p:sp>
        <p:nvSpPr>
          <p:cNvPr id="9" name="TextBox 8"/>
          <p:cNvSpPr txBox="1"/>
          <p:nvPr/>
        </p:nvSpPr>
        <p:spPr>
          <a:xfrm>
            <a:off x="5833872" y="2331720"/>
            <a:ext cx="5644591" cy="548640"/>
          </a:xfrm>
          <a:prstGeom prst="rect">
            <a:avLst/>
          </a:prstGeom>
          <a:noFill/>
        </p:spPr>
        <p:txBody>
          <a:bodyPr wrap="square">
            <a:spAutoFit/>
          </a:bodyPr>
          <a:lstStyle/>
          <a:p>
            <a:pPr algn="l">
              <a:lnSpc>
                <a:spcPct val="110000"/>
              </a:lnSpc>
            </a:pPr>
            <a:r>
              <a:rPr sz="950" b="0">
                <a:solidFill>
                  <a:srgbClr val="5A6B69"/>
                </a:solidFill>
                <a:latin typeface="Segoe UI"/>
              </a:rPr>
              <a:t>keyed press-fit pegs, no glue; small organs merged into blocks, every merge recorded</a:t>
            </a:r>
          </a:p>
        </p:txBody>
      </p:sp>
      <p:sp>
        <p:nvSpPr>
          <p:cNvPr id="10" name="TextBox 9"/>
          <p:cNvSpPr txBox="1"/>
          <p:nvPr/>
        </p:nvSpPr>
        <p:spPr>
          <a:xfrm>
            <a:off x="5833872" y="2926080"/>
            <a:ext cx="3657600" cy="274320"/>
          </a:xfrm>
          <a:prstGeom prst="rect">
            <a:avLst/>
          </a:prstGeom>
          <a:noFill/>
        </p:spPr>
        <p:txBody>
          <a:bodyPr wrap="square">
            <a:spAutoFit/>
          </a:bodyPr>
          <a:lstStyle/>
          <a:p>
            <a:pPr algn="l">
              <a:lnSpc>
                <a:spcPct val="100000"/>
              </a:lnSpc>
            </a:pPr>
            <a:r>
              <a:rPr sz="1300" b="1">
                <a:solidFill>
                  <a:srgbClr val="14201F"/>
                </a:solidFill>
                <a:latin typeface="Segoe UI"/>
              </a:rPr>
              <a:t>120 mm containment-hierarchy kit</a:t>
            </a:r>
          </a:p>
        </p:txBody>
      </p:sp>
      <p:sp>
        <p:nvSpPr>
          <p:cNvPr id="11" name="TextBox 10"/>
          <p:cNvSpPr txBox="1"/>
          <p:nvPr/>
        </p:nvSpPr>
        <p:spPr>
          <a:xfrm>
            <a:off x="9558223" y="2926080"/>
            <a:ext cx="1920240" cy="274320"/>
          </a:xfrm>
          <a:prstGeom prst="rect">
            <a:avLst/>
          </a:prstGeom>
          <a:noFill/>
        </p:spPr>
        <p:txBody>
          <a:bodyPr wrap="square">
            <a:spAutoFit/>
          </a:bodyPr>
          <a:lstStyle/>
          <a:p>
            <a:pPr algn="r">
              <a:lnSpc>
                <a:spcPct val="100000"/>
              </a:lnSpc>
            </a:pPr>
            <a:r>
              <a:rPr sz="1300" b="1">
                <a:solidFill>
                  <a:srgbClr val="14201F"/>
                </a:solidFill>
                <a:latin typeface="Segoe UI"/>
              </a:rPr>
              <a:t>44 of 56 pass</a:t>
            </a:r>
          </a:p>
        </p:txBody>
      </p:sp>
      <p:sp>
        <p:nvSpPr>
          <p:cNvPr id="12" name="TextBox 11"/>
          <p:cNvSpPr txBox="1"/>
          <p:nvPr/>
        </p:nvSpPr>
        <p:spPr>
          <a:xfrm>
            <a:off x="5833872" y="3200400"/>
            <a:ext cx="5644591" cy="548640"/>
          </a:xfrm>
          <a:prstGeom prst="rect">
            <a:avLst/>
          </a:prstGeom>
          <a:noFill/>
        </p:spPr>
        <p:txBody>
          <a:bodyPr wrap="square">
            <a:spAutoFit/>
          </a:bodyPr>
          <a:lstStyle/>
          <a:p>
            <a:pPr algn="l">
              <a:lnSpc>
                <a:spcPct val="110000"/>
              </a:lnSpc>
            </a:pPr>
            <a:r>
              <a:rPr sz="950" b="0">
                <a:solidFill>
                  <a:srgbClr val="5A6B69"/>
                </a:solidFill>
                <a:latin typeface="Segoe UI"/>
              </a:rPr>
              <a:t>organs into system carriers into the body case; failing parts listed, not dropped</a:t>
            </a:r>
          </a:p>
        </p:txBody>
      </p:sp>
      <p:sp>
        <p:nvSpPr>
          <p:cNvPr id="13" name="TextBox 12"/>
          <p:cNvSpPr txBox="1"/>
          <p:nvPr/>
        </p:nvSpPr>
        <p:spPr>
          <a:xfrm>
            <a:off x="5833872" y="3794760"/>
            <a:ext cx="3657600" cy="274320"/>
          </a:xfrm>
          <a:prstGeom prst="rect">
            <a:avLst/>
          </a:prstGeom>
          <a:noFill/>
        </p:spPr>
        <p:txBody>
          <a:bodyPr wrap="square">
            <a:spAutoFit/>
          </a:bodyPr>
          <a:lstStyle/>
          <a:p>
            <a:pPr algn="l">
              <a:lnSpc>
                <a:spcPct val="100000"/>
              </a:lnSpc>
            </a:pPr>
            <a:r>
              <a:rPr sz="1300" b="1">
                <a:solidFill>
                  <a:srgbClr val="14201F"/>
                </a:solidFill>
                <a:latin typeface="Segoe UI"/>
              </a:rPr>
              <a:t>The one to throw, 38.8 mm</a:t>
            </a:r>
          </a:p>
        </p:txBody>
      </p:sp>
      <p:sp>
        <p:nvSpPr>
          <p:cNvPr id="14" name="TextBox 13"/>
          <p:cNvSpPr txBox="1"/>
          <p:nvPr/>
        </p:nvSpPr>
        <p:spPr>
          <a:xfrm>
            <a:off x="9558223" y="3794760"/>
            <a:ext cx="1920240" cy="274320"/>
          </a:xfrm>
          <a:prstGeom prst="rect">
            <a:avLst/>
          </a:prstGeom>
          <a:noFill/>
        </p:spPr>
        <p:txBody>
          <a:bodyPr wrap="square">
            <a:spAutoFit/>
          </a:bodyPr>
          <a:lstStyle/>
          <a:p>
            <a:pPr algn="r">
              <a:lnSpc>
                <a:spcPct val="100000"/>
              </a:lnSpc>
            </a:pPr>
            <a:r>
              <a:rPr sz="1300" b="1">
                <a:solidFill>
                  <a:srgbClr val="14201F"/>
                </a:solidFill>
                <a:latin typeface="Segoe UI"/>
              </a:rPr>
              <a:t>v_min 8.39–9.24 m/s</a:t>
            </a:r>
          </a:p>
        </p:txBody>
      </p:sp>
      <p:sp>
        <p:nvSpPr>
          <p:cNvPr id="15" name="TextBox 14"/>
          <p:cNvSpPr txBox="1"/>
          <p:nvPr/>
        </p:nvSpPr>
        <p:spPr>
          <a:xfrm>
            <a:off x="5833872" y="4069080"/>
            <a:ext cx="5644591" cy="548640"/>
          </a:xfrm>
          <a:prstGeom prst="rect">
            <a:avLst/>
          </a:prstGeom>
          <a:noFill/>
        </p:spPr>
        <p:txBody>
          <a:bodyPr wrap="square">
            <a:spAutoFit/>
          </a:bodyPr>
          <a:lstStyle/>
          <a:p>
            <a:pPr algn="l">
              <a:lnSpc>
                <a:spcPct val="110000"/>
              </a:lnSpc>
            </a:pPr>
            <a:r>
              <a:rPr sz="950" b="0">
                <a:solidFill>
                  <a:srgbClr val="5A6B69"/>
                </a:solidFill>
                <a:latin typeface="Segoe UI"/>
              </a:rPr>
              <a:t>fin at the one measured proportion (flying-fish median, Daane 2021). Empty: static margin -7.7% of chord, unstable; a 0.35 g steel rod makes it +10.9% (first-order)</a:t>
            </a:r>
          </a:p>
        </p:txBody>
      </p:sp>
      <p:sp>
        <p:nvSpPr>
          <p:cNvPr id="16" name="Rounded Rectangle 15"/>
          <p:cNvSpPr/>
          <p:nvPr/>
        </p:nvSpPr>
        <p:spPr>
          <a:xfrm>
            <a:off x="5833872" y="4709160"/>
            <a:ext cx="5644591" cy="1188720"/>
          </a:xfrm>
          <a:prstGeom prst="roundRect">
            <a:avLst/>
          </a:prstGeom>
          <a:solidFill>
            <a:srgbClr val="FFFFFF"/>
          </a:solidFill>
          <a:ln>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14201F"/>
                </a:solidFill>
                <a:latin typeface="Segoe UI"/>
              </a:rPr>
              <a:t>UNVERIFIED  C_Lmax 0.78 is Park &amp; Choi's measurement on a ~20 cm STUFFED REAL flying fish. At 4 cm the Reynolds number is roughly 5x lower and the flow regime differs, so the coefficient does not transfer. No tunnel test, no flight test, no stability analysis beyond the first-order estimate above. The winged zebrafish is a design, not a described species.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9AA6A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9AA6A3"/>
                </a:solidFill>
              </a:rPr>
              <a:t>ANTICIPATED — NO DATA YET</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9AA6A3"/>
                </a:solidFill>
                <a:latin typeface="Segoe UI"/>
              </a:rPr>
              <a:t>Where this goes next.</a:t>
            </a:r>
          </a:p>
        </p:txBody>
      </p:sp>
      <p:sp>
        <p:nvSpPr>
          <p:cNvPr id="5" name="TextBox 4"/>
          <p:cNvSpPr txBox="1"/>
          <p:nvPr/>
        </p:nvSpPr>
        <p:spPr>
          <a:xfrm>
            <a:off x="713232" y="1920240"/>
            <a:ext cx="8229600" cy="457200"/>
          </a:xfrm>
          <a:prstGeom prst="rect">
            <a:avLst/>
          </a:prstGeom>
          <a:noFill/>
        </p:spPr>
        <p:txBody>
          <a:bodyPr wrap="square">
            <a:spAutoFit/>
          </a:bodyPr>
          <a:lstStyle/>
          <a:p>
            <a:pPr algn="l">
              <a:lnSpc>
                <a:spcPct val="100000"/>
              </a:lnSpc>
            </a:pPr>
            <a:r>
              <a:rPr sz="1500" b="0">
                <a:solidFill>
                  <a:srgbClr val="5A6B69"/>
                </a:solidFill>
                <a:latin typeface="Segoe UI"/>
              </a:rPr>
              <a:t>The same question at the scale of a whole organism: which genes drive fin enlargement for gliding, and by how much?</a:t>
            </a:r>
          </a:p>
        </p:txBody>
      </p:sp>
      <p:sp>
        <p:nvSpPr>
          <p:cNvPr id="6" name="Rounded Rectangle 5"/>
          <p:cNvSpPr/>
          <p:nvPr/>
        </p:nvSpPr>
        <p:spPr>
          <a:xfrm>
            <a:off x="713232" y="2606040"/>
            <a:ext cx="3401568" cy="2011680"/>
          </a:xfrm>
          <a:prstGeom prst="roundRect">
            <a:avLst/>
          </a:prstGeom>
          <a:solidFill>
            <a:srgbClr val="F2F4F3"/>
          </a:solidFill>
          <a:ln w="19050">
            <a:solidFill>
              <a:srgbClr val="9AA6A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9AA6A3"/>
                </a:solidFill>
              </a:rPr>
              <a:t>Printed flying-fish pectoral fin</a:t>
            </a:r>
          </a:p>
          <a:p>
            <a:pPr algn="ctr"/>
            <a:r>
              <a:rPr sz="1000">
                <a:solidFill>
                  <a:srgbClr val="9AA6A3"/>
                </a:solidFill>
              </a:rPr>
              <a:t>no specimen, no scan, no print exists</a:t>
            </a:r>
          </a:p>
        </p:txBody>
      </p:sp>
      <p:sp>
        <p:nvSpPr>
          <p:cNvPr id="7" name="Rounded Rectangle 6"/>
          <p:cNvSpPr/>
          <p:nvPr/>
        </p:nvSpPr>
        <p:spPr>
          <a:xfrm>
            <a:off x="4297680" y="2606040"/>
            <a:ext cx="3401568" cy="2011680"/>
          </a:xfrm>
          <a:prstGeom prst="roundRect">
            <a:avLst/>
          </a:prstGeom>
          <a:solidFill>
            <a:srgbClr val="F2F4F3"/>
          </a:solidFill>
          <a:ln w="19050">
            <a:solidFill>
              <a:srgbClr val="9AA6A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9AA6A3"/>
                </a:solidFill>
              </a:rPr>
              <a:t>Fruit-fly wing, scaled to match</a:t>
            </a:r>
          </a:p>
          <a:p>
            <a:pPr algn="ctr"/>
            <a:r>
              <a:rPr sz="1000">
                <a:solidFill>
                  <a:srgbClr val="9AA6A3"/>
                </a:solidFill>
              </a:rPr>
              <a:t>no matched control exists</a:t>
            </a:r>
          </a:p>
        </p:txBody>
      </p:sp>
      <p:sp>
        <p:nvSpPr>
          <p:cNvPr id="8" name="Rounded Rectangle 7"/>
          <p:cNvSpPr/>
          <p:nvPr/>
        </p:nvSpPr>
        <p:spPr>
          <a:xfrm>
            <a:off x="7882128" y="2606040"/>
            <a:ext cx="3401568" cy="2011680"/>
          </a:xfrm>
          <a:prstGeom prst="roundRect">
            <a:avLst/>
          </a:prstGeom>
          <a:solidFill>
            <a:srgbClr val="F2F4F3"/>
          </a:solidFill>
          <a:ln w="19050">
            <a:solidFill>
              <a:srgbClr val="9AA6A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9AA6A3"/>
                </a:solidFill>
              </a:rPr>
              <a:t>Which genes move which feature</a:t>
            </a:r>
          </a:p>
          <a:p>
            <a:pPr algn="ctr"/>
            <a:r>
              <a:rPr sz="1000">
                <a:solidFill>
                  <a:srgbClr val="9AA6A3"/>
                </a:solidFill>
              </a:rPr>
              <a:t>no measurement, no model</a:t>
            </a:r>
          </a:p>
        </p:txBody>
      </p:sp>
      <p:sp>
        <p:nvSpPr>
          <p:cNvPr id="9" name="TextBox 8"/>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This slide stays grey until there is something real behind it. An insect wing and a fish fin solve the same problem with unrelated parts, which makes the comparison worth running — and makes a pretty rendering easy to mistake for a result.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EB6834"/>
                </a:solidFill>
              </a:rPr>
              <a:t>PARTLY EVIDENCED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The honest state of the ladder.</a:t>
            </a:r>
          </a:p>
        </p:txBody>
      </p:sp>
      <p:sp>
        <p:nvSpPr>
          <p:cNvPr id="5" name="Rounded Rectangle 4"/>
          <p:cNvSpPr/>
          <p:nvPr/>
        </p:nvSpPr>
        <p:spPr>
          <a:xfrm>
            <a:off x="713232" y="2468880"/>
            <a:ext cx="2103120" cy="914400"/>
          </a:xfrm>
          <a:prstGeom prst="roundRect">
            <a:avLst/>
          </a:prstGeom>
          <a:solidFill>
            <a:srgbClr val="FFFFFF"/>
          </a:solidFill>
          <a:ln>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0E7C86"/>
                </a:solidFill>
              </a:rPr>
              <a:t>evidenced</a:t>
            </a:r>
          </a:p>
          <a:p>
            <a:r>
              <a:rPr sz="1300">
                <a:solidFill>
                  <a:srgbClr val="14201F"/>
                </a:solidFill>
              </a:rPr>
              <a:t>molecule</a:t>
            </a:r>
          </a:p>
        </p:txBody>
      </p:sp>
      <p:sp>
        <p:nvSpPr>
          <p:cNvPr id="6" name="Rounded Rectangle 5"/>
          <p:cNvSpPr/>
          <p:nvPr/>
        </p:nvSpPr>
        <p:spPr>
          <a:xfrm>
            <a:off x="2962656" y="2468880"/>
            <a:ext cx="2103120" cy="914400"/>
          </a:xfrm>
          <a:prstGeom prst="roundRect">
            <a:avLst/>
          </a:prstGeom>
          <a:solidFill>
            <a:srgbClr val="FFFFFF"/>
          </a:solidFill>
          <a:ln>
            <a:solidFill>
              <a:srgbClr val="9AA6A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9AA6A3"/>
                </a:solidFill>
              </a:rPr>
              <a:t>thin</a:t>
            </a:r>
          </a:p>
          <a:p>
            <a:r>
              <a:rPr sz="1300">
                <a:solidFill>
                  <a:srgbClr val="9AA6A3"/>
                </a:solidFill>
              </a:rPr>
              <a:t>tissue</a:t>
            </a:r>
          </a:p>
        </p:txBody>
      </p:sp>
      <p:sp>
        <p:nvSpPr>
          <p:cNvPr id="7" name="Rounded Rectangle 6"/>
          <p:cNvSpPr/>
          <p:nvPr/>
        </p:nvSpPr>
        <p:spPr>
          <a:xfrm>
            <a:off x="5212080" y="2468880"/>
            <a:ext cx="2103120" cy="914400"/>
          </a:xfrm>
          <a:prstGeom prst="roundRect">
            <a:avLst/>
          </a:prstGeom>
          <a:solidFill>
            <a:srgbClr val="FFFFFF"/>
          </a:solidFill>
          <a:ln>
            <a:solidFill>
              <a:srgbClr val="9AA6A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9AA6A3"/>
                </a:solidFill>
              </a:rPr>
              <a:t>thin</a:t>
            </a:r>
          </a:p>
          <a:p>
            <a:r>
              <a:rPr sz="1300">
                <a:solidFill>
                  <a:srgbClr val="9AA6A3"/>
                </a:solidFill>
              </a:rPr>
              <a:t>organ</a:t>
            </a:r>
          </a:p>
        </p:txBody>
      </p:sp>
      <p:sp>
        <p:nvSpPr>
          <p:cNvPr id="8" name="Rounded Rectangle 7"/>
          <p:cNvSpPr/>
          <p:nvPr/>
        </p:nvSpPr>
        <p:spPr>
          <a:xfrm>
            <a:off x="7461504" y="2468880"/>
            <a:ext cx="2103120" cy="914400"/>
          </a:xfrm>
          <a:prstGeom prst="roundRect">
            <a:avLst/>
          </a:prstGeom>
          <a:solidFill>
            <a:srgbClr val="FFFFFF"/>
          </a:solidFill>
          <a:ln>
            <a:solidFill>
              <a:srgbClr val="9AA6A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9AA6A3"/>
                </a:solidFill>
              </a:rPr>
              <a:t>thin</a:t>
            </a:r>
          </a:p>
          <a:p>
            <a:r>
              <a:rPr sz="1300">
                <a:solidFill>
                  <a:srgbClr val="9AA6A3"/>
                </a:solidFill>
              </a:rPr>
              <a:t>whole organism</a:t>
            </a:r>
          </a:p>
        </p:txBody>
      </p:sp>
      <p:sp>
        <p:nvSpPr>
          <p:cNvPr id="9" name="Rounded Rectangle 8"/>
          <p:cNvSpPr/>
          <p:nvPr/>
        </p:nvSpPr>
        <p:spPr>
          <a:xfrm>
            <a:off x="9710928" y="2468880"/>
            <a:ext cx="2103120" cy="914400"/>
          </a:xfrm>
          <a:prstGeom prst="roundRect">
            <a:avLst/>
          </a:prstGeom>
          <a:solidFill>
            <a:srgbClr val="FFFFFF"/>
          </a:solidFill>
          <a:ln>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0E7C86"/>
                </a:solidFill>
              </a:rPr>
              <a:t>evidenced</a:t>
            </a:r>
          </a:p>
          <a:p>
            <a:r>
              <a:rPr sz="1300">
                <a:solidFill>
                  <a:srgbClr val="14201F"/>
                </a:solidFill>
              </a:rPr>
              <a:t>population</a:t>
            </a:r>
          </a:p>
        </p:txBody>
      </p:sp>
      <p:sp>
        <p:nvSpPr>
          <p:cNvPr id="10" name="TextBox 9"/>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We can go from a sequence to a measured growth rate, and from a claim to a population-level test. The middle of the ladder is where the data thins out, and we are not going to pretend otherwise: the species with a complete record at every scale is a short list, and we publish its length rather than loosening the definition.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EB6834"/>
                </a:solidFill>
              </a:rPr>
              <a:t>PARTLY EVIDENCED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Every finding, made citable.</a:t>
            </a:r>
          </a:p>
        </p:txBody>
      </p:sp>
      <p:graphicFrame>
        <p:nvGraphicFramePr>
          <p:cNvPr id="5" name="Chart 4"/>
          <p:cNvGraphicFramePr>
            <a:graphicFrameLocks noGrp="1"/>
          </p:cNvGraphicFramePr>
          <p:nvPr/>
        </p:nvGraphicFramePr>
        <p:xfrm>
          <a:off x="713232" y="1965960"/>
          <a:ext cx="10490911" cy="2286000"/>
        </p:xfrm>
        <a:graphic>
          <a:graphicData uri="http://schemas.openxmlformats.org/drawingml/2006/chart">
            <c:chart xmlns:c="http://schemas.openxmlformats.org/drawingml/2006/chart" r:id="rId2"/>
          </a:graphicData>
        </a:graphic>
      </p:graphicFrame>
      <p:sp>
        <p:nvSpPr>
          <p:cNvPr id="6" name="TextBox 5"/>
          <p:cNvSpPr txBox="1"/>
          <p:nvPr/>
        </p:nvSpPr>
        <p:spPr>
          <a:xfrm>
            <a:off x="713232" y="4389120"/>
            <a:ext cx="5120640" cy="822960"/>
          </a:xfrm>
          <a:prstGeom prst="rect">
            <a:avLst/>
          </a:prstGeom>
          <a:noFill/>
        </p:spPr>
        <p:txBody>
          <a:bodyPr wrap="square">
            <a:spAutoFit/>
          </a:bodyPr>
          <a:lstStyle/>
          <a:p>
            <a:pPr algn="l">
              <a:lnSpc>
                <a:spcPct val="100000"/>
              </a:lnSpc>
            </a:pPr>
            <a:r>
              <a:rPr sz="2600" b="1">
                <a:solidFill>
                  <a:srgbClr val="1BAF7A"/>
                </a:solidFill>
                <a:latin typeface="Segoe UI"/>
              </a:rPr>
              <a:t>158 records drafted and validated</a:t>
            </a:r>
          </a:p>
        </p:txBody>
      </p:sp>
      <p:sp>
        <p:nvSpPr>
          <p:cNvPr id="7" name="TextBox 6"/>
          <p:cNvSpPr txBox="1"/>
          <p:nvPr/>
        </p:nvSpPr>
        <p:spPr>
          <a:xfrm>
            <a:off x="6199632" y="4389120"/>
            <a:ext cx="5120640" cy="822960"/>
          </a:xfrm>
          <a:prstGeom prst="rect">
            <a:avLst/>
          </a:prstGeom>
          <a:noFill/>
        </p:spPr>
        <p:txBody>
          <a:bodyPr wrap="square">
            <a:spAutoFit/>
          </a:bodyPr>
          <a:lstStyle/>
          <a:p>
            <a:pPr algn="l">
              <a:lnSpc>
                <a:spcPct val="100000"/>
              </a:lnSpc>
            </a:pPr>
            <a:r>
              <a:rPr sz="2600" b="1">
                <a:solidFill>
                  <a:srgbClr val="9AA6A3"/>
                </a:solidFill>
                <a:latin typeface="Segoe UI"/>
              </a:rPr>
              <a:t>0 signed — publishing is irreversible</a:t>
            </a:r>
          </a:p>
        </p:txBody>
      </p:sp>
      <p:sp>
        <p:nvSpPr>
          <p:cNvPr id="8" name="TextBox 7"/>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Each record carries the claim in one sentence, its status including refuted and inconclusive, the dataset with its identifier, the commit proving the test predated the data, and what it does not establish. Refutations are published too; publishing only successes builds a victory log. While drafting we found the published templates use a retired vocabulary, so declaring one would have asserted something false about how every record was made — dropped, measured across five templates, and reported upstream.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What we are not claiming.</a:t>
            </a:r>
          </a:p>
        </p:txBody>
      </p:sp>
      <p:sp>
        <p:nvSpPr>
          <p:cNvPr id="5" name="TextBox 4"/>
          <p:cNvSpPr txBox="1"/>
          <p:nvPr/>
        </p:nvSpPr>
        <p:spPr>
          <a:xfrm>
            <a:off x="713232" y="2148840"/>
            <a:ext cx="10765231" cy="731520"/>
          </a:xfrm>
          <a:prstGeom prst="rect">
            <a:avLst/>
          </a:prstGeom>
          <a:noFill/>
        </p:spPr>
        <p:txBody>
          <a:bodyPr wrap="square">
            <a:spAutoFit/>
          </a:bodyPr>
          <a:lstStyle/>
          <a:p>
            <a:pPr algn="l">
              <a:lnSpc>
                <a:spcPct val="115000"/>
              </a:lnSpc>
            </a:pPr>
            <a:r>
              <a:rPr sz="1300" b="0">
                <a:solidFill>
                  <a:srgbClr val="14201F"/>
                </a:solidFill>
                <a:latin typeface="Segoe UI"/>
              </a:rPr>
              <a:t>—  No wet lab. Nothing here was measured at a bench by us; no new organism, protein or variant was made.</a:t>
            </a:r>
          </a:p>
        </p:txBody>
      </p:sp>
      <p:sp>
        <p:nvSpPr>
          <p:cNvPr id="6" name="TextBox 5"/>
          <p:cNvSpPr txBox="1"/>
          <p:nvPr/>
        </p:nvSpPr>
        <p:spPr>
          <a:xfrm>
            <a:off x="713232" y="2898648"/>
            <a:ext cx="10765231" cy="731520"/>
          </a:xfrm>
          <a:prstGeom prst="rect">
            <a:avLst/>
          </a:prstGeom>
          <a:noFill/>
        </p:spPr>
        <p:txBody>
          <a:bodyPr wrap="square">
            <a:spAutoFit/>
          </a:bodyPr>
          <a:lstStyle/>
          <a:p>
            <a:pPr algn="l">
              <a:lnSpc>
                <a:spcPct val="115000"/>
              </a:lnSpc>
            </a:pPr>
            <a:r>
              <a:rPr sz="1300" b="0">
                <a:solidFill>
                  <a:srgbClr val="14201F"/>
                </a:solidFill>
                <a:latin typeface="Segoe UI"/>
              </a:rPr>
              <a:t>—  No proof about biology. The machine checked the reasoning from measurements to a safe route. That the measurements bracket the truth is assumed, and two replicates cannot justify it across 159,129 variants.</a:t>
            </a:r>
          </a:p>
        </p:txBody>
      </p:sp>
      <p:sp>
        <p:nvSpPr>
          <p:cNvPr id="7" name="TextBox 6"/>
          <p:cNvSpPr txBox="1"/>
          <p:nvPr/>
        </p:nvSpPr>
        <p:spPr>
          <a:xfrm>
            <a:off x="713232" y="3648456"/>
            <a:ext cx="10765231" cy="731520"/>
          </a:xfrm>
          <a:prstGeom prst="rect">
            <a:avLst/>
          </a:prstGeom>
          <a:noFill/>
        </p:spPr>
        <p:txBody>
          <a:bodyPr wrap="square">
            <a:spAutoFit/>
          </a:bodyPr>
          <a:lstStyle/>
          <a:p>
            <a:pPr algn="l">
              <a:lnSpc>
                <a:spcPct val="115000"/>
              </a:lnSpc>
            </a:pPr>
            <a:r>
              <a:rPr sz="1300" b="0">
                <a:solidFill>
                  <a:srgbClr val="14201F"/>
                </a:solidFill>
                <a:latin typeface="Segoe UI"/>
              </a:rPr>
              <a:t>—  "Blocked" is not "impossible." It means unreachable in the measured four-position graph, never in biology.</a:t>
            </a:r>
          </a:p>
        </p:txBody>
      </p:sp>
      <p:sp>
        <p:nvSpPr>
          <p:cNvPr id="8" name="TextBox 7"/>
          <p:cNvSpPr txBox="1"/>
          <p:nvPr/>
        </p:nvSpPr>
        <p:spPr>
          <a:xfrm>
            <a:off x="713232" y="4398264"/>
            <a:ext cx="10765231" cy="731520"/>
          </a:xfrm>
          <a:prstGeom prst="rect">
            <a:avLst/>
          </a:prstGeom>
          <a:noFill/>
        </p:spPr>
        <p:txBody>
          <a:bodyPr wrap="square">
            <a:spAutoFit/>
          </a:bodyPr>
          <a:lstStyle/>
          <a:p>
            <a:pPr algn="l">
              <a:lnSpc>
                <a:spcPct val="115000"/>
              </a:lnSpc>
            </a:pPr>
            <a:r>
              <a:rPr sz="1300" b="0">
                <a:solidFill>
                  <a:srgbClr val="14201F"/>
                </a:solidFill>
                <a:latin typeface="Segoe UI"/>
              </a:rPr>
              <a:t>—  The publications are unsigned drafts. Valid, unpublished, and described as drafts.</a:t>
            </a:r>
          </a:p>
        </p:txBody>
      </p:sp>
      <p:sp>
        <p:nvSpPr>
          <p:cNvPr id="9" name="TextBox 8"/>
          <p:cNvSpPr txBox="1"/>
          <p:nvPr/>
        </p:nvSpPr>
        <p:spPr>
          <a:xfrm>
            <a:off x="713232" y="5148072"/>
            <a:ext cx="10765231" cy="731520"/>
          </a:xfrm>
          <a:prstGeom prst="rect">
            <a:avLst/>
          </a:prstGeom>
          <a:noFill/>
        </p:spPr>
        <p:txBody>
          <a:bodyPr wrap="square">
            <a:spAutoFit/>
          </a:bodyPr>
          <a:lstStyle/>
          <a:p>
            <a:pPr algn="l">
              <a:lnSpc>
                <a:spcPct val="115000"/>
              </a:lnSpc>
            </a:pPr>
            <a:r>
              <a:rPr sz="1300" b="0">
                <a:solidFill>
                  <a:srgbClr val="14201F"/>
                </a:solidFill>
                <a:latin typeface="Segoe UI"/>
              </a:rPr>
              <a:t>—  4 of 5 outside numbers reproduced exactly; the one we could not check, we said so rather than fill in.</a:t>
            </a:r>
          </a:p>
        </p:txBody>
      </p:sp>
      <p:sp>
        <p:nvSpPr>
          <p:cNvPr id="10" name="TextBox 9"/>
          <p:cNvSpPr txBox="1"/>
          <p:nvPr/>
        </p:nvSpPr>
        <p:spPr>
          <a:xfrm>
            <a:off x="713232" y="5897880"/>
            <a:ext cx="10765231" cy="731520"/>
          </a:xfrm>
          <a:prstGeom prst="rect">
            <a:avLst/>
          </a:prstGeom>
          <a:noFill/>
        </p:spPr>
        <p:txBody>
          <a:bodyPr wrap="square">
            <a:spAutoFit/>
          </a:bodyPr>
          <a:lstStyle/>
          <a:p>
            <a:pPr algn="l">
              <a:lnSpc>
                <a:spcPct val="115000"/>
              </a:lnSpc>
            </a:pPr>
            <a:r>
              <a:rPr sz="1300" b="0">
                <a:solidFill>
                  <a:srgbClr val="14201F"/>
                </a:solidFill>
                <a:latin typeface="Segoe UI"/>
              </a:rPr>
              <a:t>—  4 of our own claims were corrected in one day — 3 found by our own checks, 1 by a collaborator's independent cross-check. Each was withdrawn or narrowed in public, as a record or a log entry, never as a silent edit.</a:t>
            </a:r>
          </a:p>
        </p:txBody>
      </p:sp>
      <p:sp>
        <p:nvSpPr>
          <p:cNvPr id="11" name="TextBox 10"/>
          <p:cNvSpPr txBox="1"/>
          <p:nvPr/>
        </p:nvSpPr>
        <p:spPr>
          <a:xfrm>
            <a:off x="713232" y="6647688"/>
            <a:ext cx="10765231" cy="731520"/>
          </a:xfrm>
          <a:prstGeom prst="rect">
            <a:avLst/>
          </a:prstGeom>
          <a:noFill/>
        </p:spPr>
        <p:txBody>
          <a:bodyPr wrap="square">
            <a:spAutoFit/>
          </a:bodyPr>
          <a:lstStyle/>
          <a:p>
            <a:pPr algn="l">
              <a:lnSpc>
                <a:spcPct val="115000"/>
              </a:lnSpc>
            </a:pPr>
            <a:r>
              <a:rPr sz="1300" b="0">
                <a:solidFill>
                  <a:srgbClr val="14201F"/>
                </a:solidFill>
                <a:latin typeface="Segoe UI"/>
              </a:rPr>
              <a:t>—  We did not design an organism. The "designed" fish is Daane et al. 2021's published double heterozygote, and our pre-registered test of it came back unsupported. The apparatus is ours; the animal is not.</a:t>
            </a:r>
          </a:p>
        </p:txBody>
      </p:sp>
      <p:sp>
        <p:nvSpPr>
          <p:cNvPr id="12" name="TextBox 11"/>
          <p:cNvSpPr txBox="1"/>
          <p:nvPr/>
        </p:nvSpPr>
        <p:spPr>
          <a:xfrm>
            <a:off x="713232" y="7397496"/>
            <a:ext cx="10765231" cy="731520"/>
          </a:xfrm>
          <a:prstGeom prst="rect">
            <a:avLst/>
          </a:prstGeom>
          <a:noFill/>
        </p:spPr>
        <p:txBody>
          <a:bodyPr wrap="square">
            <a:spAutoFit/>
          </a:bodyPr>
          <a:lstStyle/>
          <a:p>
            <a:pPr algn="l">
              <a:lnSpc>
                <a:spcPct val="115000"/>
              </a:lnSpc>
            </a:pPr>
            <a:r>
              <a:rPr sz="1300" b="0">
                <a:solidFill>
                  <a:srgbClr val="14201F"/>
                </a:solidFill>
                <a:latin typeface="Segoe UI"/>
              </a:rPr>
              <a:t>—  Validation on unseen data ran, and returned nothing. A clade was frozen as a holdout before the tests were built; 3 completed results were examined against it and 3 came back inconclusive. The 2 that state a reason were stopped by the builders' own pre-registered minimum sample size, not by a verdict we disliked. An exam that cannot reach a verdict is reported as one that cannot.</a:t>
            </a:r>
          </a:p>
        </p:txBody>
      </p:sp>
      <p:sp>
        <p:nvSpPr>
          <p:cNvPr id="13" name="TextBox 12"/>
          <p:cNvSpPr txBox="1"/>
          <p:nvPr/>
        </p:nvSpPr>
        <p:spPr>
          <a:xfrm>
            <a:off x="713232" y="5623560"/>
            <a:ext cx="10765231" cy="914400"/>
          </a:xfrm>
          <a:prstGeom prst="rect">
            <a:avLst/>
          </a:prstGeom>
          <a:noFill/>
        </p:spPr>
        <p:txBody>
          <a:bodyPr wrap="square">
            <a:spAutoFit/>
          </a:bodyPr>
          <a:lstStyle/>
          <a:p>
            <a:pPr algn="l">
              <a:lnSpc>
                <a:spcPct val="115000"/>
              </a:lnSpc>
            </a:pPr>
            <a:r>
              <a:rPr sz="1200" b="0">
                <a:solidFill>
                  <a:srgbClr val="5A6B69"/>
                </a:solidFill>
                <a:latin typeface="Segoe UI"/>
              </a:rPr>
              <a:t>Every one of these is on the public dashboard too, next to the result it limits.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13232" y="384048"/>
            <a:ext cx="7315200" cy="274320"/>
          </a:xfrm>
          <a:prstGeom prst="rect">
            <a:avLst/>
          </a:prstGeom>
          <a:noFill/>
        </p:spPr>
        <p:txBody>
          <a:bodyPr wrap="square">
            <a:spAutoFit/>
          </a:bodyPr>
          <a:lstStyle/>
          <a:p>
            <a:pPr algn="l">
              <a:lnSpc>
                <a:spcPct val="100000"/>
              </a:lnSpc>
            </a:pPr>
            <a:r>
              <a:rPr sz="1000" b="1">
                <a:solidFill>
                  <a:srgbClr val="5A6B69"/>
                </a:solidFill>
                <a:latin typeface="Segoe UI"/>
              </a:rPr>
              <a:t>DELPHI · ScienceClaw 2026</a:t>
            </a:r>
          </a:p>
        </p:txBody>
      </p:sp>
      <p:sp>
        <p:nvSpPr>
          <p:cNvPr id="3" name="Rounded Rectangle 2"/>
          <p:cNvSpPr/>
          <p:nvPr/>
        </p:nvSpPr>
        <p:spPr>
          <a:xfrm>
            <a:off x="8826703" y="329184"/>
            <a:ext cx="2651760" cy="310896"/>
          </a:xfrm>
          <a:prstGeom prst="roundRect">
            <a:avLst/>
          </a:prstGeom>
          <a:solidFill>
            <a:srgbClr val="FFFFFF"/>
          </a:solidFill>
          <a:ln w="12700">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1BAF7A"/>
                </a:solidFill>
              </a:rPr>
              <a:t>EVIDENCE IN HAND</a:t>
            </a:r>
          </a:p>
        </p:txBody>
      </p:sp>
      <p:sp>
        <p:nvSpPr>
          <p:cNvPr id="4" name="TextBox 3"/>
          <p:cNvSpPr txBox="1"/>
          <p:nvPr/>
        </p:nvSpPr>
        <p:spPr>
          <a:xfrm>
            <a:off x="713232" y="868680"/>
            <a:ext cx="10765231" cy="1371600"/>
          </a:xfrm>
          <a:prstGeom prst="rect">
            <a:avLst/>
          </a:prstGeom>
          <a:noFill/>
        </p:spPr>
        <p:txBody>
          <a:bodyPr wrap="square">
            <a:spAutoFit/>
          </a:bodyPr>
          <a:lstStyle/>
          <a:p>
            <a:pPr algn="l">
              <a:lnSpc>
                <a:spcPct val="92000"/>
              </a:lnSpc>
            </a:pPr>
            <a:r>
              <a:rPr sz="4000" b="1">
                <a:solidFill>
                  <a:srgbClr val="14201F"/>
                </a:solidFill>
                <a:latin typeface="Segoe UI"/>
              </a:rPr>
              <a:t>What we want.</a:t>
            </a:r>
          </a:p>
        </p:txBody>
      </p:sp>
      <p:sp>
        <p:nvSpPr>
          <p:cNvPr id="5" name="TextBox 4"/>
          <p:cNvSpPr txBox="1"/>
          <p:nvPr/>
        </p:nvSpPr>
        <p:spPr>
          <a:xfrm>
            <a:off x="713232" y="2194560"/>
            <a:ext cx="10765231" cy="365760"/>
          </a:xfrm>
          <a:prstGeom prst="rect">
            <a:avLst/>
          </a:prstGeom>
          <a:noFill/>
        </p:spPr>
        <p:txBody>
          <a:bodyPr wrap="square">
            <a:spAutoFit/>
          </a:bodyPr>
          <a:lstStyle/>
          <a:p>
            <a:pPr algn="l">
              <a:lnSpc>
                <a:spcPct val="100000"/>
              </a:lnSpc>
            </a:pPr>
            <a:r>
              <a:rPr sz="1700" b="1">
                <a:solidFill>
                  <a:srgbClr val="14201F"/>
                </a:solidFill>
                <a:latin typeface="Segoe UI"/>
              </a:rPr>
              <a:t>One historical campaign from one lab.</a:t>
            </a:r>
          </a:p>
        </p:txBody>
      </p:sp>
      <p:sp>
        <p:nvSpPr>
          <p:cNvPr id="6" name="TextBox 5"/>
          <p:cNvSpPr txBox="1"/>
          <p:nvPr/>
        </p:nvSpPr>
        <p:spPr>
          <a:xfrm>
            <a:off x="713232" y="2542032"/>
            <a:ext cx="9850831" cy="640080"/>
          </a:xfrm>
          <a:prstGeom prst="rect">
            <a:avLst/>
          </a:prstGeom>
          <a:noFill/>
        </p:spPr>
        <p:txBody>
          <a:bodyPr wrap="square">
            <a:spAutoFit/>
          </a:bodyPr>
          <a:lstStyle/>
          <a:p>
            <a:pPr algn="l">
              <a:lnSpc>
                <a:spcPct val="112000"/>
              </a:lnSpc>
            </a:pPr>
            <a:r>
              <a:rPr sz="1200" b="0">
                <a:solidFill>
                  <a:srgbClr val="5A6B69"/>
                </a:solidFill>
                <a:latin typeface="Segoe UI"/>
              </a:rPr>
              <a:t>Give us a finished enzyme-engineering campaign and we will replay it at matched budget and show, in assays and days, where the decision could have been reached sooner.</a:t>
            </a:r>
          </a:p>
        </p:txBody>
      </p:sp>
      <p:sp>
        <p:nvSpPr>
          <p:cNvPr id="7" name="TextBox 6"/>
          <p:cNvSpPr txBox="1"/>
          <p:nvPr/>
        </p:nvSpPr>
        <p:spPr>
          <a:xfrm>
            <a:off x="713232" y="3364992"/>
            <a:ext cx="10765231" cy="365760"/>
          </a:xfrm>
          <a:prstGeom prst="rect">
            <a:avLst/>
          </a:prstGeom>
          <a:noFill/>
        </p:spPr>
        <p:txBody>
          <a:bodyPr wrap="square">
            <a:spAutoFit/>
          </a:bodyPr>
          <a:lstStyle/>
          <a:p>
            <a:pPr algn="l">
              <a:lnSpc>
                <a:spcPct val="100000"/>
              </a:lnSpc>
            </a:pPr>
            <a:r>
              <a:rPr sz="1700" b="1">
                <a:solidFill>
                  <a:srgbClr val="14201F"/>
                </a:solidFill>
                <a:latin typeface="Segoe UI"/>
              </a:rPr>
              <a:t>A second assessor, from a different company.</a:t>
            </a:r>
          </a:p>
        </p:txBody>
      </p:sp>
      <p:sp>
        <p:nvSpPr>
          <p:cNvPr id="8" name="TextBox 7"/>
          <p:cNvSpPr txBox="1"/>
          <p:nvPr/>
        </p:nvSpPr>
        <p:spPr>
          <a:xfrm>
            <a:off x="713232" y="3712464"/>
            <a:ext cx="9850831" cy="640080"/>
          </a:xfrm>
          <a:prstGeom prst="rect">
            <a:avLst/>
          </a:prstGeom>
          <a:noFill/>
        </p:spPr>
        <p:txBody>
          <a:bodyPr wrap="square">
            <a:spAutoFit/>
          </a:bodyPr>
          <a:lstStyle/>
          <a:p>
            <a:pPr algn="l">
              <a:lnSpc>
                <a:spcPct val="112000"/>
              </a:lnSpc>
            </a:pPr>
            <a:r>
              <a:rPr sz="1200" b="0">
                <a:solidFill>
                  <a:srgbClr val="5A6B69"/>
                </a:solidFill>
                <a:latin typeface="Segoe UI"/>
              </a:rPr>
              <a:t>One is not enough for a verdict to travel with a publication, and we will not let the model that wrote a proof grade it.</a:t>
            </a:r>
          </a:p>
        </p:txBody>
      </p:sp>
      <p:sp>
        <p:nvSpPr>
          <p:cNvPr id="9" name="TextBox 8"/>
          <p:cNvSpPr txBox="1"/>
          <p:nvPr/>
        </p:nvSpPr>
        <p:spPr>
          <a:xfrm>
            <a:off x="713232" y="4535424"/>
            <a:ext cx="10765231" cy="365760"/>
          </a:xfrm>
          <a:prstGeom prst="rect">
            <a:avLst/>
          </a:prstGeom>
          <a:noFill/>
        </p:spPr>
        <p:txBody>
          <a:bodyPr wrap="square">
            <a:spAutoFit/>
          </a:bodyPr>
          <a:lstStyle/>
          <a:p>
            <a:pPr algn="l">
              <a:lnSpc>
                <a:spcPct val="100000"/>
              </a:lnSpc>
            </a:pPr>
            <a:r>
              <a:rPr sz="1700" b="1">
                <a:solidFill>
                  <a:srgbClr val="14201F"/>
                </a:solidFill>
                <a:latin typeface="Segoe UI"/>
              </a:rPr>
              <a:t>A harder panel.</a:t>
            </a:r>
          </a:p>
        </p:txBody>
      </p:sp>
      <p:sp>
        <p:nvSpPr>
          <p:cNvPr id="10" name="TextBox 9"/>
          <p:cNvSpPr txBox="1"/>
          <p:nvPr/>
        </p:nvSpPr>
        <p:spPr>
          <a:xfrm>
            <a:off x="713232" y="4882896"/>
            <a:ext cx="9850831" cy="640080"/>
          </a:xfrm>
          <a:prstGeom prst="rect">
            <a:avLst/>
          </a:prstGeom>
          <a:noFill/>
        </p:spPr>
        <p:txBody>
          <a:bodyPr wrap="square">
            <a:spAutoFit/>
          </a:bodyPr>
          <a:lstStyle/>
          <a:p>
            <a:pPr algn="l">
              <a:lnSpc>
                <a:spcPct val="112000"/>
              </a:lnSpc>
            </a:pPr>
            <a:r>
              <a:rPr sz="1200" b="0">
                <a:solidFill>
                  <a:srgbClr val="5A6B69"/>
                </a:solidFill>
                <a:latin typeface="Segoe UI"/>
              </a:rPr>
              <a:t>Our own check showed a benchmark can measure its own composition. Send pairs we did not pick.</a:t>
            </a:r>
          </a:p>
        </p:txBody>
      </p:sp>
      <p:sp>
        <p:nvSpPr>
          <p:cNvPr id="11" name="TextBox 10"/>
          <p:cNvSpPr txBox="1"/>
          <p:nvPr/>
        </p:nvSpPr>
        <p:spPr>
          <a:xfrm>
            <a:off x="713232" y="5852160"/>
            <a:ext cx="10765231" cy="457200"/>
          </a:xfrm>
          <a:prstGeom prst="rect">
            <a:avLst/>
          </a:prstGeom>
          <a:noFill/>
        </p:spPr>
        <p:txBody>
          <a:bodyPr wrap="square">
            <a:spAutoFit/>
          </a:bodyPr>
          <a:lstStyle/>
          <a:p>
            <a:pPr algn="l">
              <a:lnSpc>
                <a:spcPct val="100000"/>
              </a:lnSpc>
            </a:pPr>
            <a:r>
              <a:rPr sz="1400" b="1">
                <a:solidFill>
                  <a:srgbClr val="0E7C86"/>
                </a:solidFill>
                <a:latin typeface="Segoe UI"/>
              </a:rPr>
              <a:t>delphi-mission-control.ashenoy000.workers.dev/start/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