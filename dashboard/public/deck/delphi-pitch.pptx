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claims</c:v>
                </c:pt>
              </c:strCache>
            </c:strRef>
          </c:tx>
          <c:spPr>
            <a:solidFill>
              <a:srgbClr val="2A78D6"/>
            </a:solidFill>
          </c:spPr>
          <c:cat>
            <c:strRef>
              <c:f>Sheet1!$A$2:$A$4</c:f>
              <c:strCache>
                <c:ptCount val="3"/>
                <c:pt idx="0">
                  <c:v>Extracted</c:v>
                </c:pt>
                <c:pt idx="1">
                  <c:v>Tested on data</c:v>
                </c:pt>
                <c:pt idx="2">
                  <c:v>Proved in Lean</c:v>
                </c:pt>
              </c:strCache>
            </c:strRef>
          </c:cat>
          <c:val>
            <c:numRef>
              <c:f>Sheet1!$B$2:$B$4</c:f>
              <c:numCache>
                <c:formatCode>General</c:formatCode>
                <c:ptCount val="3"/>
                <c:pt idx="0">
                  <c:v>880</c:v>
                </c:pt>
                <c:pt idx="1">
                  <c:v>16</c:v>
                </c:pt>
                <c:pt idx="2">
                  <c:v>4</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dispBlanksAs val="gap"/>
  </c:chart>
  <c:txPr>
    <a:bodyPr/>
    <a:lstStyle/>
    <a:p>
      <a:pPr>
        <a:defRPr sz="1200">
          <a:solidFill>
            <a:srgbClr val="5A6B69"/>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run 1, from memory</c:v>
                </c:pt>
              </c:strCache>
            </c:strRef>
          </c:tx>
          <c:spPr>
            <a:solidFill>
              <a:srgbClr val="2A78D6"/>
            </a:solidFill>
          </c:spPr>
          <c:cat>
            <c:strRef>
              <c:f>Sheet1!$A$2:$A$5</c:f>
              <c:strCache>
                <c:ptCount val="4"/>
                <c:pt idx="0">
                  <c:v>Swarm, led</c:v>
                </c:pt>
                <c:pt idx="1">
                  <c:v>Swarm, peer-to-peer</c:v>
                </c:pt>
                <c:pt idx="2">
                  <c:v>Workers, isolated</c:v>
                </c:pt>
                <c:pt idx="3">
                  <c:v>One agent alone</c:v>
                </c:pt>
              </c:strCache>
            </c:strRef>
          </c:cat>
          <c:val>
            <c:numRef>
              <c:f>Sheet1!$B$2:$B$5</c:f>
              <c:numCache>
                <c:formatCode>General</c:formatCode>
                <c:ptCount val="4"/>
                <c:pt idx="0">
                  <c:v>19</c:v>
                </c:pt>
                <c:pt idx="1">
                  <c:v>18</c:v>
                </c:pt>
                <c:pt idx="2">
                  <c:v>17</c:v>
                </c:pt>
                <c:pt idx="3">
                  <c:v>13</c:v>
                </c:pt>
              </c:numCache>
            </c:numRef>
          </c:val>
        </c:ser>
        <c:ser>
          <c:idx val="1"/>
          <c:order val="1"/>
          <c:tx>
            <c:strRef>
              <c:f>Sheet1!$C$1</c:f>
              <c:strCache>
                <c:ptCount val="1"/>
                <c:pt idx="0">
                  <c:v>run 2, must fetch the page</c:v>
                </c:pt>
              </c:strCache>
            </c:strRef>
          </c:tx>
          <c:spPr>
            <a:solidFill>
              <a:srgbClr val="6250D6"/>
            </a:solidFill>
          </c:spPr>
          <c:cat>
            <c:strRef>
              <c:f>Sheet1!$A$2:$A$5</c:f>
              <c:strCache>
                <c:ptCount val="4"/>
                <c:pt idx="0">
                  <c:v>Swarm, led</c:v>
                </c:pt>
                <c:pt idx="1">
                  <c:v>Swarm, peer-to-peer</c:v>
                </c:pt>
                <c:pt idx="2">
                  <c:v>Workers, isolated</c:v>
                </c:pt>
                <c:pt idx="3">
                  <c:v>One agent alone</c:v>
                </c:pt>
              </c:strCache>
            </c:strRef>
          </c:cat>
          <c:val>
            <c:numRef>
              <c:f>Sheet1!$C$2:$C$5</c:f>
              <c:numCache>
                <c:formatCode>General</c:formatCode>
                <c:ptCount val="4"/>
                <c:pt idx="0">
                  <c:v>18</c:v>
                </c:pt>
                <c:pt idx="1">
                  <c:v>17</c:v>
                </c:pt>
                <c:pt idx="2">
                  <c:v>16</c:v>
                </c:pt>
                <c:pt idx="3">
                  <c:v>12</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legend>
      <c:legendPos val="b"/>
      <c:overlay val="0"/>
    </c:legend>
    <c:dispBlanksAs val="gap"/>
  </c:chart>
  <c:txPr>
    <a:bodyPr/>
    <a:lstStyle/>
    <a:p>
      <a:pPr>
        <a:defRPr sz="1200">
          <a:solidFill>
            <a:srgbClr val="5A6B69"/>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records drafted</c:v>
                </c:pt>
              </c:strCache>
            </c:strRef>
          </c:tx>
          <c:spPr>
            <a:solidFill>
              <a:srgbClr val="1BAF7A"/>
            </a:solidFill>
          </c:spPr>
          <c:cat>
            <c:strRef>
              <c:f>Sheet1!$A$2:$A$5</c:f>
              <c:strCache>
                <c:ptCount val="4"/>
                <c:pt idx="0">
                  <c:v>Proofs + assessments</c:v>
                </c:pt>
                <c:pt idx="1">
                  <c:v>Blueprints, predictions, a refusal</c:v>
                </c:pt>
                <c:pt idx="2">
                  <c:v>Swarm experiments</c:v>
                </c:pt>
                <c:pt idx="3">
                  <c:v>Claim tests, incl. refutations</c:v>
                </c:pt>
              </c:strCache>
            </c:strRef>
          </c:cat>
          <c:val>
            <c:numRef>
              <c:f>Sheet1!$B$2:$B$5</c:f>
              <c:numCache>
                <c:formatCode>General</c:formatCode>
                <c:ptCount val="4"/>
                <c:pt idx="0">
                  <c:v>13</c:v>
                </c:pt>
                <c:pt idx="1">
                  <c:v>33</c:v>
                </c:pt>
                <c:pt idx="2">
                  <c:v>9</c:v>
                </c:pt>
                <c:pt idx="3">
                  <c:v>15</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dispBlanksAs val="gap"/>
  </c:chart>
  <c:txPr>
    <a:bodyPr/>
    <a:lstStyle/>
    <a:p>
      <a:pPr>
        <a:defRPr sz="1200">
          <a:solidFill>
            <a:srgbClr val="5A6B69"/>
          </a:solidFill>
          <a:latin typeface="Segoe U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Which experiment would</a:t>
            </a:r>
          </a:p>
          <a:p>
            <a:pPr algn="l">
              <a:lnSpc>
                <a:spcPct val="92000"/>
              </a:lnSpc>
            </a:pPr>
            <a:r>
              <a:rPr sz="4000" b="1">
                <a:solidFill>
                  <a:srgbClr val="14201F"/>
                </a:solidFill>
                <a:latin typeface="Segoe UI"/>
              </a:rPr>
              <a:t>justify the next step?</a:t>
            </a:r>
          </a:p>
        </p:txBody>
      </p:sp>
      <p:sp>
        <p:nvSpPr>
          <p:cNvPr id="5" name="TextBox 4"/>
          <p:cNvSpPr txBox="1"/>
          <p:nvPr/>
        </p:nvSpPr>
        <p:spPr>
          <a:xfrm>
            <a:off x="713232" y="2240280"/>
            <a:ext cx="7863840" cy="822960"/>
          </a:xfrm>
          <a:prstGeom prst="rect">
            <a:avLst/>
          </a:prstGeom>
          <a:noFill/>
        </p:spPr>
        <p:txBody>
          <a:bodyPr wrap="square">
            <a:spAutoFit/>
          </a:bodyPr>
          <a:lstStyle/>
          <a:p>
            <a:pPr algn="l">
              <a:lnSpc>
                <a:spcPct val="120000"/>
              </a:lnSpc>
            </a:pPr>
            <a:r>
              <a:rPr sz="1500" b="0">
                <a:solidFill>
                  <a:srgbClr val="5A6B69"/>
                </a:solidFill>
                <a:latin typeface="Segoe UI"/>
              </a:rPr>
              <a:t>We turn claims about how life works into experiments a machine can check —</a:t>
            </a:r>
          </a:p>
          <a:p>
            <a:pPr algn="l">
              <a:lnSpc>
                <a:spcPct val="120000"/>
              </a:lnSpc>
            </a:pPr>
            <a:r>
              <a:rPr sz="1500" b="0">
                <a:solidFill>
                  <a:srgbClr val="5A6B69"/>
                </a:solidFill>
                <a:latin typeface="Segoe UI"/>
              </a:rPr>
              <a:t>and say plainly when the evidence is not there yet.</a:t>
            </a:r>
          </a:p>
        </p:txBody>
      </p:sp>
      <p:sp>
        <p:nvSpPr>
          <p:cNvPr id="6" name="Rounded Rectangle 5"/>
          <p:cNvSpPr/>
          <p:nvPr/>
        </p:nvSpPr>
        <p:spPr>
          <a:xfrm>
            <a:off x="1167231" y="3749039"/>
            <a:ext cx="1078992" cy="566928"/>
          </a:xfrm>
          <a:prstGeom prst="roundRect">
            <a:avLst/>
          </a:prstGeom>
          <a:solidFill>
            <a:srgbClr val="FFFFFF"/>
          </a:solidFill>
          <a:ln w="2222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VFVS</a:t>
            </a:r>
          </a:p>
        </p:txBody>
      </p:sp>
      <p:sp>
        <p:nvSpPr>
          <p:cNvPr id="7" name="Rectangle 6"/>
          <p:cNvSpPr/>
          <p:nvPr/>
        </p:nvSpPr>
        <p:spPr>
          <a:xfrm>
            <a:off x="224622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63027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VFMS</a:t>
            </a:r>
          </a:p>
        </p:txBody>
      </p:sp>
      <p:sp>
        <p:nvSpPr>
          <p:cNvPr id="9" name="Rectangle 8"/>
          <p:cNvSpPr/>
          <p:nvPr/>
        </p:nvSpPr>
        <p:spPr>
          <a:xfrm>
            <a:off x="370926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09331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SFMS</a:t>
            </a:r>
          </a:p>
        </p:txBody>
      </p:sp>
      <p:sp>
        <p:nvSpPr>
          <p:cNvPr id="11" name="Rectangle 10"/>
          <p:cNvSpPr/>
          <p:nvPr/>
        </p:nvSpPr>
        <p:spPr>
          <a:xfrm>
            <a:off x="517230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55635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SIMS</a:t>
            </a:r>
          </a:p>
        </p:txBody>
      </p:sp>
      <p:sp>
        <p:nvSpPr>
          <p:cNvPr id="13" name="Rectangle 12"/>
          <p:cNvSpPr/>
          <p:nvPr/>
        </p:nvSpPr>
        <p:spPr>
          <a:xfrm>
            <a:off x="663534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01939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SIMG</a:t>
            </a:r>
          </a:p>
        </p:txBody>
      </p:sp>
      <p:sp>
        <p:nvSpPr>
          <p:cNvPr id="15" name="Rectangle 14"/>
          <p:cNvSpPr/>
          <p:nvPr/>
        </p:nvSpPr>
        <p:spPr>
          <a:xfrm>
            <a:off x="809838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48243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SIKG</a:t>
            </a:r>
          </a:p>
        </p:txBody>
      </p:sp>
      <p:sp>
        <p:nvSpPr>
          <p:cNvPr id="17" name="Rectangle 16"/>
          <p:cNvSpPr/>
          <p:nvPr/>
        </p:nvSpPr>
        <p:spPr>
          <a:xfrm>
            <a:off x="956142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945471" y="3749039"/>
            <a:ext cx="1078992" cy="566928"/>
          </a:xfrm>
          <a:prstGeom prst="roundRect">
            <a:avLst/>
          </a:prstGeom>
          <a:solidFill>
            <a:srgbClr val="FFFFFF"/>
          </a:solidFill>
          <a:ln w="22225">
            <a:solidFill>
              <a:srgbClr val="6250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AIKG</a:t>
            </a:r>
          </a:p>
        </p:txBody>
      </p:sp>
      <p:sp>
        <p:nvSpPr>
          <p:cNvPr id="19" name="TextBox 18"/>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A real route through a real enzyme: every step measured, every step uphill, the whole thing machine-checked.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Science has a backlog.</a:t>
            </a:r>
          </a:p>
        </p:txBody>
      </p:sp>
      <p:sp>
        <p:nvSpPr>
          <p:cNvPr id="5" name="TextBox 4"/>
          <p:cNvSpPr txBox="1"/>
          <p:nvPr/>
        </p:nvSpPr>
        <p:spPr>
          <a:xfrm>
            <a:off x="713232" y="2286000"/>
            <a:ext cx="2834640" cy="1280160"/>
          </a:xfrm>
          <a:prstGeom prst="rect">
            <a:avLst/>
          </a:prstGeom>
          <a:noFill/>
        </p:spPr>
        <p:txBody>
          <a:bodyPr wrap="square">
            <a:spAutoFit/>
          </a:bodyPr>
          <a:lstStyle/>
          <a:p>
            <a:pPr algn="l">
              <a:lnSpc>
                <a:spcPct val="100000"/>
              </a:lnSpc>
            </a:pPr>
            <a:r>
              <a:rPr sz="5400" b="1">
                <a:solidFill>
                  <a:srgbClr val="2A78D6"/>
                </a:solidFill>
                <a:latin typeface="Segoe UI"/>
              </a:rPr>
              <a:t>880</a:t>
            </a:r>
          </a:p>
        </p:txBody>
      </p:sp>
      <p:sp>
        <p:nvSpPr>
          <p:cNvPr id="6" name="TextBox 5"/>
          <p:cNvSpPr txBox="1"/>
          <p:nvPr/>
        </p:nvSpPr>
        <p:spPr>
          <a:xfrm>
            <a:off x="7132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claims pulled out of Darwin, Thompson, Turing, Wolfram and others</a:t>
            </a:r>
          </a:p>
        </p:txBody>
      </p:sp>
      <p:sp>
        <p:nvSpPr>
          <p:cNvPr id="7" name="TextBox 6"/>
          <p:cNvSpPr txBox="1"/>
          <p:nvPr/>
        </p:nvSpPr>
        <p:spPr>
          <a:xfrm>
            <a:off x="3913632" y="228600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16</a:t>
            </a:r>
          </a:p>
        </p:txBody>
      </p:sp>
      <p:sp>
        <p:nvSpPr>
          <p:cNvPr id="8" name="TextBox 7"/>
          <p:cNvSpPr txBox="1"/>
          <p:nvPr/>
        </p:nvSpPr>
        <p:spPr>
          <a:xfrm>
            <a:off x="39136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them tested against real data this weekend</a:t>
            </a:r>
          </a:p>
        </p:txBody>
      </p:sp>
      <p:sp>
        <p:nvSpPr>
          <p:cNvPr id="9" name="TextBox 8"/>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The gap is the opportunity, not an embarrassment. Most of these claims have never had a dataset pointed at them, because nobody had a cheap way to ask which dataset would settle which claim.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So we built the asking machine.</a:t>
            </a:r>
          </a:p>
        </p:txBody>
      </p:sp>
      <p:graphicFrame>
        <p:nvGraphicFramePr>
          <p:cNvPr id="5" name="Chart 4"/>
          <p:cNvGraphicFramePr>
            <a:graphicFrameLocks noGrp="1"/>
          </p:cNvGraphicFramePr>
          <p:nvPr/>
        </p:nvGraphicFramePr>
        <p:xfrm>
          <a:off x="713232" y="2103120"/>
          <a:ext cx="10490911" cy="2926080"/>
        </p:xfrm>
        <a:graphic>
          <a:graphicData uri="http://schemas.openxmlformats.org/drawingml/2006/chart">
            <c:chart xmlns:c="http://schemas.openxmlformats.org/drawingml/2006/chart" r:id="rId2"/>
          </a:graphicData>
        </a:graphic>
      </p:graphicFrame>
      <p:sp>
        <p:nvSpPr>
          <p:cNvPr id="6" name="TextBox 5"/>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Each stage is narrower than the last, on purpose. A claim only advances when a named dataset can settle it and two independent assessors agree it can.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Ten specialists, one chain.</a:t>
            </a:r>
          </a:p>
        </p:txBody>
      </p:sp>
      <p:sp>
        <p:nvSpPr>
          <p:cNvPr id="5" name="Rounded Rectangle 4"/>
          <p:cNvSpPr/>
          <p:nvPr/>
        </p:nvSpPr>
        <p:spPr>
          <a:xfrm>
            <a:off x="713232"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A1</a:t>
            </a:r>
          </a:p>
          <a:p>
            <a:r>
              <a:rPr sz="1200">
                <a:solidFill>
                  <a:srgbClr val="14201F"/>
                </a:solidFill>
              </a:rPr>
              <a:t>say it plainly</a:t>
            </a:r>
          </a:p>
        </p:txBody>
      </p:sp>
      <p:sp>
        <p:nvSpPr>
          <p:cNvPr id="6" name="Rounded Rectangle 5"/>
          <p:cNvSpPr/>
          <p:nvPr/>
        </p:nvSpPr>
        <p:spPr>
          <a:xfrm>
            <a:off x="2962656"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A2</a:t>
            </a:r>
          </a:p>
          <a:p>
            <a:r>
              <a:rPr sz="1200">
                <a:solidFill>
                  <a:srgbClr val="14201F"/>
                </a:solidFill>
              </a:rPr>
              <a:t>find the sources</a:t>
            </a:r>
          </a:p>
        </p:txBody>
      </p:sp>
      <p:sp>
        <p:nvSpPr>
          <p:cNvPr id="7" name="Rounded Rectangle 6"/>
          <p:cNvSpPr/>
          <p:nvPr/>
        </p:nvSpPr>
        <p:spPr>
          <a:xfrm>
            <a:off x="5212080"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A3</a:t>
            </a:r>
          </a:p>
          <a:p>
            <a:r>
              <a:rPr sz="1200">
                <a:solidFill>
                  <a:srgbClr val="14201F"/>
                </a:solidFill>
              </a:rPr>
              <a:t>name the species</a:t>
            </a:r>
          </a:p>
        </p:txBody>
      </p:sp>
      <p:sp>
        <p:nvSpPr>
          <p:cNvPr id="8" name="Rounded Rectangle 7"/>
          <p:cNvSpPr/>
          <p:nvPr/>
        </p:nvSpPr>
        <p:spPr>
          <a:xfrm>
            <a:off x="7461504"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A4</a:t>
            </a:r>
          </a:p>
          <a:p>
            <a:r>
              <a:rPr sz="1200">
                <a:solidFill>
                  <a:srgbClr val="14201F"/>
                </a:solidFill>
              </a:rPr>
              <a:t>find the data</a:t>
            </a:r>
          </a:p>
        </p:txBody>
      </p:sp>
      <p:sp>
        <p:nvSpPr>
          <p:cNvPr id="9" name="Rounded Rectangle 8"/>
          <p:cNvSpPr/>
          <p:nvPr/>
        </p:nvSpPr>
        <p:spPr>
          <a:xfrm>
            <a:off x="9710928"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A5</a:t>
            </a:r>
          </a:p>
          <a:p>
            <a:r>
              <a:rPr sz="1200">
                <a:solidFill>
                  <a:srgbClr val="14201F"/>
                </a:solidFill>
              </a:rPr>
              <a:t>inventory</a:t>
            </a:r>
          </a:p>
        </p:txBody>
      </p:sp>
      <p:sp>
        <p:nvSpPr>
          <p:cNvPr id="10" name="Rounded Rectangle 9"/>
          <p:cNvSpPr/>
          <p:nvPr/>
        </p:nvSpPr>
        <p:spPr>
          <a:xfrm>
            <a:off x="713232" y="333756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A6</a:t>
            </a:r>
          </a:p>
          <a:p>
            <a:r>
              <a:rPr sz="1200">
                <a:solidFill>
                  <a:srgbClr val="14201F"/>
                </a:solidFill>
              </a:rPr>
              <a:t>all scales?</a:t>
            </a:r>
          </a:p>
        </p:txBody>
      </p:sp>
      <p:sp>
        <p:nvSpPr>
          <p:cNvPr id="11" name="Rounded Rectangle 10"/>
          <p:cNvSpPr/>
          <p:nvPr/>
        </p:nvSpPr>
        <p:spPr>
          <a:xfrm>
            <a:off x="2962656" y="333756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A7</a:t>
            </a:r>
          </a:p>
          <a:p>
            <a:r>
              <a:rPr sz="1200">
                <a:solidFill>
                  <a:srgbClr val="14201F"/>
                </a:solidFill>
              </a:rPr>
              <a:t>write the maths</a:t>
            </a:r>
          </a:p>
        </p:txBody>
      </p:sp>
      <p:sp>
        <p:nvSpPr>
          <p:cNvPr id="12" name="Rounded Rectangle 11"/>
          <p:cNvSpPr/>
          <p:nvPr/>
        </p:nvSpPr>
        <p:spPr>
          <a:xfrm>
            <a:off x="5212080" y="3337560"/>
            <a:ext cx="2103120" cy="749808"/>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A8</a:t>
            </a:r>
          </a:p>
          <a:p>
            <a:r>
              <a:rPr sz="1200">
                <a:solidFill>
                  <a:srgbClr val="14201F"/>
                </a:solidFill>
              </a:rPr>
              <a:t>run the test</a:t>
            </a:r>
          </a:p>
        </p:txBody>
      </p:sp>
      <p:sp>
        <p:nvSpPr>
          <p:cNvPr id="13" name="Rounded Rectangle 12"/>
          <p:cNvSpPr/>
          <p:nvPr/>
        </p:nvSpPr>
        <p:spPr>
          <a:xfrm>
            <a:off x="7461504" y="3337560"/>
            <a:ext cx="2103120" cy="749808"/>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A9</a:t>
            </a:r>
          </a:p>
          <a:p>
            <a:r>
              <a:rPr sz="1200">
                <a:solidFill>
                  <a:srgbClr val="14201F"/>
                </a:solidFill>
              </a:rPr>
              <a:t>is it faithful?</a:t>
            </a:r>
          </a:p>
        </p:txBody>
      </p:sp>
      <p:sp>
        <p:nvSpPr>
          <p:cNvPr id="14" name="Rounded Rectangle 13"/>
          <p:cNvSpPr/>
          <p:nvPr/>
        </p:nvSpPr>
        <p:spPr>
          <a:xfrm>
            <a:off x="9710928" y="333756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A10</a:t>
            </a:r>
          </a:p>
          <a:p>
            <a:r>
              <a:rPr sz="1200">
                <a:solidFill>
                  <a:srgbClr val="14201F"/>
                </a:solidFill>
              </a:rPr>
              <a:t>publish it</a:t>
            </a:r>
          </a:p>
        </p:txBody>
      </p:sp>
      <p:sp>
        <p:nvSpPr>
          <p:cNvPr id="15" name="TextBox 14"/>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Two rules carry most of the weight. Nothing scores its own work, so the agent that runs a test never judges it. And every test is written down before the data is opened, so a disappointing answer stays the answer.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Four changes. No usable shortcut.</a:t>
            </a:r>
          </a:p>
        </p:txBody>
      </p:sp>
      <p:sp>
        <p:nvSpPr>
          <p:cNvPr id="5" name="Rounded Rectangle 4"/>
          <p:cNvSpPr/>
          <p:nvPr/>
        </p:nvSpPr>
        <p:spPr>
          <a:xfrm>
            <a:off x="1167231" y="2240280"/>
            <a:ext cx="1078992" cy="566928"/>
          </a:xfrm>
          <a:prstGeom prst="roundRect">
            <a:avLst/>
          </a:prstGeom>
          <a:solidFill>
            <a:srgbClr val="FFFFFF"/>
          </a:solidFill>
          <a:ln w="2222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VFVS</a:t>
            </a:r>
          </a:p>
        </p:txBody>
      </p:sp>
      <p:sp>
        <p:nvSpPr>
          <p:cNvPr id="6" name="Rectangle 5"/>
          <p:cNvSpPr/>
          <p:nvPr/>
        </p:nvSpPr>
        <p:spPr>
          <a:xfrm>
            <a:off x="224622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63027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VFMS</a:t>
            </a:r>
          </a:p>
        </p:txBody>
      </p:sp>
      <p:sp>
        <p:nvSpPr>
          <p:cNvPr id="8" name="Rectangle 7"/>
          <p:cNvSpPr/>
          <p:nvPr/>
        </p:nvSpPr>
        <p:spPr>
          <a:xfrm>
            <a:off x="370926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09331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SFMS</a:t>
            </a:r>
          </a:p>
        </p:txBody>
      </p:sp>
      <p:sp>
        <p:nvSpPr>
          <p:cNvPr id="10" name="Rectangle 9"/>
          <p:cNvSpPr/>
          <p:nvPr/>
        </p:nvSpPr>
        <p:spPr>
          <a:xfrm>
            <a:off x="517230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55635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SIMS</a:t>
            </a:r>
          </a:p>
        </p:txBody>
      </p:sp>
      <p:sp>
        <p:nvSpPr>
          <p:cNvPr id="12" name="Rectangle 11"/>
          <p:cNvSpPr/>
          <p:nvPr/>
        </p:nvSpPr>
        <p:spPr>
          <a:xfrm>
            <a:off x="663534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01939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SIMG</a:t>
            </a:r>
          </a:p>
        </p:txBody>
      </p:sp>
      <p:sp>
        <p:nvSpPr>
          <p:cNvPr id="14" name="Rectangle 13"/>
          <p:cNvSpPr/>
          <p:nvPr/>
        </p:nvSpPr>
        <p:spPr>
          <a:xfrm>
            <a:off x="809838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48243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SIKG</a:t>
            </a:r>
          </a:p>
        </p:txBody>
      </p:sp>
      <p:sp>
        <p:nvSpPr>
          <p:cNvPr id="16" name="Rectangle 15"/>
          <p:cNvSpPr/>
          <p:nvPr/>
        </p:nvSpPr>
        <p:spPr>
          <a:xfrm>
            <a:off x="956142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945471" y="2240280"/>
            <a:ext cx="1078992" cy="566928"/>
          </a:xfrm>
          <a:prstGeom prst="roundRect">
            <a:avLst/>
          </a:prstGeom>
          <a:solidFill>
            <a:srgbClr val="FFFFFF"/>
          </a:solidFill>
          <a:ln w="22225">
            <a:solidFill>
              <a:srgbClr val="6250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AIKG</a:t>
            </a:r>
          </a:p>
        </p:txBody>
      </p:sp>
      <p:sp>
        <p:nvSpPr>
          <p:cNvPr id="18" name="Rounded Rectangle 17"/>
          <p:cNvSpPr/>
          <p:nvPr/>
        </p:nvSpPr>
        <p:spPr>
          <a:xfrm>
            <a:off x="1167231" y="3429000"/>
            <a:ext cx="1078992" cy="566928"/>
          </a:xfrm>
          <a:prstGeom prst="roundRect">
            <a:avLst/>
          </a:prstGeom>
          <a:solidFill>
            <a:srgbClr val="FFFFFF"/>
          </a:solidFill>
          <a:ln w="2222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VFVS</a:t>
            </a:r>
          </a:p>
        </p:txBody>
      </p:sp>
      <p:sp>
        <p:nvSpPr>
          <p:cNvPr id="19" name="Rectangle 18"/>
          <p:cNvSpPr/>
          <p:nvPr/>
        </p:nvSpPr>
        <p:spPr>
          <a:xfrm>
            <a:off x="224622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63027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VFMS</a:t>
            </a:r>
          </a:p>
        </p:txBody>
      </p:sp>
      <p:sp>
        <p:nvSpPr>
          <p:cNvPr id="21" name="Rectangle 20"/>
          <p:cNvSpPr/>
          <p:nvPr/>
        </p:nvSpPr>
        <p:spPr>
          <a:xfrm>
            <a:off x="370926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09331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SFMS</a:t>
            </a:r>
          </a:p>
        </p:txBody>
      </p:sp>
      <p:sp>
        <p:nvSpPr>
          <p:cNvPr id="23" name="Rectangle 22"/>
          <p:cNvSpPr/>
          <p:nvPr/>
        </p:nvSpPr>
        <p:spPr>
          <a:xfrm>
            <a:off x="5172303" y="3685032"/>
            <a:ext cx="384048" cy="381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55635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SIMS</a:t>
            </a:r>
          </a:p>
        </p:txBody>
      </p:sp>
      <p:sp>
        <p:nvSpPr>
          <p:cNvPr id="25" name="Rectangle 24"/>
          <p:cNvSpPr/>
          <p:nvPr/>
        </p:nvSpPr>
        <p:spPr>
          <a:xfrm>
            <a:off x="663534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01939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SIMG</a:t>
            </a:r>
          </a:p>
        </p:txBody>
      </p:sp>
      <p:sp>
        <p:nvSpPr>
          <p:cNvPr id="27" name="Rectangle 26"/>
          <p:cNvSpPr/>
          <p:nvPr/>
        </p:nvSpPr>
        <p:spPr>
          <a:xfrm>
            <a:off x="809838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48243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SIKG</a:t>
            </a:r>
          </a:p>
        </p:txBody>
      </p:sp>
      <p:sp>
        <p:nvSpPr>
          <p:cNvPr id="29" name="Rectangle 28"/>
          <p:cNvSpPr/>
          <p:nvPr/>
        </p:nvSpPr>
        <p:spPr>
          <a:xfrm>
            <a:off x="956142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945471" y="3429000"/>
            <a:ext cx="1078992" cy="566928"/>
          </a:xfrm>
          <a:prstGeom prst="roundRect">
            <a:avLst/>
          </a:prstGeom>
          <a:solidFill>
            <a:srgbClr val="FFFFFF"/>
          </a:solidFill>
          <a:ln w="22225">
            <a:solidFill>
              <a:srgbClr val="6250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AIKG</a:t>
            </a:r>
          </a:p>
        </p:txBody>
      </p:sp>
      <p:sp>
        <p:nvSpPr>
          <p:cNvPr id="31" name="TextBox 30"/>
          <p:cNvSpPr txBox="1"/>
          <p:nvPr/>
        </p:nvSpPr>
        <p:spPr>
          <a:xfrm>
            <a:off x="713232" y="2011680"/>
            <a:ext cx="4572000" cy="274320"/>
          </a:xfrm>
          <a:prstGeom prst="rect">
            <a:avLst/>
          </a:prstGeom>
          <a:noFill/>
        </p:spPr>
        <p:txBody>
          <a:bodyPr wrap="square">
            <a:spAutoFit/>
          </a:bodyPr>
          <a:lstStyle/>
          <a:p>
            <a:pPr algn="l">
              <a:lnSpc>
                <a:spcPct val="100000"/>
              </a:lnSpc>
            </a:pPr>
            <a:r>
              <a:rPr sz="1000" b="0">
                <a:solidFill>
                  <a:srgbClr val="5A6B69"/>
                </a:solidFill>
                <a:latin typeface="Segoe UI"/>
              </a:rPr>
              <a:t>at κ = 2, the setting used for the result</a:t>
            </a:r>
          </a:p>
        </p:txBody>
      </p:sp>
      <p:sp>
        <p:nvSpPr>
          <p:cNvPr id="32" name="TextBox 31"/>
          <p:cNvSpPr txBox="1"/>
          <p:nvPr/>
        </p:nvSpPr>
        <p:spPr>
          <a:xfrm>
            <a:off x="713232" y="3200400"/>
            <a:ext cx="4572000" cy="274320"/>
          </a:xfrm>
          <a:prstGeom prst="rect">
            <a:avLst/>
          </a:prstGeom>
          <a:noFill/>
        </p:spPr>
        <p:txBody>
          <a:bodyPr wrap="square">
            <a:spAutoFit/>
          </a:bodyPr>
          <a:lstStyle/>
          <a:p>
            <a:pPr algn="l">
              <a:lnSpc>
                <a:spcPct val="100000"/>
              </a:lnSpc>
            </a:pPr>
            <a:r>
              <a:rPr sz="1000" b="0">
                <a:solidFill>
                  <a:srgbClr val="EB6834"/>
                </a:solidFill>
                <a:latin typeface="Segoe UI"/>
              </a:rPr>
              <a:t>at κ = 2.45, one step stops being defensible</a:t>
            </a:r>
          </a:p>
        </p:txBody>
      </p:sp>
      <p:sp>
        <p:nvSpPr>
          <p:cNvPr id="33" name="TextBox 32"/>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Going straight needs 6 changes; every direct ordering drops downhill somewhere, so the usable path is a 6-step detour. Demand a little more margin and the route breaks. That is the product: it tells you which measurement would settle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Asking beats guessing.</a:t>
            </a:r>
          </a:p>
        </p:txBody>
      </p:sp>
      <p:pic>
        <p:nvPicPr>
          <p:cNvPr id="5" name="Picture 4" descr="cert_vs_assays.png"/>
          <p:cNvPicPr>
            <a:picLocks noChangeAspect="1"/>
          </p:cNvPicPr>
          <p:nvPr/>
        </p:nvPicPr>
        <p:blipFill>
          <a:blip r:embed="rId2"/>
          <a:stretch>
            <a:fillRect/>
          </a:stretch>
        </p:blipFill>
        <p:spPr>
          <a:xfrm>
            <a:off x="713232" y="1828800"/>
            <a:ext cx="10765231" cy="4140473"/>
          </a:xfrm>
          <a:prstGeom prst="rect">
            <a:avLst/>
          </a:prstGeom>
        </p:spPr>
      </p:pic>
      <p:sp>
        <p:nvSpPr>
          <p:cNvPr id="6" name="TextBox 5"/>
          <p:cNvSpPr txBox="1"/>
          <p:nvPr/>
        </p:nvSpPr>
        <p:spPr>
          <a:xfrm>
            <a:off x="713232" y="6024137"/>
            <a:ext cx="10765231" cy="457200"/>
          </a:xfrm>
          <a:prstGeom prst="rect">
            <a:avLst/>
          </a:prstGeom>
          <a:noFill/>
        </p:spPr>
        <p:txBody>
          <a:bodyPr wrap="square">
            <a:spAutoFit/>
          </a:bodyPr>
          <a:lstStyle/>
          <a:p>
            <a:pPr algn="l">
              <a:lnSpc>
                <a:spcPct val="110000"/>
              </a:lnSpc>
            </a:pPr>
            <a:r>
              <a:rPr sz="800" b="0">
                <a:solidFill>
                  <a:srgbClr val="5A6B69"/>
                </a:solidFill>
                <a:latin typeface="Segoe UI"/>
              </a:rPr>
              <a:t>Correct certificates against assays spent, 1,100 replay episodes, 11 policies  —  delphi-evolve artifacts/core/replay/cert_vs_assays.png, plotted by that project from its own replay episodes</a:t>
            </a:r>
          </a:p>
        </p:txBody>
      </p:sp>
      <p:sp>
        <p:nvSpPr>
          <p:cNvPr id="7" name="TextBox 6"/>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Same budget, same starting data, 100 runs each. Picking experiments to settle the question beats chasing the best-looking variant — and nobody issued a single false certificate.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Then we tried to break our own best result.</a:t>
            </a:r>
          </a:p>
        </p:txBody>
      </p:sp>
      <p:sp>
        <p:nvSpPr>
          <p:cNvPr id="5" name="TextBox 4"/>
          <p:cNvSpPr txBox="1"/>
          <p:nvPr/>
        </p:nvSpPr>
        <p:spPr>
          <a:xfrm>
            <a:off x="713232" y="224028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18</a:t>
            </a:r>
          </a:p>
        </p:txBody>
      </p:sp>
      <p:sp>
        <p:nvSpPr>
          <p:cNvPr id="6" name="TextBox 5"/>
          <p:cNvSpPr txBox="1"/>
          <p:nvPr/>
        </p:nvSpPr>
        <p:spPr>
          <a:xfrm>
            <a:off x="713232" y="338328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extra wins on their panel, over 100 runs</a:t>
            </a:r>
          </a:p>
        </p:txBody>
      </p:sp>
      <p:sp>
        <p:nvSpPr>
          <p:cNvPr id="7" name="TextBox 6"/>
          <p:cNvSpPr txBox="1"/>
          <p:nvPr/>
        </p:nvSpPr>
        <p:spPr>
          <a:xfrm>
            <a:off x="3913632" y="224028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1</a:t>
            </a:r>
          </a:p>
        </p:txBody>
      </p:sp>
      <p:sp>
        <p:nvSpPr>
          <p:cNvPr id="8" name="TextBox 7"/>
          <p:cNvSpPr txBox="1"/>
          <p:nvPr/>
        </p:nvSpPr>
        <p:spPr>
          <a:xfrm>
            <a:off x="3913632" y="338328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pair separating the top two on our 20 fresh pairs</a:t>
            </a:r>
          </a:p>
        </p:txBody>
      </p:sp>
      <p:sp>
        <p:nvSpPr>
          <p:cNvPr id="9" name="TextBox 8"/>
          <p:cNvSpPr txBox="1"/>
          <p:nvPr/>
        </p:nvSpPr>
        <p:spPr>
          <a:xfrm>
            <a:off x="7114032" y="2240280"/>
            <a:ext cx="2834640" cy="1280160"/>
          </a:xfrm>
          <a:prstGeom prst="rect">
            <a:avLst/>
          </a:prstGeom>
          <a:noFill/>
        </p:spPr>
        <p:txBody>
          <a:bodyPr wrap="square">
            <a:spAutoFit/>
          </a:bodyPr>
          <a:lstStyle/>
          <a:p>
            <a:pPr algn="l">
              <a:lnSpc>
                <a:spcPct val="100000"/>
              </a:lnSpc>
            </a:pPr>
            <a:r>
              <a:rPr sz="5400" b="1">
                <a:solidFill>
                  <a:srgbClr val="9AA6A3"/>
                </a:solidFill>
                <a:latin typeface="Segoe UI"/>
              </a:rPr>
              <a:t>80</a:t>
            </a:r>
          </a:p>
        </p:txBody>
      </p:sp>
      <p:sp>
        <p:nvSpPr>
          <p:cNvPr id="10" name="TextBox 9"/>
          <p:cNvSpPr txBox="1"/>
          <p:nvPr/>
        </p:nvSpPr>
        <p:spPr>
          <a:xfrm>
            <a:off x="7114032" y="338328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their 100 runs start from the same genotype</a:t>
            </a:r>
          </a:p>
        </p:txBody>
      </p:sp>
      <p:sp>
        <p:nvSpPr>
          <p:cNvPr id="11" name="TextBox 10"/>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The ranking held; the margin did not. We pre-registered the panel before running it. A gap of 18 collapsed to 1 once the pairs were not chosen by the people being measured. The benchmark was partly measuring its own composition.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A group beats one agent — when attention is the bottleneck.</a:t>
            </a:r>
          </a:p>
        </p:txBody>
      </p:sp>
      <p:graphicFrame>
        <p:nvGraphicFramePr>
          <p:cNvPr id="5" name="Chart 4"/>
          <p:cNvGraphicFramePr>
            <a:graphicFrameLocks noGrp="1"/>
          </p:cNvGraphicFramePr>
          <p:nvPr/>
        </p:nvGraphicFramePr>
        <p:xfrm>
          <a:off x="713232" y="2011680"/>
          <a:ext cx="10490911" cy="3108960"/>
        </p:xfrm>
        <a:graphic>
          <a:graphicData uri="http://schemas.openxmlformats.org/drawingml/2006/chart">
            <c:chart xmlns:c="http://schemas.openxmlformats.org/drawingml/2006/chart" r:id="rId2"/>
          </a:graphicData>
        </a:graphic>
      </p:graphicFrame>
      <p:sp>
        <p:nvSpPr>
          <p:cNvPr id="6" name="TextBox 5"/>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Two pre-registered runs, same model and budget, out of 20 each. The single agent lost mostly by running out of room and leaving answers blank, not by reasoning worse. The same contest on the enzyme benchmark found no advantage at all, because there the members are deterministic code. Collaboration pays when the limit is attention.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Two independent swarms. Same claims. Six of eight agree.</a:t>
            </a:r>
          </a:p>
        </p:txBody>
      </p:sp>
      <p:sp>
        <p:nvSpPr>
          <p:cNvPr id="5" name="TextBox 4"/>
          <p:cNvSpPr txBox="1"/>
          <p:nvPr/>
        </p:nvSpPr>
        <p:spPr>
          <a:xfrm>
            <a:off x="713232" y="210312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6</a:t>
            </a:r>
          </a:p>
        </p:txBody>
      </p:sp>
      <p:sp>
        <p:nvSpPr>
          <p:cNvPr id="6" name="TextBox 5"/>
          <p:cNvSpPr txBox="1"/>
          <p:nvPr/>
        </p:nvSpPr>
        <p:spPr>
          <a:xfrm>
            <a:off x="7132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8 claims where both swarms reached the same verdict, working separately</a:t>
            </a:r>
          </a:p>
        </p:txBody>
      </p:sp>
      <p:sp>
        <p:nvSpPr>
          <p:cNvPr id="7" name="TextBox 6"/>
          <p:cNvSpPr txBox="1"/>
          <p:nvPr/>
        </p:nvSpPr>
        <p:spPr>
          <a:xfrm>
            <a:off x="3913632" y="210312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2</a:t>
            </a:r>
          </a:p>
        </p:txBody>
      </p:sp>
      <p:sp>
        <p:nvSpPr>
          <p:cNvPr id="8" name="TextBox 7"/>
          <p:cNvSpPr txBox="1"/>
          <p:nvPr/>
        </p:nvSpPr>
        <p:spPr>
          <a:xfrm>
            <a:off x="39136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where they differ — both differences methodological, not factual</a:t>
            </a:r>
          </a:p>
        </p:txBody>
      </p:sp>
      <p:sp>
        <p:nvSpPr>
          <p:cNvPr id="9" name="TextBox 8"/>
          <p:cNvSpPr txBox="1"/>
          <p:nvPr/>
        </p:nvSpPr>
        <p:spPr>
          <a:xfrm>
            <a:off x="7114032" y="2103120"/>
            <a:ext cx="2834640" cy="1280160"/>
          </a:xfrm>
          <a:prstGeom prst="rect">
            <a:avLst/>
          </a:prstGeom>
          <a:noFill/>
        </p:spPr>
        <p:txBody>
          <a:bodyPr wrap="square">
            <a:spAutoFit/>
          </a:bodyPr>
          <a:lstStyle/>
          <a:p>
            <a:pPr algn="l">
              <a:lnSpc>
                <a:spcPct val="100000"/>
              </a:lnSpc>
            </a:pPr>
            <a:r>
              <a:rPr sz="5400" b="1">
                <a:solidFill>
                  <a:srgbClr val="14201F"/>
                </a:solidFill>
                <a:latin typeface="Segoe UI"/>
              </a:rPr>
              <a:t>129+16</a:t>
            </a:r>
          </a:p>
        </p:txBody>
      </p:sp>
      <p:sp>
        <p:nvSpPr>
          <p:cNvPr id="10" name="TextBox 9"/>
          <p:cNvSpPr txBox="1"/>
          <p:nvPr/>
        </p:nvSpPr>
        <p:spPr>
          <a:xfrm>
            <a:off x="71140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claim tests across the two swarms</a:t>
            </a:r>
          </a:p>
        </p:txBody>
      </p:sp>
      <p:sp>
        <p:nvSpPr>
          <p:cNvPr id="11" name="TextBox 10"/>
          <p:cNvSpPr txBox="1"/>
          <p:nvPr/>
        </p:nvSpPr>
        <p:spPr>
          <a:xfrm>
            <a:off x="713232" y="3977639"/>
            <a:ext cx="10765231" cy="384048"/>
          </a:xfrm>
          <a:prstGeom prst="rect">
            <a:avLst/>
          </a:prstGeom>
          <a:noFill/>
        </p:spPr>
        <p:txBody>
          <a:bodyPr wrap="square">
            <a:spAutoFit/>
          </a:bodyPr>
          <a:lstStyle/>
          <a:p>
            <a:pPr algn="l">
              <a:lnSpc>
                <a:spcPct val="100000"/>
              </a:lnSpc>
            </a:pPr>
            <a:r>
              <a:rPr sz="1100" b="0">
                <a:solidFill>
                  <a:srgbClr val="14201F"/>
                </a:solidFill>
                <a:latin typeface="Segoe UI"/>
              </a:rPr>
              <a:t>darwin1859-ch11-13:  ours supports  ·  theirs mixed  —  different operationalisation of the same sentence</a:t>
            </a:r>
          </a:p>
        </p:txBody>
      </p:sp>
      <p:sp>
        <p:nvSpPr>
          <p:cNvPr id="12" name="TextBox 11"/>
          <p:cNvSpPr txBox="1"/>
          <p:nvPr/>
        </p:nvSpPr>
        <p:spPr>
          <a:xfrm>
            <a:off x="713232" y="4379975"/>
            <a:ext cx="10765231" cy="384048"/>
          </a:xfrm>
          <a:prstGeom prst="rect">
            <a:avLst/>
          </a:prstGeom>
          <a:noFill/>
        </p:spPr>
        <p:txBody>
          <a:bodyPr wrap="square">
            <a:spAutoFit/>
          </a:bodyPr>
          <a:lstStyle/>
          <a:p>
            <a:pPr algn="l">
              <a:lnSpc>
                <a:spcPct val="100000"/>
              </a:lnSpc>
            </a:pPr>
            <a:r>
              <a:rPr sz="1100" b="0">
                <a:solidFill>
                  <a:srgbClr val="14201F"/>
                </a:solidFill>
                <a:latin typeface="Segoe UI"/>
              </a:rPr>
              <a:t>thompson1917-ch03-07:  ours supports  ·  theirs mixed  —  same data, same method, different pre-registered age range: 2.74 for ages 2-19 vs 2.41 once infants are pooled in</a:t>
            </a:r>
          </a:p>
        </p:txBody>
      </p:sp>
      <p:sp>
        <p:nvSpPr>
          <p:cNvPr id="13" name="TextBox 12"/>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Nobody coordinated these; the overlap was accidental. Then we chased the disagreements down. On Thompson's cube law the two swarms reproduce each other exactly once the age range matches: their own 2-20 year window gives 2.74, ours 2.76. The whole gap is infants, who scale near 2.1 and drag the pooled exponent to 2.41. The verdict turns on one pre-registered choice, not on anyone's method. Neither number is 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We broke the proofs on purpose.</a:t>
            </a:r>
          </a:p>
        </p:txBody>
      </p:sp>
      <p:sp>
        <p:nvSpPr>
          <p:cNvPr id="5" name="TextBox 4"/>
          <p:cNvSpPr txBox="1"/>
          <p:nvPr/>
        </p:nvSpPr>
        <p:spPr>
          <a:xfrm>
            <a:off x="713232" y="228600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7/7</a:t>
            </a:r>
          </a:p>
        </p:txBody>
      </p:sp>
      <p:sp>
        <p:nvSpPr>
          <p:cNvPr id="6" name="TextBox 5"/>
          <p:cNvSpPr txBox="1"/>
          <p:nvPr/>
        </p:nvSpPr>
        <p:spPr>
          <a:xfrm>
            <a:off x="7132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deliberate breakages correctly rejected</a:t>
            </a:r>
          </a:p>
        </p:txBody>
      </p:sp>
      <p:sp>
        <p:nvSpPr>
          <p:cNvPr id="7" name="TextBox 6"/>
          <p:cNvSpPr txBox="1"/>
          <p:nvPr/>
        </p:nvSpPr>
        <p:spPr>
          <a:xfrm>
            <a:off x="3913632" y="2286000"/>
            <a:ext cx="2834640" cy="1280160"/>
          </a:xfrm>
          <a:prstGeom prst="rect">
            <a:avLst/>
          </a:prstGeom>
          <a:noFill/>
        </p:spPr>
        <p:txBody>
          <a:bodyPr wrap="square">
            <a:spAutoFit/>
          </a:bodyPr>
          <a:lstStyle/>
          <a:p>
            <a:pPr algn="l">
              <a:lnSpc>
                <a:spcPct val="100000"/>
              </a:lnSpc>
            </a:pPr>
            <a:r>
              <a:rPr sz="5400" b="1">
                <a:solidFill>
                  <a:srgbClr val="14201F"/>
                </a:solidFill>
                <a:latin typeface="Segoe UI"/>
              </a:rPr>
              <a:t>clean</a:t>
            </a:r>
          </a:p>
        </p:txBody>
      </p:sp>
      <p:sp>
        <p:nvSpPr>
          <p:cNvPr id="8" name="TextBox 7"/>
          <p:cNvSpPr txBox="1"/>
          <p:nvPr/>
        </p:nvSpPr>
        <p:spPr>
          <a:xfrm>
            <a:off x="39136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rebuild from source, on our own copy</a:t>
            </a:r>
          </a:p>
        </p:txBody>
      </p:sp>
      <p:sp>
        <p:nvSpPr>
          <p:cNvPr id="9" name="TextBox 8"/>
          <p:cNvSpPr txBox="1"/>
          <p:nvPr/>
        </p:nvSpPr>
        <p:spPr>
          <a:xfrm>
            <a:off x="7114032" y="2286000"/>
            <a:ext cx="2834640" cy="1280160"/>
          </a:xfrm>
          <a:prstGeom prst="rect">
            <a:avLst/>
          </a:prstGeom>
          <a:noFill/>
        </p:spPr>
        <p:txBody>
          <a:bodyPr wrap="square">
            <a:spAutoFit/>
          </a:bodyPr>
          <a:lstStyle/>
          <a:p>
            <a:pPr algn="l">
              <a:lnSpc>
                <a:spcPct val="100000"/>
              </a:lnSpc>
            </a:pPr>
            <a:r>
              <a:rPr sz="5400" b="1">
                <a:solidFill>
                  <a:srgbClr val="2A78D6"/>
                </a:solidFill>
                <a:latin typeface="Segoe UI"/>
              </a:rPr>
              <a:t>4</a:t>
            </a:r>
          </a:p>
        </p:txBody>
      </p:sp>
      <p:sp>
        <p:nvSpPr>
          <p:cNvPr id="10" name="TextBox 9"/>
          <p:cNvSpPr txBox="1"/>
          <p:nvPr/>
        </p:nvSpPr>
        <p:spPr>
          <a:xfrm>
            <a:off x="71140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our own laws machine-checked, zero gaps</a:t>
            </a:r>
          </a:p>
        </p:txBody>
      </p:sp>
      <p:sp>
        <p:nvSpPr>
          <p:cNvPr id="11" name="TextBox 10"/>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Reversing an inequality, weakening a wall, deleting a check, moving one measured number — each must stop the proof compiling, and each did. The theorems are general, not arithmetic about fixed constants. Found by checking rather than trusting: one receipt in the partner project credits a proof module that does not exist in its repository. The proofs are sound; the paperwork overstated the coverage.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Two things that did not work.</a:t>
            </a:r>
          </a:p>
        </p:txBody>
      </p:sp>
      <p:sp>
        <p:nvSpPr>
          <p:cNvPr id="5" name="TextBox 4"/>
          <p:cNvSpPr txBox="1"/>
          <p:nvPr/>
        </p:nvSpPr>
        <p:spPr>
          <a:xfrm>
            <a:off x="713232" y="1965960"/>
            <a:ext cx="2834640" cy="1280160"/>
          </a:xfrm>
          <a:prstGeom prst="rect">
            <a:avLst/>
          </a:prstGeom>
          <a:noFill/>
        </p:spPr>
        <p:txBody>
          <a:bodyPr wrap="square">
            <a:spAutoFit/>
          </a:bodyPr>
          <a:lstStyle/>
          <a:p>
            <a:pPr algn="l">
              <a:lnSpc>
                <a:spcPct val="100000"/>
              </a:lnSpc>
            </a:pPr>
            <a:r>
              <a:rPr sz="5400" b="1">
                <a:solidFill>
                  <a:srgbClr val="9AA6A3"/>
                </a:solidFill>
                <a:latin typeface="Segoe UI"/>
              </a:rPr>
              <a:t>0</a:t>
            </a:r>
          </a:p>
        </p:txBody>
      </p:sp>
      <p:sp>
        <p:nvSpPr>
          <p:cNvPr id="6" name="TextBox 5"/>
          <p:cNvSpPr txBox="1"/>
          <p:nvPr/>
        </p:nvSpPr>
        <p:spPr>
          <a:xfrm>
            <a:off x="713232" y="310896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benefit from a protein language model, across 5 sizes and 160,000 variants on an H100</a:t>
            </a:r>
          </a:p>
        </p:txBody>
      </p:sp>
      <p:sp>
        <p:nvSpPr>
          <p:cNvPr id="7" name="TextBox 6"/>
          <p:cNvSpPr txBox="1"/>
          <p:nvPr/>
        </p:nvSpPr>
        <p:spPr>
          <a:xfrm>
            <a:off x="3913632" y="1965960"/>
            <a:ext cx="2834640" cy="1280160"/>
          </a:xfrm>
          <a:prstGeom prst="rect">
            <a:avLst/>
          </a:prstGeom>
          <a:noFill/>
        </p:spPr>
        <p:txBody>
          <a:bodyPr wrap="square">
            <a:spAutoFit/>
          </a:bodyPr>
          <a:lstStyle/>
          <a:p>
            <a:pPr algn="l">
              <a:lnSpc>
                <a:spcPct val="100000"/>
              </a:lnSpc>
            </a:pPr>
            <a:r>
              <a:rPr sz="5400" b="1">
                <a:solidFill>
                  <a:srgbClr val="9AA6A3"/>
                </a:solidFill>
                <a:latin typeface="Segoe UI"/>
              </a:rPr>
              <a:t>0</a:t>
            </a:r>
          </a:p>
        </p:txBody>
      </p:sp>
      <p:sp>
        <p:nvSpPr>
          <p:cNvPr id="8" name="TextBox 7"/>
          <p:cNvSpPr txBox="1"/>
          <p:nvPr/>
        </p:nvSpPr>
        <p:spPr>
          <a:xfrm>
            <a:off x="3913632" y="310896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saving from reusing a claim, over an ordinary cache, within one context</a:t>
            </a:r>
          </a:p>
        </p:txBody>
      </p:sp>
      <p:sp>
        <p:nvSpPr>
          <p:cNvPr id="9" name="TextBox 8"/>
          <p:cNvSpPr txBox="1"/>
          <p:nvPr/>
        </p:nvSpPr>
        <p:spPr>
          <a:xfrm>
            <a:off x="713232" y="361188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A deliberately shuffled model scored as well as the real one. We lead with this because a null you can reproduce is worth more than a result you cannot — and because most teams will not show you theirs.</a:t>
            </a:r>
          </a:p>
        </p:txBody>
      </p:sp>
      <p:pic>
        <p:nvPicPr>
          <p:cNvPr id="10" name="Picture 9" descr="ablation.png"/>
          <p:cNvPicPr>
            <a:picLocks noChangeAspect="1"/>
          </p:cNvPicPr>
          <p:nvPr/>
        </p:nvPicPr>
        <p:blipFill>
          <a:blip r:embed="rId2"/>
          <a:stretch>
            <a:fillRect/>
          </a:stretch>
        </p:blipFill>
        <p:spPr>
          <a:xfrm>
            <a:off x="713232" y="4114800"/>
            <a:ext cx="5669280" cy="2180492"/>
          </a:xfrm>
          <a:prstGeom prst="rect">
            <a:avLst/>
          </a:prstGeom>
        </p:spPr>
      </p:pic>
      <p:sp>
        <p:nvSpPr>
          <p:cNvPr id="11" name="TextBox 10"/>
          <p:cNvSpPr txBox="1"/>
          <p:nvPr/>
        </p:nvSpPr>
        <p:spPr>
          <a:xfrm>
            <a:off x="713232" y="6350156"/>
            <a:ext cx="5669280" cy="457200"/>
          </a:xfrm>
          <a:prstGeom prst="rect">
            <a:avLst/>
          </a:prstGeom>
          <a:noFill/>
        </p:spPr>
        <p:txBody>
          <a:bodyPr wrap="square">
            <a:spAutoFit/>
          </a:bodyPr>
          <a:lstStyle/>
          <a:p>
            <a:pPr algn="l">
              <a:lnSpc>
                <a:spcPct val="110000"/>
              </a:lnSpc>
            </a:pPr>
            <a:r>
              <a:rPr sz="800" b="0">
                <a:solidFill>
                  <a:srgbClr val="5A6B69"/>
                </a:solidFill>
                <a:latin typeface="Segoe UI"/>
              </a:rPr>
              <a:t>Remove the learned model and the curves do not move  —  delphi-evolve artifacts/core/replay/ablation_cert_vs_assays.png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9AA6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9AA6A3"/>
                </a:solidFill>
              </a:rPr>
              <a:t>ANTICIPATED — NO DATA YET</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9AA6A3"/>
                </a:solidFill>
                <a:latin typeface="Segoe UI"/>
              </a:rPr>
              <a:t>Where this goes next.</a:t>
            </a:r>
          </a:p>
        </p:txBody>
      </p:sp>
      <p:sp>
        <p:nvSpPr>
          <p:cNvPr id="5" name="TextBox 4"/>
          <p:cNvSpPr txBox="1"/>
          <p:nvPr/>
        </p:nvSpPr>
        <p:spPr>
          <a:xfrm>
            <a:off x="713232" y="1920240"/>
            <a:ext cx="8229600" cy="457200"/>
          </a:xfrm>
          <a:prstGeom prst="rect">
            <a:avLst/>
          </a:prstGeom>
          <a:noFill/>
        </p:spPr>
        <p:txBody>
          <a:bodyPr wrap="square">
            <a:spAutoFit/>
          </a:bodyPr>
          <a:lstStyle/>
          <a:p>
            <a:pPr algn="l">
              <a:lnSpc>
                <a:spcPct val="100000"/>
              </a:lnSpc>
            </a:pPr>
            <a:r>
              <a:rPr sz="1500" b="0">
                <a:solidFill>
                  <a:srgbClr val="5A6B69"/>
                </a:solidFill>
                <a:latin typeface="Segoe UI"/>
              </a:rPr>
              <a:t>The same question at the scale of a whole organism: which genes make a flying fish wing a wing?</a:t>
            </a:r>
          </a:p>
        </p:txBody>
      </p:sp>
      <p:sp>
        <p:nvSpPr>
          <p:cNvPr id="6" name="Rounded Rectangle 5"/>
          <p:cNvSpPr/>
          <p:nvPr/>
        </p:nvSpPr>
        <p:spPr>
          <a:xfrm>
            <a:off x="713232" y="2606040"/>
            <a:ext cx="3401568" cy="2011680"/>
          </a:xfrm>
          <a:prstGeom prst="roundRect">
            <a:avLst/>
          </a:prstGeom>
          <a:solidFill>
            <a:srgbClr val="F2F4F3"/>
          </a:solidFill>
          <a:ln w="19050">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9AA6A3"/>
                </a:solidFill>
              </a:rPr>
              <a:t>Printed flying-fish pectoral fin</a:t>
            </a:r>
          </a:p>
          <a:p>
            <a:pPr algn="ctr"/>
            <a:r>
              <a:rPr sz="1000">
                <a:solidFill>
                  <a:srgbClr val="9AA6A3"/>
                </a:solidFill>
              </a:rPr>
              <a:t>no specimen, no scan, no print exists</a:t>
            </a:r>
          </a:p>
        </p:txBody>
      </p:sp>
      <p:sp>
        <p:nvSpPr>
          <p:cNvPr id="7" name="Rounded Rectangle 6"/>
          <p:cNvSpPr/>
          <p:nvPr/>
        </p:nvSpPr>
        <p:spPr>
          <a:xfrm>
            <a:off x="4297680" y="2606040"/>
            <a:ext cx="3401568" cy="2011680"/>
          </a:xfrm>
          <a:prstGeom prst="roundRect">
            <a:avLst/>
          </a:prstGeom>
          <a:solidFill>
            <a:srgbClr val="F2F4F3"/>
          </a:solidFill>
          <a:ln w="19050">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9AA6A3"/>
                </a:solidFill>
              </a:rPr>
              <a:t>Fruit-fly wing, scaled to match</a:t>
            </a:r>
          </a:p>
          <a:p>
            <a:pPr algn="ctr"/>
            <a:r>
              <a:rPr sz="1000">
                <a:solidFill>
                  <a:srgbClr val="9AA6A3"/>
                </a:solidFill>
              </a:rPr>
              <a:t>no matched control exists</a:t>
            </a:r>
          </a:p>
        </p:txBody>
      </p:sp>
      <p:sp>
        <p:nvSpPr>
          <p:cNvPr id="8" name="Rounded Rectangle 7"/>
          <p:cNvSpPr/>
          <p:nvPr/>
        </p:nvSpPr>
        <p:spPr>
          <a:xfrm>
            <a:off x="7882128" y="2606040"/>
            <a:ext cx="3401568" cy="2011680"/>
          </a:xfrm>
          <a:prstGeom prst="roundRect">
            <a:avLst/>
          </a:prstGeom>
          <a:solidFill>
            <a:srgbClr val="F2F4F3"/>
          </a:solidFill>
          <a:ln w="19050">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9AA6A3"/>
                </a:solidFill>
              </a:rPr>
              <a:t>Which genes move which feature</a:t>
            </a:r>
          </a:p>
          <a:p>
            <a:pPr algn="ctr"/>
            <a:r>
              <a:rPr sz="1000">
                <a:solidFill>
                  <a:srgbClr val="9AA6A3"/>
                </a:solidFill>
              </a:rPr>
              <a:t>no measurement, no model</a:t>
            </a:r>
          </a:p>
        </p:txBody>
      </p:sp>
      <p:sp>
        <p:nvSpPr>
          <p:cNvPr id="9" name="TextBox 8"/>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This slide stays grey until there is something real behind it. An insect wing and a fish fin solve the same problem with unrelated parts, which makes the comparison worth running — and makes a pretty rendering easy to mistake for a result.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EB6834"/>
                </a:solidFill>
              </a:rPr>
              <a:t>PARTLY EVIDENCED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The honest state of the ladder.</a:t>
            </a:r>
          </a:p>
        </p:txBody>
      </p:sp>
      <p:sp>
        <p:nvSpPr>
          <p:cNvPr id="5" name="Rounded Rectangle 4"/>
          <p:cNvSpPr/>
          <p:nvPr/>
        </p:nvSpPr>
        <p:spPr>
          <a:xfrm>
            <a:off x="713232" y="2468880"/>
            <a:ext cx="2103120" cy="914400"/>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0E7C86"/>
                </a:solidFill>
              </a:rPr>
              <a:t>evidenced</a:t>
            </a:r>
          </a:p>
          <a:p>
            <a:r>
              <a:rPr sz="1300">
                <a:solidFill>
                  <a:srgbClr val="14201F"/>
                </a:solidFill>
              </a:rPr>
              <a:t>molecule</a:t>
            </a:r>
          </a:p>
        </p:txBody>
      </p:sp>
      <p:sp>
        <p:nvSpPr>
          <p:cNvPr id="6" name="Rounded Rectangle 5"/>
          <p:cNvSpPr/>
          <p:nvPr/>
        </p:nvSpPr>
        <p:spPr>
          <a:xfrm>
            <a:off x="2962656" y="2468880"/>
            <a:ext cx="2103120" cy="914400"/>
          </a:xfrm>
          <a:prstGeom prst="roundRect">
            <a:avLst/>
          </a:prstGeom>
          <a:solidFill>
            <a:srgbClr val="FFFFFF"/>
          </a:solidFill>
          <a:ln>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9AA6A3"/>
                </a:solidFill>
              </a:rPr>
              <a:t>thin</a:t>
            </a:r>
          </a:p>
          <a:p>
            <a:r>
              <a:rPr sz="1300">
                <a:solidFill>
                  <a:srgbClr val="9AA6A3"/>
                </a:solidFill>
              </a:rPr>
              <a:t>tissue</a:t>
            </a:r>
          </a:p>
        </p:txBody>
      </p:sp>
      <p:sp>
        <p:nvSpPr>
          <p:cNvPr id="7" name="Rounded Rectangle 6"/>
          <p:cNvSpPr/>
          <p:nvPr/>
        </p:nvSpPr>
        <p:spPr>
          <a:xfrm>
            <a:off x="5212080" y="2468880"/>
            <a:ext cx="2103120" cy="914400"/>
          </a:xfrm>
          <a:prstGeom prst="roundRect">
            <a:avLst/>
          </a:prstGeom>
          <a:solidFill>
            <a:srgbClr val="FFFFFF"/>
          </a:solidFill>
          <a:ln>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9AA6A3"/>
                </a:solidFill>
              </a:rPr>
              <a:t>thin</a:t>
            </a:r>
          </a:p>
          <a:p>
            <a:r>
              <a:rPr sz="1300">
                <a:solidFill>
                  <a:srgbClr val="9AA6A3"/>
                </a:solidFill>
              </a:rPr>
              <a:t>organ</a:t>
            </a:r>
          </a:p>
        </p:txBody>
      </p:sp>
      <p:sp>
        <p:nvSpPr>
          <p:cNvPr id="8" name="Rounded Rectangle 7"/>
          <p:cNvSpPr/>
          <p:nvPr/>
        </p:nvSpPr>
        <p:spPr>
          <a:xfrm>
            <a:off x="7461504" y="2468880"/>
            <a:ext cx="2103120" cy="914400"/>
          </a:xfrm>
          <a:prstGeom prst="roundRect">
            <a:avLst/>
          </a:prstGeom>
          <a:solidFill>
            <a:srgbClr val="FFFFFF"/>
          </a:solidFill>
          <a:ln>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9AA6A3"/>
                </a:solidFill>
              </a:rPr>
              <a:t>thin</a:t>
            </a:r>
          </a:p>
          <a:p>
            <a:r>
              <a:rPr sz="1300">
                <a:solidFill>
                  <a:srgbClr val="9AA6A3"/>
                </a:solidFill>
              </a:rPr>
              <a:t>whole organism</a:t>
            </a:r>
          </a:p>
        </p:txBody>
      </p:sp>
      <p:sp>
        <p:nvSpPr>
          <p:cNvPr id="9" name="Rounded Rectangle 8"/>
          <p:cNvSpPr/>
          <p:nvPr/>
        </p:nvSpPr>
        <p:spPr>
          <a:xfrm>
            <a:off x="9710928" y="2468880"/>
            <a:ext cx="2103120" cy="914400"/>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0E7C86"/>
                </a:solidFill>
              </a:rPr>
              <a:t>evidenced</a:t>
            </a:r>
          </a:p>
          <a:p>
            <a:r>
              <a:rPr sz="1300">
                <a:solidFill>
                  <a:srgbClr val="14201F"/>
                </a:solidFill>
              </a:rPr>
              <a:t>population</a:t>
            </a:r>
          </a:p>
        </p:txBody>
      </p:sp>
      <p:sp>
        <p:nvSpPr>
          <p:cNvPr id="10" name="TextBox 9"/>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We can go from a sequence to a measured growth rate, and from a claim to a population-level test. The middle of the ladder is where the data thins out, and we are not going to pretend otherwise: the species with a complete record at every scale is a short list, and we publish its length rather than loosening the definition.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EB6834"/>
                </a:solidFill>
              </a:rPr>
              <a:t>PARTLY EVIDENCED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Every finding, made citable.</a:t>
            </a:r>
          </a:p>
        </p:txBody>
      </p:sp>
      <p:graphicFrame>
        <p:nvGraphicFramePr>
          <p:cNvPr id="5" name="Chart 4"/>
          <p:cNvGraphicFramePr>
            <a:graphicFrameLocks noGrp="1"/>
          </p:cNvGraphicFramePr>
          <p:nvPr/>
        </p:nvGraphicFramePr>
        <p:xfrm>
          <a:off x="713232" y="1965960"/>
          <a:ext cx="10490911" cy="2286000"/>
        </p:xfrm>
        <a:graphic>
          <a:graphicData uri="http://schemas.openxmlformats.org/drawingml/2006/chart">
            <c:chart xmlns:c="http://schemas.openxmlformats.org/drawingml/2006/chart" r:id="rId2"/>
          </a:graphicData>
        </a:graphic>
      </p:graphicFrame>
      <p:sp>
        <p:nvSpPr>
          <p:cNvPr id="6" name="TextBox 5"/>
          <p:cNvSpPr txBox="1"/>
          <p:nvPr/>
        </p:nvSpPr>
        <p:spPr>
          <a:xfrm>
            <a:off x="713232" y="4389120"/>
            <a:ext cx="5120640" cy="822960"/>
          </a:xfrm>
          <a:prstGeom prst="rect">
            <a:avLst/>
          </a:prstGeom>
          <a:noFill/>
        </p:spPr>
        <p:txBody>
          <a:bodyPr wrap="square">
            <a:spAutoFit/>
          </a:bodyPr>
          <a:lstStyle/>
          <a:p>
            <a:pPr algn="l">
              <a:lnSpc>
                <a:spcPct val="100000"/>
              </a:lnSpc>
            </a:pPr>
            <a:r>
              <a:rPr sz="2600" b="1">
                <a:solidFill>
                  <a:srgbClr val="1BAF7A"/>
                </a:solidFill>
                <a:latin typeface="Segoe UI"/>
              </a:rPr>
              <a:t>70 records drafted and validated</a:t>
            </a:r>
          </a:p>
        </p:txBody>
      </p:sp>
      <p:sp>
        <p:nvSpPr>
          <p:cNvPr id="7" name="TextBox 6"/>
          <p:cNvSpPr txBox="1"/>
          <p:nvPr/>
        </p:nvSpPr>
        <p:spPr>
          <a:xfrm>
            <a:off x="6199632" y="4389120"/>
            <a:ext cx="5120640" cy="822960"/>
          </a:xfrm>
          <a:prstGeom prst="rect">
            <a:avLst/>
          </a:prstGeom>
          <a:noFill/>
        </p:spPr>
        <p:txBody>
          <a:bodyPr wrap="square">
            <a:spAutoFit/>
          </a:bodyPr>
          <a:lstStyle/>
          <a:p>
            <a:pPr algn="l">
              <a:lnSpc>
                <a:spcPct val="100000"/>
              </a:lnSpc>
            </a:pPr>
            <a:r>
              <a:rPr sz="2600" b="1">
                <a:solidFill>
                  <a:srgbClr val="9AA6A3"/>
                </a:solidFill>
                <a:latin typeface="Segoe UI"/>
              </a:rPr>
              <a:t>0 signed — publishing is irreversible</a:t>
            </a:r>
          </a:p>
        </p:txBody>
      </p:sp>
      <p:sp>
        <p:nvSpPr>
          <p:cNvPr id="8" name="TextBox 7"/>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Each record carries the claim in one sentence, its status including refuted and inconclusive, the dataset with its identifier, the commit proving the test predated the data, and what it does not establish. Refutations are published too; publishing only successes builds a victory log. While drafting we found the published templates use a retired vocabulary, so declaring one would have asserted something false about how every record was made — dropped, measured across five templates, and reported upstream.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What we are not claiming.</a:t>
            </a:r>
          </a:p>
        </p:txBody>
      </p:sp>
      <p:sp>
        <p:nvSpPr>
          <p:cNvPr id="5" name="TextBox 4"/>
          <p:cNvSpPr txBox="1"/>
          <p:nvPr/>
        </p:nvSpPr>
        <p:spPr>
          <a:xfrm>
            <a:off x="713232" y="2148840"/>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No wet lab. Nothing here was measured at a bench by us; no new organism, protein or variant was made.</a:t>
            </a:r>
          </a:p>
        </p:txBody>
      </p:sp>
      <p:sp>
        <p:nvSpPr>
          <p:cNvPr id="6" name="TextBox 5"/>
          <p:cNvSpPr txBox="1"/>
          <p:nvPr/>
        </p:nvSpPr>
        <p:spPr>
          <a:xfrm>
            <a:off x="713232" y="2898648"/>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No proof about biology. The machine checked the reasoning from measurements to a safe route. That the measurements bracket the truth is assumed, and two replicates cannot justify it across 159,129 variants.</a:t>
            </a:r>
          </a:p>
        </p:txBody>
      </p:sp>
      <p:sp>
        <p:nvSpPr>
          <p:cNvPr id="7" name="TextBox 6"/>
          <p:cNvSpPr txBox="1"/>
          <p:nvPr/>
        </p:nvSpPr>
        <p:spPr>
          <a:xfrm>
            <a:off x="713232" y="3648456"/>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"Blocked" is not "impossible." It means unreachable in the measured four-position graph, never in biology.</a:t>
            </a:r>
          </a:p>
        </p:txBody>
      </p:sp>
      <p:sp>
        <p:nvSpPr>
          <p:cNvPr id="8" name="TextBox 7"/>
          <p:cNvSpPr txBox="1"/>
          <p:nvPr/>
        </p:nvSpPr>
        <p:spPr>
          <a:xfrm>
            <a:off x="713232" y="4398264"/>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The publications are unsigned drafts. Valid, unpublished, and described as drafts.</a:t>
            </a:r>
          </a:p>
        </p:txBody>
      </p:sp>
      <p:sp>
        <p:nvSpPr>
          <p:cNvPr id="9" name="TextBox 8"/>
          <p:cNvSpPr txBox="1"/>
          <p:nvPr/>
        </p:nvSpPr>
        <p:spPr>
          <a:xfrm>
            <a:off x="713232" y="5148072"/>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4 of 5 outside numbers reproduced exactly; the one we could not check, we said so rather than fill in.</a:t>
            </a:r>
          </a:p>
        </p:txBody>
      </p:sp>
      <p:sp>
        <p:nvSpPr>
          <p:cNvPr id="10" name="TextBox 9"/>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Every one of these is on the public dashboard too, next to the result it limits.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What we want.</a:t>
            </a:r>
          </a:p>
        </p:txBody>
      </p:sp>
      <p:sp>
        <p:nvSpPr>
          <p:cNvPr id="5" name="TextBox 4"/>
          <p:cNvSpPr txBox="1"/>
          <p:nvPr/>
        </p:nvSpPr>
        <p:spPr>
          <a:xfrm>
            <a:off x="713232" y="2194560"/>
            <a:ext cx="10765231" cy="365760"/>
          </a:xfrm>
          <a:prstGeom prst="rect">
            <a:avLst/>
          </a:prstGeom>
          <a:noFill/>
        </p:spPr>
        <p:txBody>
          <a:bodyPr wrap="square">
            <a:spAutoFit/>
          </a:bodyPr>
          <a:lstStyle/>
          <a:p>
            <a:pPr algn="l">
              <a:lnSpc>
                <a:spcPct val="100000"/>
              </a:lnSpc>
            </a:pPr>
            <a:r>
              <a:rPr sz="1700" b="1">
                <a:solidFill>
                  <a:srgbClr val="14201F"/>
                </a:solidFill>
                <a:latin typeface="Segoe UI"/>
              </a:rPr>
              <a:t>One historical campaign from one lab.</a:t>
            </a:r>
          </a:p>
        </p:txBody>
      </p:sp>
      <p:sp>
        <p:nvSpPr>
          <p:cNvPr id="6" name="TextBox 5"/>
          <p:cNvSpPr txBox="1"/>
          <p:nvPr/>
        </p:nvSpPr>
        <p:spPr>
          <a:xfrm>
            <a:off x="713232" y="2542032"/>
            <a:ext cx="9850831" cy="640080"/>
          </a:xfrm>
          <a:prstGeom prst="rect">
            <a:avLst/>
          </a:prstGeom>
          <a:noFill/>
        </p:spPr>
        <p:txBody>
          <a:bodyPr wrap="square">
            <a:spAutoFit/>
          </a:bodyPr>
          <a:lstStyle/>
          <a:p>
            <a:pPr algn="l">
              <a:lnSpc>
                <a:spcPct val="112000"/>
              </a:lnSpc>
            </a:pPr>
            <a:r>
              <a:rPr sz="1200" b="0">
                <a:solidFill>
                  <a:srgbClr val="5A6B69"/>
                </a:solidFill>
                <a:latin typeface="Segoe UI"/>
              </a:rPr>
              <a:t>Give us a finished enzyme-engineering campaign and we will replay it at matched budget and show, in assays and days, where the decision could have been reached sooner.</a:t>
            </a:r>
          </a:p>
        </p:txBody>
      </p:sp>
      <p:sp>
        <p:nvSpPr>
          <p:cNvPr id="7" name="TextBox 6"/>
          <p:cNvSpPr txBox="1"/>
          <p:nvPr/>
        </p:nvSpPr>
        <p:spPr>
          <a:xfrm>
            <a:off x="713232" y="3364992"/>
            <a:ext cx="10765231" cy="365760"/>
          </a:xfrm>
          <a:prstGeom prst="rect">
            <a:avLst/>
          </a:prstGeom>
          <a:noFill/>
        </p:spPr>
        <p:txBody>
          <a:bodyPr wrap="square">
            <a:spAutoFit/>
          </a:bodyPr>
          <a:lstStyle/>
          <a:p>
            <a:pPr algn="l">
              <a:lnSpc>
                <a:spcPct val="100000"/>
              </a:lnSpc>
            </a:pPr>
            <a:r>
              <a:rPr sz="1700" b="1">
                <a:solidFill>
                  <a:srgbClr val="14201F"/>
                </a:solidFill>
                <a:latin typeface="Segoe UI"/>
              </a:rPr>
              <a:t>A second assessor, from a different company.</a:t>
            </a:r>
          </a:p>
        </p:txBody>
      </p:sp>
      <p:sp>
        <p:nvSpPr>
          <p:cNvPr id="8" name="TextBox 7"/>
          <p:cNvSpPr txBox="1"/>
          <p:nvPr/>
        </p:nvSpPr>
        <p:spPr>
          <a:xfrm>
            <a:off x="713232" y="3712464"/>
            <a:ext cx="9850831" cy="640080"/>
          </a:xfrm>
          <a:prstGeom prst="rect">
            <a:avLst/>
          </a:prstGeom>
          <a:noFill/>
        </p:spPr>
        <p:txBody>
          <a:bodyPr wrap="square">
            <a:spAutoFit/>
          </a:bodyPr>
          <a:lstStyle/>
          <a:p>
            <a:pPr algn="l">
              <a:lnSpc>
                <a:spcPct val="112000"/>
              </a:lnSpc>
            </a:pPr>
            <a:r>
              <a:rPr sz="1200" b="0">
                <a:solidFill>
                  <a:srgbClr val="5A6B69"/>
                </a:solidFill>
                <a:latin typeface="Segoe UI"/>
              </a:rPr>
              <a:t>One is not enough for a verdict to travel with a publication, and we will not let the model that wrote a proof grade it.</a:t>
            </a:r>
          </a:p>
        </p:txBody>
      </p:sp>
      <p:sp>
        <p:nvSpPr>
          <p:cNvPr id="9" name="TextBox 8"/>
          <p:cNvSpPr txBox="1"/>
          <p:nvPr/>
        </p:nvSpPr>
        <p:spPr>
          <a:xfrm>
            <a:off x="713232" y="4535424"/>
            <a:ext cx="10765231" cy="365760"/>
          </a:xfrm>
          <a:prstGeom prst="rect">
            <a:avLst/>
          </a:prstGeom>
          <a:noFill/>
        </p:spPr>
        <p:txBody>
          <a:bodyPr wrap="square">
            <a:spAutoFit/>
          </a:bodyPr>
          <a:lstStyle/>
          <a:p>
            <a:pPr algn="l">
              <a:lnSpc>
                <a:spcPct val="100000"/>
              </a:lnSpc>
            </a:pPr>
            <a:r>
              <a:rPr sz="1700" b="1">
                <a:solidFill>
                  <a:srgbClr val="14201F"/>
                </a:solidFill>
                <a:latin typeface="Segoe UI"/>
              </a:rPr>
              <a:t>A harder panel.</a:t>
            </a:r>
          </a:p>
        </p:txBody>
      </p:sp>
      <p:sp>
        <p:nvSpPr>
          <p:cNvPr id="10" name="TextBox 9"/>
          <p:cNvSpPr txBox="1"/>
          <p:nvPr/>
        </p:nvSpPr>
        <p:spPr>
          <a:xfrm>
            <a:off x="713232" y="4882896"/>
            <a:ext cx="9850831" cy="640080"/>
          </a:xfrm>
          <a:prstGeom prst="rect">
            <a:avLst/>
          </a:prstGeom>
          <a:noFill/>
        </p:spPr>
        <p:txBody>
          <a:bodyPr wrap="square">
            <a:spAutoFit/>
          </a:bodyPr>
          <a:lstStyle/>
          <a:p>
            <a:pPr algn="l">
              <a:lnSpc>
                <a:spcPct val="112000"/>
              </a:lnSpc>
            </a:pPr>
            <a:r>
              <a:rPr sz="1200" b="0">
                <a:solidFill>
                  <a:srgbClr val="5A6B69"/>
                </a:solidFill>
                <a:latin typeface="Segoe UI"/>
              </a:rPr>
              <a:t>Our own check showed a benchmark can measure its own composition. Send pairs we did not pick.</a:t>
            </a:r>
          </a:p>
        </p:txBody>
      </p:sp>
      <p:sp>
        <p:nvSpPr>
          <p:cNvPr id="11" name="TextBox 10"/>
          <p:cNvSpPr txBox="1"/>
          <p:nvPr/>
        </p:nvSpPr>
        <p:spPr>
          <a:xfrm>
            <a:off x="713232" y="5852160"/>
            <a:ext cx="10765231" cy="457200"/>
          </a:xfrm>
          <a:prstGeom prst="rect">
            <a:avLst/>
          </a:prstGeom>
          <a:noFill/>
        </p:spPr>
        <p:txBody>
          <a:bodyPr wrap="square">
            <a:spAutoFit/>
          </a:bodyPr>
          <a:lstStyle/>
          <a:p>
            <a:pPr algn="l">
              <a:lnSpc>
                <a:spcPct val="100000"/>
              </a:lnSpc>
            </a:pPr>
            <a:r>
              <a:rPr sz="1400" b="1">
                <a:solidFill>
                  <a:srgbClr val="0E7C86"/>
                </a:solidFill>
                <a:latin typeface="Segoe UI"/>
              </a:rPr>
              <a:t>delphi-mission-control.ashenoy000.workers.dev/start/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